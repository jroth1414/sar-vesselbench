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6" r:id="rId24"/>
    <p:sldId id="262" r:id="rId13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63" r:id="rId14"/>
    <p:sldId id="274" r:id="rId25"/>
    <p:sldId id="259" r:id="rId5"/>
    <p:sldId id="261" r:id="rId16"/>
    <p:sldId id="260" r:id="rId7"/>
    <p:sldId id="27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7E0"/>
    <a:srgbClr val="002D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/>
    <p:restoredTop sz="80791"/>
  </p:normalViewPr>
  <p:slideViewPr>
    <p:cSldViewPr snapToGrid="0">
      <p:cViewPr varScale="1">
        <p:scale>
          <a:sx n="96" d="100"/>
          <a:sy n="96" d="100"/>
        </p:scale>
        <p:origin x="34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E94090-7C35-594A-8B17-FDFDAD40938A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ED0D2-16ED-5547-8DC8-59573C5E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80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017400-3825-46C6-4D34-8D7F9DDE33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2D72">
                  <a:shade val="30000"/>
                  <a:satMod val="115000"/>
                </a:srgbClr>
              </a:gs>
              <a:gs pos="50000">
                <a:srgbClr val="002D72">
                  <a:shade val="67500"/>
                  <a:satMod val="115000"/>
                </a:srgbClr>
              </a:gs>
              <a:gs pos="100000">
                <a:srgbClr val="002D72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55132-02B7-F237-8FA1-F867CF88FB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6649" y="3692901"/>
            <a:ext cx="5519351" cy="784095"/>
          </a:xfrm>
        </p:spPr>
        <p:txBody>
          <a:bodyPr anchor="ctr">
            <a:normAutofit/>
          </a:bodyPr>
          <a:lstStyle>
            <a:lvl1pPr marL="0" indent="0" algn="l">
              <a:lnSpc>
                <a:spcPts val="2480"/>
              </a:lnSpc>
              <a:spcBef>
                <a:spcPts val="1000"/>
              </a:spcBef>
              <a:spcAft>
                <a:spcPts val="0"/>
              </a:spcAft>
              <a:buNone/>
              <a:defRPr sz="2400" b="1">
                <a:solidFill>
                  <a:srgbClr val="4E97E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Add Subtitle</a:t>
            </a:r>
          </a:p>
        </p:txBody>
      </p:sp>
      <p:pic>
        <p:nvPicPr>
          <p:cNvPr id="12" name="Picture 11" descr="A black background with white text  Description automatically generated">
            <a:extLst>
              <a:ext uri="{FF2B5EF4-FFF2-40B4-BE49-F238E27FC236}">
                <a16:creationId xmlns:a16="http://schemas.microsoft.com/office/drawing/2014/main" id="{5E5E73B6-2798-2A91-EEE6-2BB4284BE9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97" y="5095306"/>
            <a:ext cx="4293230" cy="178427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77B635-698D-CEB4-EA5A-566854E400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6262" y="4476751"/>
            <a:ext cx="5519738" cy="45151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Department Name and/or Date</a:t>
            </a:r>
          </a:p>
        </p:txBody>
      </p:sp>
      <p:pic>
        <p:nvPicPr>
          <p:cNvPr id="6" name="Picture 5" descr="A logo of a book and a globe  AI-generated content may be incorrect.">
            <a:extLst>
              <a:ext uri="{FF2B5EF4-FFF2-40B4-BE49-F238E27FC236}">
                <a16:creationId xmlns:a16="http://schemas.microsoft.com/office/drawing/2014/main" id="{E021BB48-4E61-35BD-BAA2-EFCC8513D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rcRect l="2482" t="8062" r="24988" b="7189"/>
          <a:stretch/>
        </p:blipFill>
        <p:spPr>
          <a:xfrm>
            <a:off x="6668565" y="0"/>
            <a:ext cx="5519738" cy="687957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1072A52-005D-6E24-DED0-CBD32E5A71F9}"/>
              </a:ext>
            </a:extLst>
          </p:cNvPr>
          <p:cNvSpPr/>
          <p:nvPr userDrawn="1"/>
        </p:nvSpPr>
        <p:spPr>
          <a:xfrm>
            <a:off x="0" y="2123768"/>
            <a:ext cx="12192000" cy="1418829"/>
          </a:xfrm>
          <a:prstGeom prst="rect">
            <a:avLst/>
          </a:prstGeom>
          <a:solidFill>
            <a:srgbClr val="4E97E0">
              <a:alpha val="7451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BC76EE-BBDD-9DAC-BD3C-14DC174D2E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649" y="2212258"/>
            <a:ext cx="9231027" cy="127334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4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Edit Master title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49155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CC74154-920A-7908-96E4-FCAB9EB05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06223" y="2104373"/>
            <a:ext cx="6909127" cy="177869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here to add title for section break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ACA531E-D6C1-E9A7-B39A-A410B89BA0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06223" y="4108537"/>
            <a:ext cx="6909128" cy="967275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25B380-0B57-4162-9BED-4DF840156EA3}"/>
              </a:ext>
            </a:extLst>
          </p:cNvPr>
          <p:cNvCxnSpPr/>
          <p:nvPr userDrawn="1"/>
        </p:nvCxnSpPr>
        <p:spPr>
          <a:xfrm>
            <a:off x="529817" y="1937657"/>
            <a:ext cx="11085533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CBFCBDA-8C1A-ECAC-E989-0D8F8E7E4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8ECB7B-306C-6137-62C5-DFCDB0C904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10526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84359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23F7C4-9605-1C92-C986-C090692E25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2D72">
                  <a:shade val="30000"/>
                  <a:satMod val="115000"/>
                </a:srgbClr>
              </a:gs>
              <a:gs pos="50000">
                <a:srgbClr val="002D72">
                  <a:shade val="67500"/>
                  <a:satMod val="115000"/>
                </a:srgbClr>
              </a:gs>
              <a:gs pos="100000">
                <a:srgbClr val="002D72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logo of a book and a globe  AI-generated content may be incorrect.">
            <a:extLst>
              <a:ext uri="{FF2B5EF4-FFF2-40B4-BE49-F238E27FC236}">
                <a16:creationId xmlns:a16="http://schemas.microsoft.com/office/drawing/2014/main" id="{DF75DAA6-D42F-663C-B995-9DED44C225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2482" t="-886" r="24988" b="7188"/>
          <a:stretch/>
        </p:blipFill>
        <p:spPr>
          <a:xfrm>
            <a:off x="9684181" y="3429001"/>
            <a:ext cx="2504121" cy="345057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CC74154-920A-7908-96E4-FCAB9EB05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75873" y="723901"/>
            <a:ext cx="9240253" cy="30346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 xml:space="preserve">Click here to add title </a:t>
            </a:r>
            <a:br>
              <a:rPr lang="en-US" dirty="0"/>
            </a:br>
            <a:r>
              <a:rPr lang="en-US" dirty="0"/>
              <a:t>for section break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ACA531E-D6C1-E9A7-B39A-A410B89BA0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75873" y="4061125"/>
            <a:ext cx="9240253" cy="2072975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2280"/>
              </a:lnSpc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07827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30C6B7-4A46-4C41-FF74-E03BE5E3671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2D72">
                  <a:shade val="30000"/>
                  <a:satMod val="115000"/>
                </a:srgbClr>
              </a:gs>
              <a:gs pos="50000">
                <a:srgbClr val="002D72">
                  <a:shade val="67500"/>
                  <a:satMod val="115000"/>
                </a:srgbClr>
              </a:gs>
              <a:gs pos="100000">
                <a:srgbClr val="002D72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of a book and a globe  AI-generated content may be incorrect.">
            <a:extLst>
              <a:ext uri="{FF2B5EF4-FFF2-40B4-BE49-F238E27FC236}">
                <a16:creationId xmlns:a16="http://schemas.microsoft.com/office/drawing/2014/main" id="{70E61FC2-F53C-68E4-FD72-B7D5DC45C1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2482" t="-886" r="24988" b="7188"/>
          <a:stretch/>
        </p:blipFill>
        <p:spPr>
          <a:xfrm>
            <a:off x="9684181" y="3429001"/>
            <a:ext cx="2504121" cy="345057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CC74154-920A-7908-96E4-FCAB9EB05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75873" y="1979845"/>
            <a:ext cx="9240253" cy="1778695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 xml:space="preserve">Our simple aim is to make scholars, strong, bright, useful, and true.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ACA531E-D6C1-E9A7-B39A-A410B89BA0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75873" y="4264325"/>
            <a:ext cx="9240253" cy="967275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2280"/>
              </a:lnSpc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 xml:space="preserve">— Daniel </a:t>
            </a:r>
            <a:r>
              <a:rPr lang="en-US" dirty="0" err="1"/>
              <a:t>Coit</a:t>
            </a:r>
            <a:r>
              <a:rPr lang="en-US" dirty="0"/>
              <a:t xml:space="preserve"> Gilman</a:t>
            </a:r>
          </a:p>
          <a:p>
            <a:r>
              <a:rPr lang="en-US" dirty="0"/>
              <a:t>Inaugural President, Johns Hopkins University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154EB-7911-64A6-95DC-22B178C18A30}"/>
              </a:ext>
            </a:extLst>
          </p:cNvPr>
          <p:cNvSpPr txBox="1"/>
          <p:nvPr userDrawn="1"/>
        </p:nvSpPr>
        <p:spPr>
          <a:xfrm>
            <a:off x="5313093" y="990422"/>
            <a:ext cx="15658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1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2651745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/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76E625-3DBE-99DF-9FAC-87EDA3386FDE}"/>
              </a:ext>
            </a:extLst>
          </p:cNvPr>
          <p:cNvSpPr/>
          <p:nvPr userDrawn="1"/>
        </p:nvSpPr>
        <p:spPr>
          <a:xfrm>
            <a:off x="0" y="5274365"/>
            <a:ext cx="12192000" cy="1583634"/>
          </a:xfrm>
          <a:prstGeom prst="rect">
            <a:avLst/>
          </a:prstGeom>
          <a:gradFill flip="none" rotWithShape="1">
            <a:gsLst>
              <a:gs pos="0">
                <a:srgbClr val="002D72">
                  <a:shade val="30000"/>
                  <a:satMod val="115000"/>
                </a:srgbClr>
              </a:gs>
              <a:gs pos="50000">
                <a:srgbClr val="002D72">
                  <a:shade val="67500"/>
                  <a:satMod val="115000"/>
                </a:srgbClr>
              </a:gs>
              <a:gs pos="100000">
                <a:srgbClr val="002D72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5E57361-756C-1EF8-A20B-34F47C4CA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065" y="5590552"/>
            <a:ext cx="9247777" cy="528638"/>
          </a:xfrm>
        </p:spPr>
        <p:txBody>
          <a:bodyPr anchor="ctr">
            <a:normAutofit/>
          </a:bodyPr>
          <a:lstStyle>
            <a:lvl1pPr marL="0" indent="0">
              <a:lnSpc>
                <a:spcPts val="1260"/>
              </a:lnSpc>
              <a:buNone/>
              <a:defRPr sz="18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6BC0C77-4541-0E28-C5EF-BEF1E3824D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9571"/>
            <a:ext cx="12192000" cy="526479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70412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6BC0C77-4541-0E28-C5EF-BEF1E3824D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9571"/>
            <a:ext cx="5844209" cy="526479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3742F7E9-E0FF-5CA6-D9B2-6EB4AE0FF61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89983" y="1"/>
            <a:ext cx="6202018" cy="276970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0C815D15-4E2C-9C49-1D73-284AB840058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989983" y="2914543"/>
            <a:ext cx="3028122" cy="235982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287FCA5-2296-2BA7-7E61-5E7893C39AD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163879" y="2907917"/>
            <a:ext cx="3028122" cy="235982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3C14AC-49E0-17C6-8B6C-EB36EDA59AED}"/>
              </a:ext>
            </a:extLst>
          </p:cNvPr>
          <p:cNvSpPr/>
          <p:nvPr userDrawn="1"/>
        </p:nvSpPr>
        <p:spPr>
          <a:xfrm>
            <a:off x="0" y="5274365"/>
            <a:ext cx="12192000" cy="1583634"/>
          </a:xfrm>
          <a:prstGeom prst="rect">
            <a:avLst/>
          </a:prstGeom>
          <a:gradFill flip="none" rotWithShape="1">
            <a:gsLst>
              <a:gs pos="0">
                <a:srgbClr val="002D72">
                  <a:shade val="30000"/>
                  <a:satMod val="115000"/>
                </a:srgbClr>
              </a:gs>
              <a:gs pos="50000">
                <a:srgbClr val="002D72">
                  <a:shade val="67500"/>
                  <a:satMod val="115000"/>
                </a:srgbClr>
              </a:gs>
              <a:gs pos="100000">
                <a:srgbClr val="002D72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5E57361-756C-1EF8-A20B-34F47C4CA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5605462"/>
            <a:ext cx="9247777" cy="528638"/>
          </a:xfrm>
        </p:spPr>
        <p:txBody>
          <a:bodyPr anchor="ctr">
            <a:normAutofit/>
          </a:bodyPr>
          <a:lstStyle>
            <a:lvl1pPr marL="0" indent="0">
              <a:lnSpc>
                <a:spcPts val="1260"/>
              </a:lnSpc>
              <a:buNone/>
              <a:defRPr sz="18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3009445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7C024065-7E6C-8CAE-4BFC-708DD5ABDF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11621982" cy="5181599"/>
          </a:xfrm>
        </p:spPr>
        <p:txBody>
          <a:bodyPr/>
          <a:lstStyle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96FAC1-DAD3-8ADC-4F81-DC0F1CC64FB7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D131D2B-40EF-191C-E868-B98E49C4806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D74036E4-C55C-EA02-B734-36F87EDAC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443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60/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209356EC-295E-5603-B486-43CADD66F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3317" y="2054087"/>
            <a:ext cx="6654074" cy="4080013"/>
          </a:xfrm>
        </p:spPr>
        <p:txBody>
          <a:bodyPr>
            <a:normAutofit/>
          </a:bodyPr>
          <a:lstStyle>
            <a:lvl1pPr marL="0" indent="0">
              <a:lnSpc>
                <a:spcPts val="2600"/>
              </a:lnSpc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Font typeface="System Font Regular"/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For text heavy slides, consider this layout option that uses smaller not bulleted text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Bullets can be added if needed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6BE6B5-4DC4-B1E9-5F84-01E6D86F86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BA4FE0-B93E-8941-C17B-03FD59A778DC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16">
            <a:extLst>
              <a:ext uri="{FF2B5EF4-FFF2-40B4-BE49-F238E27FC236}">
                <a16:creationId xmlns:a16="http://schemas.microsoft.com/office/drawing/2014/main" id="{C4AAA89D-E180-20A4-47AC-311E89454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ECA534C-9414-13D4-979B-668555B852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76661" y="992842"/>
            <a:ext cx="4812022" cy="514125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FF3F1551-9A0A-137E-0C7C-8D33E2549EC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03316" y="992842"/>
            <a:ext cx="6654075" cy="964912"/>
          </a:xfrm>
        </p:spPr>
        <p:txBody>
          <a:bodyPr anchor="ctr">
            <a:normAutofit/>
          </a:bodyPr>
          <a:lstStyle>
            <a:lvl1pPr marL="0" indent="0">
              <a:buNone/>
              <a:defRPr sz="2200">
                <a:solidFill>
                  <a:schemeClr val="accent2"/>
                </a:solidFill>
              </a:defRPr>
            </a:lvl1pPr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slide introduction sentence</a:t>
            </a:r>
          </a:p>
        </p:txBody>
      </p:sp>
    </p:spTree>
    <p:extLst>
      <p:ext uri="{BB962C8B-B14F-4D97-AF65-F5344CB8AC3E}">
        <p14:creationId xmlns:p14="http://schemas.microsoft.com/office/powerpoint/2010/main" val="27060289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50/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D39FD01-6F3D-63A2-0253-0AF855236B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88765" y="0"/>
            <a:ext cx="600323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8D463F-0025-C992-6AEC-0AA43D7F2CA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4C77AE1-1500-C1E6-7E7B-44BDADCE0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317" y="244386"/>
            <a:ext cx="5695739" cy="550385"/>
          </a:xfrm>
        </p:spPr>
        <p:txBody>
          <a:bodyPr anchor="ctr"/>
          <a:lstStyle/>
          <a:p>
            <a:r>
              <a:rPr lang="en-US" dirty="0"/>
              <a:t>Click to edit title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8680618-A88A-876A-8969-104E127B336D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A86DE1F0-3790-E00F-94D7-F6BF8C02085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3317" y="952500"/>
            <a:ext cx="5695741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49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50/50_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C0CBFE90-8411-F7CE-A7C3-3BB1F83506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32358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D39FD01-6F3D-63A2-0253-0AF855236B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88765" y="0"/>
            <a:ext cx="6003235" cy="342899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C0458907-6624-6FF1-C3C1-7020AD3DD3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88764" y="3565069"/>
            <a:ext cx="6003235" cy="342899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04A05D-00F5-1EA0-7624-6F0DBB16BA5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82250F8-8D52-D1D5-1B20-A83964DAEF8F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B8B77F34-E1EC-4981-129E-CF8A34B8EB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317" y="244389"/>
            <a:ext cx="5695742" cy="550388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93386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C0CBFE90-8411-F7CE-A7C3-3BB1F835064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6700" y="952500"/>
            <a:ext cx="3231874" cy="5181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C0458907-6624-6FF1-C3C1-7020AD3DD3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95231" y="952500"/>
            <a:ext cx="8093438" cy="5181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04A05D-00F5-1EA0-7624-6F0DBB16BA5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82250F8-8D52-D1D5-1B20-A83964DAEF8F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B8B77F34-E1EC-4981-129E-CF8A34B8EB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317" y="244389"/>
            <a:ext cx="11585351" cy="550388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C29002-067D-6FC3-B50D-DFCDA74C0BFB}"/>
              </a:ext>
            </a:extLst>
          </p:cNvPr>
          <p:cNvCxnSpPr>
            <a:cxnSpLocks/>
          </p:cNvCxnSpPr>
          <p:nvPr userDrawn="1"/>
        </p:nvCxnSpPr>
        <p:spPr>
          <a:xfrm>
            <a:off x="3646902" y="952500"/>
            <a:ext cx="0" cy="5181600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839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C0CBFE90-8411-F7CE-A7C3-3BB1F83506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228" y="2054093"/>
            <a:ext cx="5715011" cy="4057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8C1AE1B3-157E-FD62-09F5-6FD7CC2D8E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73672" y="2054091"/>
            <a:ext cx="5715011" cy="4057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6082A-4B83-1DF1-A516-4DDADFA783B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8BCAB42-8CF6-48FD-E164-840F6AB36B6E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910C9DFF-91FA-4E55-24AE-E1B41C946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5E2AD5A3-7D0A-0907-D2E4-AD51F79051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03316" y="992842"/>
            <a:ext cx="11585365" cy="96491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slide introduction sentence</a:t>
            </a:r>
          </a:p>
          <a:p>
            <a:pPr lvl="0"/>
            <a:r>
              <a:rPr lang="en-US" dirty="0"/>
              <a:t>Two lines max</a:t>
            </a:r>
          </a:p>
        </p:txBody>
      </p:sp>
    </p:spTree>
    <p:extLst>
      <p:ext uri="{BB962C8B-B14F-4D97-AF65-F5344CB8AC3E}">
        <p14:creationId xmlns:p14="http://schemas.microsoft.com/office/powerpoint/2010/main" val="3273689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C0CBFE90-8411-F7CE-A7C3-3BB1F83506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228" y="3723861"/>
            <a:ext cx="5715011" cy="23873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8C1AE1B3-157E-FD62-09F5-6FD7CC2D8E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73672" y="3723859"/>
            <a:ext cx="5715011" cy="23873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6082A-4B83-1DF1-A516-4DDADFA783B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8BCAB42-8CF6-48FD-E164-840F6AB36B6E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910C9DFF-91FA-4E55-24AE-E1B41C946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3FC08A4-A279-5F64-1CFA-7A9FB44BF99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6870" y="952500"/>
            <a:ext cx="5719369" cy="259908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F94F2C-95AA-D7C2-FF40-F1A95889105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0119" y="952500"/>
            <a:ext cx="5715011" cy="259908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61972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C0CBFE90-8411-F7CE-A7C3-3BB1F83506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3317" y="1530122"/>
            <a:ext cx="3602718" cy="46039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D005257-7F98-7F3C-80F0-246539CA0D1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92249" y="1530121"/>
            <a:ext cx="3602718" cy="4603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0759B36-1EA9-7840-36B2-8753D29167B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281181" y="1530121"/>
            <a:ext cx="3602718" cy="46039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C7135-A999-7620-CD45-D05A7D428F3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ABB7FF5-69CE-4FF7-EBE6-993F23194E33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EE1180EE-03E9-5AF2-0219-D9A1014ED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198083-AF5C-6D42-9DA2-30BBD549FE0D}"/>
              </a:ext>
            </a:extLst>
          </p:cNvPr>
          <p:cNvCxnSpPr>
            <a:cxnSpLocks/>
          </p:cNvCxnSpPr>
          <p:nvPr userDrawn="1"/>
        </p:nvCxnSpPr>
        <p:spPr>
          <a:xfrm>
            <a:off x="4097475" y="1530121"/>
            <a:ext cx="0" cy="4581064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B9D6BA-C770-374C-B662-16D32D4142DA}"/>
              </a:ext>
            </a:extLst>
          </p:cNvPr>
          <p:cNvCxnSpPr>
            <a:cxnSpLocks/>
          </p:cNvCxnSpPr>
          <p:nvPr userDrawn="1"/>
        </p:nvCxnSpPr>
        <p:spPr>
          <a:xfrm>
            <a:off x="8085352" y="1530121"/>
            <a:ext cx="0" cy="4581064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78753652-D1B0-AFAA-09CC-1F59F8EA5731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03316" y="992842"/>
            <a:ext cx="11585365" cy="416255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slide introduction sentence</a:t>
            </a:r>
          </a:p>
        </p:txBody>
      </p:sp>
    </p:spTree>
    <p:extLst>
      <p:ext uri="{BB962C8B-B14F-4D97-AF65-F5344CB8AC3E}">
        <p14:creationId xmlns:p14="http://schemas.microsoft.com/office/powerpoint/2010/main" val="2723902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C5BF3D7-0C7F-66B2-EE1F-3A9B05B8B6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3257" y="3976028"/>
            <a:ext cx="3593619" cy="2135161"/>
          </a:xfrm>
        </p:spPr>
        <p:txBody>
          <a:bodyPr anchor="t">
            <a:normAutofit/>
          </a:bodyPr>
          <a:lstStyle>
            <a:lvl1pPr marL="0" indent="0">
              <a:buNone/>
              <a:defRPr sz="2000" b="0"/>
            </a:lvl1pPr>
          </a:lstStyle>
          <a:p>
            <a:pPr lvl="0"/>
            <a:r>
              <a:rPr lang="en-US" dirty="0"/>
              <a:t>Image description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05118AA7-3D1E-ED41-C884-FC04381894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08562" y="3976028"/>
            <a:ext cx="3570653" cy="2135160"/>
          </a:xfrm>
        </p:spPr>
        <p:txBody>
          <a:bodyPr anchor="t">
            <a:normAutofit/>
          </a:bodyPr>
          <a:lstStyle>
            <a:lvl1pPr marL="0" indent="0">
              <a:buNone/>
              <a:defRPr sz="2000" b="0"/>
            </a:lvl1pPr>
          </a:lstStyle>
          <a:p>
            <a:pPr lvl="0"/>
            <a:r>
              <a:rPr lang="en-US" dirty="0"/>
              <a:t>Image description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4757F6C8-BF41-B8A4-3479-9941BC7DC0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17987" y="3976028"/>
            <a:ext cx="3570637" cy="2135157"/>
          </a:xfrm>
        </p:spPr>
        <p:txBody>
          <a:bodyPr anchor="t">
            <a:normAutofit/>
          </a:bodyPr>
          <a:lstStyle>
            <a:lvl1pPr marL="0" indent="0">
              <a:buNone/>
              <a:defRPr sz="2000" b="0"/>
            </a:lvl1pPr>
          </a:lstStyle>
          <a:p>
            <a:pPr lvl="0"/>
            <a:r>
              <a:rPr lang="en-US" dirty="0"/>
              <a:t>Image description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1C61B61-2E78-5336-3272-F364959B7A4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88542" y="1516674"/>
            <a:ext cx="3593619" cy="2356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0D960AA-0D86-885A-F579-2E30A003F0A5}"/>
              </a:ext>
            </a:extLst>
          </p:cNvPr>
          <p:cNvCxnSpPr>
            <a:cxnSpLocks/>
          </p:cNvCxnSpPr>
          <p:nvPr userDrawn="1"/>
        </p:nvCxnSpPr>
        <p:spPr>
          <a:xfrm>
            <a:off x="4097475" y="1516674"/>
            <a:ext cx="0" cy="4594511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017644-9EE0-61FB-2B50-EFB7EB664550}"/>
              </a:ext>
            </a:extLst>
          </p:cNvPr>
          <p:cNvCxnSpPr>
            <a:cxnSpLocks/>
          </p:cNvCxnSpPr>
          <p:nvPr userDrawn="1"/>
        </p:nvCxnSpPr>
        <p:spPr>
          <a:xfrm>
            <a:off x="8085352" y="1516674"/>
            <a:ext cx="0" cy="4594511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E8C4133-66D9-03B9-783E-5072D68DF4A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D0BEF9F1-EB8A-61E3-3782-8F36AF7CF80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308562" y="1516674"/>
            <a:ext cx="3570695" cy="237833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2C8994EE-25CE-5453-BFFC-B40C91A22EE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305658" y="1516674"/>
            <a:ext cx="3570695" cy="23845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3277AA-710A-9A19-F037-664318F91A68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6">
            <a:extLst>
              <a:ext uri="{FF2B5EF4-FFF2-40B4-BE49-F238E27FC236}">
                <a16:creationId xmlns:a16="http://schemas.microsoft.com/office/drawing/2014/main" id="{B5790A35-F2A2-D491-BEC4-CF2DA53D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BC4602FB-66A0-5911-4495-C4A6AB25735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03316" y="992842"/>
            <a:ext cx="11585365" cy="416255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slide introduction sentence</a:t>
            </a:r>
          </a:p>
        </p:txBody>
      </p:sp>
    </p:spTree>
    <p:extLst>
      <p:ext uri="{BB962C8B-B14F-4D97-AF65-F5344CB8AC3E}">
        <p14:creationId xmlns:p14="http://schemas.microsoft.com/office/powerpoint/2010/main" val="3836944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C0CBFE90-8411-F7CE-A7C3-3BB1F83506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3317" y="1546418"/>
            <a:ext cx="2660444" cy="4564768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8174707A-55F1-CD8B-3EAB-9C4C03F912E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68158" y="1546417"/>
            <a:ext cx="2660444" cy="4564764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5A71FE2B-D18D-6F42-1053-0D74A8A4ED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3000" y="1546418"/>
            <a:ext cx="2660444" cy="4564758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8D3C944F-6D0E-4F39-79C7-55A4C32EC56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228239" y="1546418"/>
            <a:ext cx="2660444" cy="4564754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BBF4C9-5C2B-20D6-5BF5-40872F884F0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CE7BB06-4721-8BCB-6303-28D5DA265C5D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2F40FC04-4BD9-9158-F5AC-7900F242C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33B511-8470-C081-14A5-E0EBCC1D010C}"/>
              </a:ext>
            </a:extLst>
          </p:cNvPr>
          <p:cNvCxnSpPr>
            <a:cxnSpLocks/>
          </p:cNvCxnSpPr>
          <p:nvPr userDrawn="1"/>
        </p:nvCxnSpPr>
        <p:spPr>
          <a:xfrm>
            <a:off x="3116283" y="1546417"/>
            <a:ext cx="0" cy="4587683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028EAB8-60E6-C8A7-764E-8D549AD13E3A}"/>
              </a:ext>
            </a:extLst>
          </p:cNvPr>
          <p:cNvCxnSpPr>
            <a:cxnSpLocks/>
          </p:cNvCxnSpPr>
          <p:nvPr userDrawn="1"/>
        </p:nvCxnSpPr>
        <p:spPr>
          <a:xfrm>
            <a:off x="6093912" y="1569332"/>
            <a:ext cx="2088" cy="4564768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990569-498F-4BBD-6C96-CDC17227ECD1}"/>
              </a:ext>
            </a:extLst>
          </p:cNvPr>
          <p:cNvCxnSpPr>
            <a:cxnSpLocks/>
          </p:cNvCxnSpPr>
          <p:nvPr userDrawn="1"/>
        </p:nvCxnSpPr>
        <p:spPr>
          <a:xfrm>
            <a:off x="9061158" y="1569332"/>
            <a:ext cx="0" cy="4564768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F112F4C1-E577-4E63-6D40-9DF27704F01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03316" y="992842"/>
            <a:ext cx="11585365" cy="416255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slide introduction sentence</a:t>
            </a:r>
          </a:p>
        </p:txBody>
      </p:sp>
    </p:spTree>
    <p:extLst>
      <p:ext uri="{BB962C8B-B14F-4D97-AF65-F5344CB8AC3E}">
        <p14:creationId xmlns:p14="http://schemas.microsoft.com/office/powerpoint/2010/main" val="33585271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BABAB7EE-4A14-DD5D-BEC2-405EEA7B42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3315" y="3429000"/>
            <a:ext cx="2684391" cy="27051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D26C261F-5DFC-5751-B7F4-F438B6256FA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284887" y="3429000"/>
            <a:ext cx="2683117" cy="27051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C05C53-5C4E-97E4-529D-5B41D4F97F1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4586" y="3429000"/>
            <a:ext cx="2684393" cy="27051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28E3C20D-EAD4-AE1B-D2F6-E5D764142A2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204288" y="3429000"/>
            <a:ext cx="2684376" cy="27051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D8B251DC-6D53-7CAC-6AD5-B2B59B623C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94324" y="1518191"/>
            <a:ext cx="2684395" cy="181667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AFBA2A-2072-002A-E855-4E657FF1A7BF}"/>
              </a:ext>
            </a:extLst>
          </p:cNvPr>
          <p:cNvCxnSpPr>
            <a:cxnSpLocks/>
          </p:cNvCxnSpPr>
          <p:nvPr userDrawn="1"/>
        </p:nvCxnSpPr>
        <p:spPr>
          <a:xfrm>
            <a:off x="3140347" y="1518191"/>
            <a:ext cx="0" cy="4615909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C560291-B5AC-F0FA-165E-2C9BF900564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4119E0C5-7DA0-680A-8DE9-98B9202AEAE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75895" y="1518191"/>
            <a:ext cx="2684395" cy="181668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0A33F29B-394A-8FEA-8285-839A68A62A4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35595" y="1518191"/>
            <a:ext cx="2684395" cy="181668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BA4047AD-5D09-3E06-36BF-C173B11DC52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195296" y="1518191"/>
            <a:ext cx="2684395" cy="18166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470F7D6-E2DF-39C1-69BF-0D532F2E4270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518191"/>
            <a:ext cx="0" cy="4615909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E14A8E6-31D6-A4B3-AD61-3F7468794426}"/>
              </a:ext>
            </a:extLst>
          </p:cNvPr>
          <p:cNvCxnSpPr>
            <a:cxnSpLocks/>
          </p:cNvCxnSpPr>
          <p:nvPr userDrawn="1"/>
        </p:nvCxnSpPr>
        <p:spPr>
          <a:xfrm>
            <a:off x="9061158" y="1518191"/>
            <a:ext cx="0" cy="4615909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3EEEAD7-089D-ACC8-ECEC-97636D739886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79E917C0-58C0-D352-82CF-536C8BD9A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5CDBD747-7325-128A-4387-5AFCF8491CE8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03316" y="992842"/>
            <a:ext cx="11585365" cy="416255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slide introduction sentence</a:t>
            </a:r>
          </a:p>
        </p:txBody>
      </p:sp>
    </p:spTree>
    <p:extLst>
      <p:ext uri="{BB962C8B-B14F-4D97-AF65-F5344CB8AC3E}">
        <p14:creationId xmlns:p14="http://schemas.microsoft.com/office/powerpoint/2010/main" val="755707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4CF429-7A35-E6C9-AEC1-2500144BD0E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2D72">
                  <a:shade val="30000"/>
                  <a:satMod val="115000"/>
                </a:srgbClr>
              </a:gs>
              <a:gs pos="50000">
                <a:srgbClr val="002D72">
                  <a:shade val="67500"/>
                  <a:satMod val="115000"/>
                </a:srgbClr>
              </a:gs>
              <a:gs pos="100000">
                <a:srgbClr val="002D72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logo of a book and a globe  AI-generated content may be incorrect.">
            <a:extLst>
              <a:ext uri="{FF2B5EF4-FFF2-40B4-BE49-F238E27FC236}">
                <a16:creationId xmlns:a16="http://schemas.microsoft.com/office/drawing/2014/main" id="{ED75E6AB-B781-158C-30D8-C1DF357B16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2482" t="-886" r="24988" b="7188"/>
          <a:stretch/>
        </p:blipFill>
        <p:spPr>
          <a:xfrm>
            <a:off x="9684181" y="3429001"/>
            <a:ext cx="2504121" cy="345057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CC74154-920A-7908-96E4-FCAB9EB05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2316" y="953546"/>
            <a:ext cx="10379241" cy="177869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Closing Slide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ACA531E-D6C1-E9A7-B39A-A410B89BA0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2316" y="3015916"/>
            <a:ext cx="10379241" cy="896721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CTA or URL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10872C-6ED3-1495-01D5-B22FBFD037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2650" y="4090988"/>
            <a:ext cx="10379075" cy="1989137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Presenter Names and Contact</a:t>
            </a:r>
          </a:p>
        </p:txBody>
      </p:sp>
    </p:spTree>
    <p:extLst>
      <p:ext uri="{BB962C8B-B14F-4D97-AF65-F5344CB8AC3E}">
        <p14:creationId xmlns:p14="http://schemas.microsoft.com/office/powerpoint/2010/main" val="12635789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quare with white lines  Description automatically generated with medium confidence">
            <a:extLst>
              <a:ext uri="{FF2B5EF4-FFF2-40B4-BE49-F238E27FC236}">
                <a16:creationId xmlns:a16="http://schemas.microsoft.com/office/drawing/2014/main" id="{596D2A21-2E76-5B18-DE93-32E809FDBF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pic>
        <p:nvPicPr>
          <p:cNvPr id="2" name="Picture 1" descr="A black background with white text  Description automatically generated">
            <a:extLst>
              <a:ext uri="{FF2B5EF4-FFF2-40B4-BE49-F238E27FC236}">
                <a16:creationId xmlns:a16="http://schemas.microsoft.com/office/drawing/2014/main" id="{DE177EC9-C768-378C-1033-4D5D55FC0A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8058" y="1376787"/>
            <a:ext cx="9875883" cy="410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30125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11FF8-3303-EA6D-2092-61820AC40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3317" y="966354"/>
            <a:ext cx="11585366" cy="5156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998A8C-F91E-2561-5295-7822C1343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18545" y="6248487"/>
            <a:ext cx="123272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0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876332E-97D2-CC49-9E46-E6E0DDE407E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blue shield with a book and a globe  Description automatically generated">
            <a:extLst>
              <a:ext uri="{FF2B5EF4-FFF2-40B4-BE49-F238E27FC236}">
                <a16:creationId xmlns:a16="http://schemas.microsoft.com/office/drawing/2014/main" id="{F9F559AB-D836-7FEC-22E7-0E9D0BA2459F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7907" y="6234732"/>
            <a:ext cx="350776" cy="375831"/>
          </a:xfrm>
          <a:prstGeom prst="rect">
            <a:avLst/>
          </a:prstGeom>
        </p:spPr>
      </p:pic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44886E26-62DC-86B0-AFD4-D076A2541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12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7" r:id="rId2"/>
    <p:sldLayoutId id="2147483680" r:id="rId3"/>
    <p:sldLayoutId id="2147483669" r:id="rId4"/>
    <p:sldLayoutId id="2147483672" r:id="rId5"/>
    <p:sldLayoutId id="2147483686" r:id="rId6"/>
    <p:sldLayoutId id="2147483652" r:id="rId7"/>
    <p:sldLayoutId id="2147483682" r:id="rId8"/>
    <p:sldLayoutId id="2147483661" r:id="rId9"/>
    <p:sldLayoutId id="2147483677" r:id="rId10"/>
    <p:sldLayoutId id="2147483687" r:id="rId11"/>
    <p:sldLayoutId id="2147483689" r:id="rId12"/>
    <p:sldLayoutId id="2147483688" r:id="rId13"/>
    <p:sldLayoutId id="2147483662" r:id="rId14"/>
    <p:sldLayoutId id="2147483675" r:id="rId15"/>
    <p:sldLayoutId id="2147483663" r:id="rId16"/>
    <p:sldLayoutId id="2147483676" r:id="rId17"/>
    <p:sldLayoutId id="2147483670" r:id="rId18"/>
    <p:sldLayoutId id="2147483671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i="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0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1224" userDrawn="1">
          <p15:clr>
            <a:srgbClr val="F26B43"/>
          </p15:clr>
        </p15:guide>
        <p15:guide id="5" pos="7488" userDrawn="1">
          <p15:clr>
            <a:srgbClr val="F26B43"/>
          </p15:clr>
        </p15:guide>
        <p15:guide id="6" pos="168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uu.xview.us/" TargetMode="External"/><Relationship Id="rId3" Type="http://schemas.openxmlformats.org/officeDocument/2006/relationships/hyperlink" Target="https://arxiv.org/abs/2206.00897" TargetMode="External"/><Relationship Id="rId4" Type="http://schemas.openxmlformats.org/officeDocument/2006/relationships/hyperlink" Target="https://huggingface.co/datasets/ConnorLuckettDSTG/SARFish" TargetMode="External"/><Relationship Id="rId5" Type="http://schemas.openxmlformats.org/officeDocument/2006/relationships/hyperlink" Target="https://github.com/allenai/sar_vessel_detect" TargetMode="External"/><Relationship Id="rId6" Type="http://schemas.openxmlformats.org/officeDocument/2006/relationships/hyperlink" Target="https://docs.ultralytics.com/models/yolo26/" TargetMode="External"/><Relationship Id="rId7" Type="http://schemas.openxmlformats.org/officeDocument/2006/relationships/hyperlink" Target="https://research.nvidia.com/labs/lpr/locate-anything/" TargetMode="External"/><Relationship Id="rId8" Type="http://schemas.openxmlformats.org/officeDocument/2006/relationships/hyperlink" Target="https://arxiv.org/abs/2111.06377" TargetMode="External"/><Relationship Id="rId9" Type="http://schemas.openxmlformats.org/officeDocument/2006/relationships/hyperlink" Target="https://arxiv.org/abs/2508.21402" TargetMode="External"/><Relationship Id="rId10" Type="http://schemas.openxmlformats.org/officeDocument/2006/relationships/hyperlink" Target="https://arxiv.org/abs/2512.16635" TargetMode="External"/><Relationship Id="rId11" Type="http://schemas.openxmlformats.org/officeDocument/2006/relationships/hyperlink" Target="https://www.sciencedirect.com/science/article/pii/S0924271624003514" TargetMode="External"/><Relationship Id="rId12" Type="http://schemas.openxmlformats.org/officeDocument/2006/relationships/hyperlink" Target="https://arxiv.org/abs/2006.06882" TargetMode="External"/><Relationship Id="rId13" Type="http://schemas.openxmlformats.org/officeDocument/2006/relationships/hyperlink" Target="https://github.com/CAESAR-Radi/SAR-Ship-Dataset" TargetMode="External"/><Relationship Id="rId14" Type="http://schemas.openxmlformats.org/officeDocument/2006/relationships/hyperlink" Target="https://github.com/chaozhong2010/HRSID" TargetMode="External"/><Relationship Id="rId15" Type="http://schemas.openxmlformats.org/officeDocument/2006/relationships/hyperlink" Target="https://github.com/TianwenZhang0825/Official-SSDD" TargetMode="External"/><Relationship Id="rId16" Type="http://schemas.openxmlformats.org/officeDocument/2006/relationships/hyperlink" Target="https://github.com/TianwenZhang0825/LS-SSDD-v1.0-OPEN" TargetMode="External"/><Relationship Id="rId17" Type="http://schemas.openxmlformats.org/officeDocument/2006/relationships/hyperlink" Target="https://opensar.sjtu.edu.cn/" TargetMode="External"/><Relationship Id="rId18" Type="http://schemas.openxmlformats.org/officeDocument/2006/relationships/hyperlink" Target="https://github.com/waterdisappear/SAR-JEPA" TargetMode="Externa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diag_swimlane.png"/><Relationship Id="rId1" Type="http://schemas.openxmlformats.org/officeDocument/2006/relationships/slideLayout" Target="../slideLayouts/slideLayout1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59025" y="5962650"/>
            <a:ext cx="9247777" cy="1176499"/>
          </a:xfrm>
        </p:spPr>
        <p:txBody>
          <a:bodyPr>
            <a:normAutofit/>
          </a:bodyPr>
          <a:lstStyle/>
          <a:p>
            <a:r>
              <a:rPr sz="2000" dirty="0"/>
              <a:t xml:space="preserve">JHU EP 705.643 — Deep Learning Developments with </a:t>
            </a:r>
            <a:r>
              <a:rPr sz="2000" dirty="0" err="1"/>
              <a:t>PyTorch</a:t>
            </a:r>
            <a:endParaRPr sz="900" dirty="0"/>
          </a:p>
          <a:p>
            <a:r>
              <a:rPr sz="1600" dirty="0"/>
              <a:t>John Roth &amp; Kyle</a:t>
            </a:r>
            <a:r>
              <a:rPr lang="en-US" sz="1600" dirty="0"/>
              <a:t xml:space="preserve"> Wagner</a:t>
            </a:r>
            <a:endParaRPr sz="16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8C894CF-8497-E0EB-9FCA-2BDC41626CC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13996" b="13996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ctrTitle" idx="4294967295"/>
          </p:nvPr>
        </p:nvSpPr>
        <p:spPr>
          <a:xfrm>
            <a:off x="162236" y="5244548"/>
            <a:ext cx="9231313" cy="1273175"/>
          </a:xfrm>
        </p:spPr>
        <p:txBody>
          <a:bodyPr/>
          <a:lstStyle/>
          <a:p>
            <a:r>
              <a:rPr sz="2600" dirty="0">
                <a:solidFill>
                  <a:schemeClr val="bg1"/>
                </a:solidFill>
              </a:rPr>
              <a:t>xView3: Label-Efficient Dark Vessel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917AD9E-37B7-6871-B159-B065CDA575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97" r="17784" b="1"/>
          <a:stretch>
            <a:fillRect/>
          </a:stretch>
        </p:blipFill>
        <p:spPr>
          <a:xfrm>
            <a:off x="301228" y="2054093"/>
            <a:ext cx="5715011" cy="4057096"/>
          </a:xfrm>
          <a:prstGeom prst="rect">
            <a:avLst/>
          </a:prstGeom>
          <a:noFill/>
        </p:spPr>
      </p:pic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6173672" y="2054091"/>
            <a:ext cx="5715011" cy="4057096"/>
          </a:xfrm>
        </p:spPr>
        <p:txBody>
          <a:bodyPr>
            <a:normAutofit/>
          </a:bodyPr>
          <a:lstStyle/>
          <a:p>
            <a:r>
              <a:rPr lang="en-US" dirty="0"/>
              <a:t>Vessels are small, sparse, and domain-specific in SAR scenes</a:t>
            </a:r>
          </a:p>
          <a:p>
            <a:r>
              <a:rPr lang="en-US" dirty="0"/>
              <a:t>Dark vessels (no AIS) are operationally important; their labels are scarce</a:t>
            </a:r>
          </a:p>
          <a:p>
            <a:r>
              <a:rPr lang="en-US" dirty="0"/>
              <a:t>~1,000 scenes total, so supervised-only training risks overfitting</a:t>
            </a:r>
          </a:p>
          <a:p>
            <a:r>
              <a:rPr lang="en-US" b="1" dirty="0"/>
              <a:t>Core question: does a SAR foundation model beat an optical one for label-efficient dark-vessel detection?</a:t>
            </a:r>
          </a:p>
        </p:txBody>
      </p:sp>
      <p:sp>
        <p:nvSpPr>
          <p:cNvPr id="1031" name="Slide Number Placeholder 3">
            <a:extLst>
              <a:ext uri="{FF2B5EF4-FFF2-40B4-BE49-F238E27FC236}">
                <a16:creationId xmlns:a16="http://schemas.microsoft.com/office/drawing/2014/main" id="{2D94C996-3ED0-F4F8-662F-E69F05F818B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t>1. Problem &amp; Motivation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7"/>
          </p:nvPr>
        </p:nvSpPr>
        <p:spPr>
          <a:xfrm>
            <a:off x="303316" y="992842"/>
            <a:ext cx="11585365" cy="964912"/>
          </a:xfrm>
        </p:spPr>
        <p:txBody>
          <a:bodyPr anchor="ctr">
            <a:normAutofit/>
          </a:bodyPr>
          <a:lstStyle/>
          <a:p>
            <a:r>
              <a:rPr dirty="0"/>
              <a:t>xView3 targets vessel detection in Sentinel-1 SAR, including dark vessels not broadcasting AIS. With labels scarce, we compare how well pretrained foundation backbones transfer under a fixed harness.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Scale and inputs</a:t>
            </a:r>
          </a:p>
          <a:p>
            <a:pPr lvl="1"/>
            <a:r>
              <a:t>991 Sentinel-1 scenes, ~29,400 x 24,400 px each</a:t>
            </a:r>
          </a:p>
          <a:p>
            <a:pPr lvl="1"/>
            <a:r>
              <a:t>Dual-polarization VV + VH inputs</a:t>
            </a:r>
          </a:p>
          <a:p>
            <a:pPr lvl="1"/>
            <a:r>
              <a:t>SARFish mirror on Hugging Face (Apache 2.0): selective GRD-only pulls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Label provenance</a:t>
            </a:r>
          </a:p>
          <a:p>
            <a:pPr lvl="1"/>
            <a:r>
              <a:t>Train labels machine-generated (CFAR + AIS + GFW); HIGH/MED/LOW tiers</a:t>
            </a:r>
          </a:p>
          <a:p>
            <a:pPr lvl="1"/>
            <a:r>
              <a:t>Native labels are points + lengths, not boxes</a:t>
            </a:r>
          </a:p>
          <a:p>
            <a:pPr lvl="1"/>
            <a:r>
              <a:t>~50 human-verified validation scenes: reserved for final eval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Practical scoping</a:t>
            </a:r>
          </a:p>
          <a:p>
            <a:pPr lvl="1"/>
            <a:r>
              <a:t>75-150 train scenes stratified by region and shoreline; 800 x 800 px chips</a:t>
            </a:r>
          </a:p>
          <a:p>
            <a:pPr lvl="1"/>
            <a:r>
              <a:t>SARFish adds bboxes (where available) + precomputed distance-from-shore</a:t>
            </a:r>
          </a:p>
          <a:p>
            <a:pPr lvl="1"/>
            <a:r>
              <a:t>Detection task only; chip-level fine-tuning on 800px tiles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 — xView3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/>
        <p:txBody>
          <a:bodyPr>
            <a:normAutofit fontScale="92500" lnSpcReduction="10000"/>
          </a:bodyPr>
          <a:lstStyle/>
          <a:p>
            <a:r>
              <a:t>xView3 accessed via the SARFish mirror; label provenance still drives the split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Compute plan</a:t>
            </a:r>
          </a:p>
          <a:p>
            <a:pPr lvl="1"/>
            <a:r>
              <a:rPr dirty="0"/>
              <a:t>RTX 5070 Ti: fine-tune dev loop + YOLO26 / LocateAnything reference runs</a:t>
            </a:r>
          </a:p>
          <a:p>
            <a:pPr lvl="1"/>
            <a:r>
              <a:rPr dirty="0"/>
              <a:t>One 8x V100 (32 GB) node: the fine-tune grid (one config per GPU) + supervised-transfer training; scene-scale inference</a:t>
            </a:r>
          </a:p>
          <a:p>
            <a:pPr lvl="1"/>
            <a:r>
              <a:rPr lang="en-US" dirty="0"/>
              <a:t>Challenge runtime budget was 15 min/scene on a V100, so our timings are directly comparable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Schedule and risk</a:t>
            </a:r>
          </a:p>
          <a:p>
            <a:pPr lvl="1"/>
            <a:r>
              <a:rPr dirty="0"/>
              <a:t>Wk 1-2: SARFish GRD subset + chipping + heatmap harness; YOLO26 reference (harness frozen)</a:t>
            </a:r>
            <a:endParaRPr lang="en-US" dirty="0"/>
          </a:p>
          <a:p>
            <a:pPr lvl="1"/>
            <a:r>
              <a:rPr lang="en-US" dirty="0"/>
              <a:t>Wk 2-4: SatDINO + SARMAE (downloaded) + random arms fine-tuned; channel-format check first</a:t>
            </a:r>
            <a:endParaRPr dirty="0"/>
          </a:p>
          <a:p>
            <a:pPr lvl="1"/>
            <a:r>
              <a:rPr dirty="0"/>
              <a:t>Wk 3-5: supervised arm + full label-fraction grid + seed reruns, one config per card</a:t>
            </a:r>
          </a:p>
          <a:p>
            <a:pPr lvl="1"/>
            <a:r>
              <a:rPr dirty="0"/>
              <a:t>Wk 5-7: final eval + error analysis (dark-vessel recall, shoreline)</a:t>
            </a:r>
          </a:p>
          <a:p>
            <a:pPr lvl="1"/>
            <a:r>
              <a:rPr dirty="0"/>
              <a:t>Wk 7+: writeup; optional unconstrained challenge entry if time remains</a:t>
            </a:r>
          </a:p>
          <a:p>
            <a:pPr lvl="1"/>
            <a:r>
              <a:rPr lang="en-US" dirty="0"/>
              <a:t>Two-person split: data/scorer owner vs. harness/eval owner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Feasibility &amp; Schedule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Both foundation models are downloaded, so there is no pretraining long pole; total compute is ~130 GPU-hours, about a day on the node.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0000" lnSpcReduction="10000"/>
          </a:bodyPr>
          <a:lstStyle/>
          <a:p>
            <a:pPr marL="0" indent="0">
              <a:buNone/>
            </a:pPr>
            <a:r>
              <a:rPr lang="en-US" b="1" sz="1300" dirty="0"/>
              <a:t>Task &amp; benchmark</a:t>
            </a:r>
          </a:p>
          <a:p>
            <a:pPr marL="0" indent="0">
              <a:buNone/>
            </a:pPr>
            <a:r>
              <a:rPr lang="en-US" sz="1100" dirty="0">
                <a:hlinkClick r:id="rId2"/>
              </a:rPr>
              <a:t>xView3-SAR challenge (official site)</a:t>
            </a:r>
          </a:p>
          <a:p>
            <a:pPr marL="0" indent="0">
              <a:buNone/>
            </a:pPr>
            <a:r>
              <a:rPr lang="en-US" sz="1100" dirty="0">
                <a:hlinkClick r:id="rId3"/>
              </a:rPr>
              <a:t>Paolo et al. 2022, xView3-SAR dataset paper (arXiv 2206.00897)</a:t>
            </a:r>
          </a:p>
          <a:p>
            <a:pPr marL="0" indent="0">
              <a:buNone/>
            </a:pPr>
            <a:r>
              <a:rPr lang="en-US" sz="1100" dirty="0">
                <a:hlinkClick r:id="rId4"/>
              </a:rPr>
              <a:t>SARFish - xView3 GRD+SLC extension (Hugging Face)</a:t>
            </a:r>
          </a:p>
          <a:p>
            <a:pPr marL="0" indent="0">
              <a:buNone/>
            </a:pPr>
            <a:r>
              <a:rPr lang="en-US" sz="1100" dirty="0">
                <a:hlinkClick r:id="rId5"/>
              </a:rPr>
              <a:t>AI2 sar_vessel_detect - xView3 4th-place pipeline (GitHub)</a:t>
            </a:r>
          </a:p>
          <a:p>
            <a:pPr marL="0" indent="0">
              <a:buNone/>
            </a:pPr>
            <a:r>
              <a:rPr lang="en-US" b="1" sz="1300" dirty="0"/>
              <a:t>Models &amp; methods</a:t>
            </a:r>
          </a:p>
          <a:p>
            <a:pPr marL="0" indent="0">
              <a:buNone/>
            </a:pPr>
            <a:r>
              <a:rPr lang="en-US" sz="1100" dirty="0">
                <a:hlinkClick r:id="rId6"/>
              </a:rPr>
              <a:t>Ultralytics YOLO26 (baseline detector)</a:t>
            </a:r>
          </a:p>
          <a:p>
            <a:pPr marL="0" indent="0">
              <a:buNone/>
            </a:pPr>
            <a:r>
              <a:rPr lang="en-US" sz="1100" dirty="0">
                <a:hlinkClick r:id="rId7"/>
              </a:rPr>
              <a:t>NVIDIA LocateAnything - grounding VLM (project page)</a:t>
            </a:r>
          </a:p>
          <a:p>
            <a:pPr marL="0" indent="0">
              <a:buNone/>
            </a:pPr>
            <a:r>
              <a:rPr lang="en-US" sz="1100" dirty="0">
                <a:hlinkClick r:id="rId8"/>
              </a:rPr>
              <a:t>He et al. 2022, Masked Autoencoders (MAE) - arXiv 2111.06377</a:t>
            </a:r>
          </a:p>
          <a:p>
            <a:pPr marL="0" indent="0">
              <a:buNone/>
            </a:pPr>
            <a:r>
              <a:rPr lang="en-US" sz="1100" dirty="0">
                <a:hlinkClick r:id="rId9"/>
              </a:rPr>
              <a:t>Straka &amp; Gruber 2025, SatDINO - satellite DINO, ViT-B (arXiv 2508.21402)</a:t>
            </a:r>
          </a:p>
          <a:p>
            <a:pPr marL="0" indent="0">
              <a:buNone/>
            </a:pPr>
            <a:r>
              <a:rPr lang="en-US" sz="1100" dirty="0">
                <a:hlinkClick r:id="rId10"/>
              </a:rPr>
              <a:t>Liu et al. 2026, SARMAE - SAR foundation model on SAR-1M, ViT-B (arXiv 2512.16635)</a:t>
            </a:r>
          </a:p>
          <a:p>
            <a:pPr marL="0" indent="0">
              <a:buNone/>
            </a:pPr>
            <a:r>
              <a:rPr lang="en-US" sz="1100" dirty="0">
                <a:hlinkClick r:id="rId11"/>
              </a:rPr>
              <a:t>Li et al. 2024, SAR-JEPA gradient-feature SSL (ISPRS)</a:t>
            </a:r>
          </a:p>
          <a:p>
            <a:pPr marL="0" indent="0">
              <a:buNone/>
            </a:pPr>
            <a:r>
              <a:rPr lang="en-US" sz="1100" dirty="0">
                <a:hlinkClick r:id="rId12"/>
              </a:rPr>
              <a:t>Zoph et al. 2020, Rethinking Pre-training &amp; Self-training (arXiv 2006.06882)</a:t>
            </a:r>
          </a:p>
          <a:p>
            <a:pPr marL="0" indent="0">
              <a:buNone/>
            </a:pPr>
            <a:r>
              <a:rPr lang="en-US" b="1" sz="1300" dirty="0"/>
              <a:t>SAR ship / vessel datasets</a:t>
            </a:r>
          </a:p>
          <a:p>
            <a:pPr marL="0" indent="0">
              <a:buNone/>
            </a:pPr>
            <a:r>
              <a:rPr lang="en-US" sz="1100" dirty="0">
                <a:hlinkClick r:id="rId13"/>
              </a:rPr>
              <a:t>SAR-Ship-Dataset - Sentinel-1 + Gaofen-3 chips (GitHub)</a:t>
            </a:r>
          </a:p>
          <a:p>
            <a:pPr marL="0" indent="0">
              <a:buNone/>
            </a:pPr>
            <a:r>
              <a:rPr lang="en-US" sz="1100" dirty="0">
                <a:hlinkClick r:id="rId14"/>
              </a:rPr>
              <a:t>HRSID - high-res SAR detection + segmentation (GitHub)</a:t>
            </a:r>
          </a:p>
          <a:p>
            <a:pPr marL="0" indent="0">
              <a:buNone/>
            </a:pPr>
            <a:r>
              <a:rPr lang="en-US" sz="1100" dirty="0">
                <a:hlinkClick r:id="rId15"/>
              </a:rPr>
              <a:t>SSDD - SAR Ship Detection Dataset, official release (GitHub)</a:t>
            </a:r>
          </a:p>
          <a:p>
            <a:pPr marL="0" indent="0">
              <a:buNone/>
            </a:pPr>
            <a:r>
              <a:rPr lang="en-US" sz="1100" dirty="0">
                <a:hlinkClick r:id="rId16"/>
              </a:rPr>
              <a:t>LS-SSDD-v1.0 - large-scene Sentinel-1 small-ship (GitHub)</a:t>
            </a:r>
          </a:p>
          <a:p>
            <a:pPr marL="0" indent="0">
              <a:buNone/>
            </a:pPr>
            <a:r>
              <a:rPr lang="en-US" sz="1100" dirty="0">
                <a:hlinkClick r:id="rId17"/>
              </a:rPr>
              <a:t>OpenSARShip / OpenSARUrban - Sentinel-1 chips (SJTU)</a:t>
            </a:r>
          </a:p>
          <a:p>
            <a:pPr marL="0" indent="0">
              <a:buNone/>
            </a:pPr>
            <a:r>
              <a:rPr lang="en-US" sz="1100" dirty="0">
                <a:hlinkClick r:id="rId18"/>
              </a:rPr>
              <a:t>SAR-JEPA datasets hub: MSAR, FUSAR-Ship, etc. (GitHub)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</a:t>
            </a:r>
            <a:r>
              <a:rPr dirty="0"/>
              <a:t>. References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E61084-6F92-A89B-674E-6104293C1A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Compositing bridge (answers the synthetic-data question).</a:t>
            </a:r>
            <a:r>
              <a:rPr lang="en-US" dirty="0"/>
              <a:t xml:space="preserve"> Paste real vessel chips onto real vessel-free backgrounds; ~1 week, no diffusion anywhere. Adds a synthetic-augmentation row so the final table reads SSL vs. augmentation vs. both.</a:t>
            </a:r>
          </a:p>
          <a:p>
            <a:r>
              <a:rPr lang="en-US" b="1" dirty="0"/>
              <a:t>Self-training / pseudo-labeling.</a:t>
            </a:r>
            <a:r>
              <a:rPr lang="en-US" dirty="0"/>
              <a:t xml:space="preserve"> Train on human-verified scenes, pseudo-label the noisy train scenes with high-confidence predictions (AI2 4th-place precedent; Zoph et al. 2020). Same harness; stands alone if pretraining underwhelms.</a:t>
            </a:r>
          </a:p>
          <a:p>
            <a:r>
              <a:rPr lang="en-US" b="1" dirty="0"/>
              <a:t>SAR-aware preprocessing study.</a:t>
            </a:r>
            <a:r>
              <a:rPr lang="en-US" dirty="0"/>
              <a:t xml:space="preserve"> dB scaling, speckle filtering, and polarimetric channel handling vs. RGB-style normalization; cheap, fast, and orthogonal to every other track.</a:t>
            </a:r>
          </a:p>
          <a:p>
            <a:r>
              <a:rPr lang="en-US" b="1" dirty="0"/>
              <a:t>Detection-head comparison.</a:t>
            </a:r>
            <a:r>
              <a:rPr lang="en-US" dirty="0"/>
              <a:t xml:space="preserve"> Heatmap head vs. ViTDet-style box head on the best initialization; timeboxed, one-slide result after the init grid lands.</a:t>
            </a:r>
          </a:p>
          <a:p>
            <a:r>
              <a:rPr lang="en-US" b="1" dirty="0"/>
              <a:t>Complex-valued SLC (stretch).</a:t>
            </a:r>
            <a:r>
              <a:rPr lang="en-US" dirty="0"/>
              <a:t xml:space="preserve"> SARFish SLC products (2.3 m azimuth spacing) enable Doppler/sublook features for moving vessels and complex-valued nets; storage and non-square pixels are the tax.</a:t>
            </a:r>
          </a:p>
          <a:p>
            <a:r>
              <a:rPr lang="en-US" b="1" dirty="0"/>
              <a:t>Ancillary-layer fusion.</a:t>
            </a:r>
            <a:r>
              <a:rPr lang="en-US" dirty="0"/>
              <a:t xml:space="preserve"> Add bathymetry, wind, or land/ice channels to disambiguate vessels from fixed infrastructure, especially close to shore.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3C4F40-813B-976C-AFA8-BAE1595D8C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1FEF1A-7EE5-2E2F-8649-99F9B88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Alternatives &amp; Fallbacks</a:t>
            </a:r>
          </a:p>
        </p:txBody>
      </p:sp>
    </p:spTree>
    <p:extLst>
      <p:ext uri="{BB962C8B-B14F-4D97-AF65-F5344CB8AC3E}">
        <p14:creationId xmlns:p14="http://schemas.microsoft.com/office/powerpoint/2010/main" val="3253150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1. Random init (floor)</a:t>
            </a:r>
          </a:p>
          <a:p>
            <a:pPr lvl="1"/>
            <a:r>
              <a:rPr lang="en-US" dirty="0"/>
              <a:t>From-scratch supervised on xView3; the no-pretraining baseline every other arm is measured against</a:t>
            </a:r>
          </a:p>
          <a:p>
            <a:r>
              <a:rPr lang="en-US" b="1" dirty="0"/>
              <a:t>2. SatDINO → xView3</a:t>
            </a:r>
          </a:p>
          <a:p>
            <a:pPr lvl="1"/>
            <a:r>
              <a:rPr lang="en-US" dirty="0"/>
              <a:t>Frozen frontier optical-satellite backbone + trained head; the RGB-domain transfer anchor</a:t>
            </a:r>
          </a:p>
          <a:p>
            <a:r>
              <a:rPr lang="en-US" b="1" dirty="0"/>
              <a:t>3. SARMAE → xView3</a:t>
            </a:r>
          </a:p>
          <a:p>
            <a:pPr lvl="1"/>
            <a:r>
              <a:rPr lang="en-US" dirty="0"/>
              <a:t>Downloaded SAR foundation model (SAR-1M), fine-tuned; the in-domain transfer arm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4. Supervised SAR-ship → xView3</a:t>
            </a:r>
          </a:p>
          <a:p>
            <a:pPr lvl="1"/>
            <a:r>
              <a:rPr lang="en-US" dirty="0"/>
              <a:t>Pretrain on labeled SAR ship detection, then fine-tune; labeled near-domain transfer</a:t>
            </a:r>
          </a:p>
          <a:p>
            <a:r>
              <a:rPr lang="en-US" b="1" dirty="0"/>
              <a:t>5. Best FM + Supervised → xView3</a:t>
            </a:r>
          </a:p>
          <a:p>
            <a:pPr lvl="1"/>
            <a:r>
              <a:rPr lang="en-US" dirty="0"/>
              <a:t>Stacked pretraining; the unconstrained run for the challenge leaderboard, reported separately</a:t>
            </a:r>
          </a:p>
          <a:p>
            <a:r>
              <a:rPr lang="en-US" b="1" dirty="0"/>
              <a:t>6. External references</a:t>
            </a:r>
          </a:p>
          <a:p>
            <a:pPr lvl="1"/>
            <a:r>
              <a:rPr lang="en-US" dirty="0"/>
              <a:t>YOLO26-COCO and LocateAnything-3B zero-shot; not on the curve, they bracket the achievable range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The Six Arms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One fixed harness; the downloaded init is the only thing that changes. Arms 1-4 sit on the label-efficiency curve, 5 chases the leaderboard, 6 brackets the range.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Splits and hygiene</a:t>
            </a:r>
          </a:p>
          <a:p>
            <a:pPr lvl="1"/>
            <a:r>
              <a:t>Scene-level 75/15/10 split of train scenes (no chip-level leakage)</a:t>
            </a:r>
          </a:p>
          <a:p>
            <a:pPr lvl="1"/>
            <a:r>
              <a:t>Pretraining sees only train + public chips, never validation</a:t>
            </a:r>
          </a:p>
          <a:p>
            <a:pPr lvl="1"/>
            <a:r>
              <a:t>Final eval: human-verified scenes, untouched by any training</a:t>
            </a:r>
          </a:p>
          <a:p>
            <a:pPr lvl="1"/>
            <a:r>
              <a:t>All four arms ViT-B, same head and fine-tuning; only the downloaded init differs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Experiment grid</a:t>
            </a:r>
          </a:p>
          <a:p>
            <a:pPr lvl="1"/>
            <a:r>
              <a:t>4 study arms: random / SatDINO / SARMAE / supervised</a:t>
            </a:r>
          </a:p>
          <a:p>
            <a:pPr lvl="1"/>
            <a:r>
              <a:t>x label fractions 10 / 25 / 50 / 100%</a:t>
            </a:r>
          </a:p>
          <a:p>
            <a:pPr lvl="1"/>
            <a:r>
              <a:t>Seed reruns on the 25% + 100% cells for error bars</a:t>
            </a:r>
          </a:p>
          <a:p>
            <a:pPr lvl="1"/>
            <a:r>
              <a:t>Corpus ablation: xView3 only vs + public + OpenSARShip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Headline readout</a:t>
            </a:r>
          </a:p>
          <a:p>
            <a:pPr lvl="1"/>
            <a:r>
              <a:t>Label-efficiency curve: F1 vs labels, one line per arm</a:t>
            </a:r>
          </a:p>
          <a:p>
            <a:pPr lvl="1"/>
            <a:r>
              <a:t>Gap over the floor at 10% labels = value of pretraining</a:t>
            </a:r>
          </a:p>
          <a:p>
            <a:pPr lvl="1"/>
            <a:r>
              <a:t>Arm ordering = optical-to-SAR transfer: SatDINO &lt; SARMAE</a:t>
            </a:r>
          </a:p>
          <a:p>
            <a:pPr lvl="1"/>
            <a:r>
              <a:t>Challenge entry reported separately (see Arm 5)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Evaluation Design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/>
        <p:txBody>
          <a:bodyPr>
            <a:normAutofit fontScale="92500" lnSpcReduction="10000"/>
          </a:bodyPr>
          <a:lstStyle/>
          <a:p>
            <a:r>
              <a:t>The label-efficiency curve is the headline; arm ordering doubles as an optical-to-SAR transferability result.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Schedule table"/>
          <p:cNvGraphicFramePr/>
          <p:nvPr/>
        </p:nvGraphicFramePr>
        <p:xfrm>
          <a:off x="502920" y="1965960"/>
          <a:ext cx="10972800" cy="3246120"/>
        </p:xfrm>
        <a:graphic>
          <a:graphicData uri="http://schemas.openxmlformats.org/drawingml/2006/table">
            <a:tbl>
              <a:tblPr firstRow="1" bandRow="1"/>
              <a:tblGrid>
                <a:gridCol w="1005840"/>
                <a:gridCol w="4572000"/>
                <a:gridCol w="5394960"/>
              </a:tblGrid>
              <a:tr h="411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68580" marR="68580" marT="34290" marB="34290" anchor="ctr"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/ scorer owner</a:t>
                      </a:r>
                    </a:p>
                  </a:txBody>
                  <a:tcPr marL="68580" marR="68580" marT="34290" marB="34290" anchor="ctr"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Harness + eval owner</a:t>
                      </a:r>
                    </a:p>
                  </a:txBody>
                  <a:tcPr marL="68580" marR="68580" marT="34290" marB="34290" anchor="ctr">
                    <a:solidFill>
                      <a:srgbClr val="1A3A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1-2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Download + chip xView3; build splits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Heatmap harness + frozen scorer; YOLO26 ref</a:t>
                      </a:r>
                    </a:p>
                  </a:txBody>
                  <a:tcPr marL="68580" marR="68580" marT="34290" marB="34290" anchor="ctr"/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2-4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Centroid conversion; data QA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SatDINO + SARMAE + random arms (FMs first)</a:t>
                      </a:r>
                    </a:p>
                  </a:txBody>
                  <a:tcPr marL="68580" marR="68580" marT="34290" marB="34290" anchor="ctr"/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3-5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Support supervised-transfer training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Supervised arm; full label-fraction grid + seeds</a:t>
                      </a:r>
                    </a:p>
                  </a:txBody>
                  <a:tcPr marL="68580" marR="68580" marT="34290" marB="34290" anchor="ctr"/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5-7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Assist error analysis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Final eval; error analysis: dark vessels, shoreline</a:t>
                      </a:r>
                    </a:p>
                  </a:txBody>
                  <a:tcPr marL="68580" marR="68580" marT="34290" marB="34290" anchor="ctr"/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7+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Support writeup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50" dirty="0">
                          <a:solidFill>
                            <a:srgbClr val="1A2E50"/>
                          </a:solidFill>
                        </a:rPr>
                        <a:t>Writeup + optional challenge entry</a:t>
                      </a:r>
                    </a:p>
                  </a:txBody>
                  <a:tcPr marL="68580" marR="68580" marT="34290" marB="34290" anchor="ctr"/>
                </a:tc>
              </a:tr>
            </a:tbl>
          </a:graphicData>
        </a:graphic>
      </p:graphicFrame>
      <p:sp>
        <p:nvSpPr>
          <p:cNvPr id="1031" name="Slide Number Placeholder 3">
            <a:extLst>
              <a:ext uri="{FF2B5EF4-FFF2-40B4-BE49-F238E27FC236}">
                <a16:creationId xmlns:a16="http://schemas.microsoft.com/office/drawing/2014/main" id="{2D94C996-3ED0-F4F8-662F-E69F05F818B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t>9. Schedule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7"/>
          </p:nvPr>
        </p:nvSpPr>
        <p:spPr>
          <a:xfrm>
            <a:off x="303316" y="992842"/>
            <a:ext cx="11585365" cy="964912"/>
          </a:xfrm>
        </p:spPr>
        <p:txBody>
          <a:bodyPr anchor="ctr">
            <a:normAutofit/>
          </a:bodyPr>
          <a:lstStyle/>
          <a:p>
            <a:r>
              <a:rPr dirty="0"/>
              <a:t>Two independent lanes with no hard dependency: both foundation models are downloaded, so there is no pretraining handoff to block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E61084-6F92-A89B-674E-6104293C1A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Backbone — ViT-B/16.</a:t>
            </a:r>
            <a:r>
              <a:rPr lang="en-US" dirty="0"/>
              <a:t xml:space="preserve"> Patch embed takes a fixed 3-channel [VH, VV, VH-VV] SAR input (identical for every arm). Plain (non-hierarchical) ViT so the same network accepts every arm's downloaded weights.</a:t>
            </a:r>
          </a:p>
          <a:p>
            <a:r>
              <a:rPr lang="en-US" b="1" dirty="0"/>
              <a:t>Head — heatmap, not boxes.</a:t>
            </a:r>
            <a:r>
              <a:rPr lang="en-US" dirty="0"/>
              <a:t xml:space="preserve"> Deconv tower upsamples the stride-16 token grid to a stride-4 dense response map; one sigmoid channel per pixel. Matches xView3's point labels natively.</a:t>
            </a:r>
          </a:p>
          <a:p>
            <a:r>
              <a:rPr lang="en-US" b="1" dirty="0"/>
              <a:t>Training target — Gaussian blobs.</a:t>
            </a:r>
            <a:r>
              <a:rPr lang="en-US" dirty="0"/>
              <a:t xml:space="preserve"> Each vessel point is painted as a small 2D Gaussian; penalty-reduced focal loss. LOW-confidence labels become ignore regions, not positives or negatives.</a:t>
            </a:r>
          </a:p>
          <a:p>
            <a:r>
              <a:rPr lang="en-US" b="1" dirty="0"/>
              <a:t>Decode — peak + distance NMS.</a:t>
            </a:r>
            <a:r>
              <a:rPr lang="en-US" dirty="0"/>
              <a:t xml:space="preserve"> Local-maxima above threshold become detections; duplicates within a distance radius are suppressed (the box-free analog of IoU-NMS).</a:t>
            </a:r>
          </a:p>
          <a:p>
            <a:r>
              <a:rPr lang="en-US" b="1" dirty="0"/>
              <a:t>Scoring — distance matching.</a:t>
            </a:r>
            <a:r>
              <a:rPr lang="en-US" dirty="0"/>
              <a:t xml:space="preserve"> Predicted points greedily matched to ground-truth points within the xView3 tolerance; no IoU anywhere. Target, output, and metric all live in one point-and-distance space.</a:t>
            </a:r>
          </a:p>
          <a:p>
            <a:r>
              <a:rPr lang="en-US" b="1" dirty="0"/>
              <a:t>Why fixed.</a:t>
            </a:r>
            <a:r>
              <a:rPr lang="en-US" dirty="0"/>
              <a:t xml:space="preserve"> Frozen across all arms so the only variable is the ViT initialization; lineage is CenterNet (Objects as Points), validated for SAR by TRANSAR.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3C4F40-813B-976C-AFA8-BAE1595D8C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1FEF1A-7EE5-2E2F-8649-99F9B88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Detection Harness</a:t>
            </a:r>
          </a:p>
        </p:txBody>
      </p:sp>
    </p:spTree>
    <p:extLst>
      <p:ext uri="{BB962C8B-B14F-4D97-AF65-F5344CB8AC3E}">
        <p14:creationId xmlns:p14="http://schemas.microsoft.com/office/powerpoint/2010/main" val="3253150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E61084-6F92-A89B-674E-6104293C1A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Identity.</a:t>
            </a:r>
            <a:r>
              <a:rPr lang="en-US" dirty="0"/>
              <a:t xml:space="preserve"> ViT-B/16 with random weights, trained supervised on xView3 only. No pretraining of any kind.</a:t>
            </a:r>
          </a:p>
          <a:p>
            <a:r>
              <a:rPr lang="en-US" b="1" dirty="0"/>
              <a:t>What it tests.</a:t>
            </a:r>
            <a:r>
              <a:rPr lang="en-US" dirty="0"/>
              <a:t xml:space="preserve"> The no-pretraining floor. Every other arm's value is the gap above this line; without it, 'pretraining helps' has no baseline.</a:t>
            </a:r>
          </a:p>
          <a:p>
            <a:r>
              <a:rPr lang="en-US" b="1" dirty="0"/>
              <a:t>Source.</a:t>
            </a:r>
            <a:r>
              <a:rPr lang="en-US" dirty="0"/>
              <a:t xml:space="preserve"> None - weights are random init.</a:t>
            </a:r>
          </a:p>
          <a:p>
            <a:r>
              <a:rPr lang="en-US" b="1" dirty="0"/>
              <a:t>Expected role.</a:t>
            </a:r>
            <a:r>
              <a:rPr lang="en-US" dirty="0"/>
              <a:t xml:space="preserve"> Lowest curve, steepest climb with more labels. If a data-hungry ViT fails to converge at the scarce-label end, that itself is a finding.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3C4F40-813B-976C-AFA8-BAE1595D8C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1FEF1A-7EE5-2E2F-8649-99F9B88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1 - Random Initialization (Floor)</a:t>
            </a:r>
          </a:p>
        </p:txBody>
      </p:sp>
    </p:spTree>
    <p:extLst>
      <p:ext uri="{BB962C8B-B14F-4D97-AF65-F5344CB8AC3E}">
        <p14:creationId xmlns:p14="http://schemas.microsoft.com/office/powerpoint/2010/main" val="3253150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E61084-6F92-A89B-674E-6104293C1A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Identity.</a:t>
            </a:r>
            <a:r>
              <a:rPr lang="en-US" dirty="0"/>
              <a:t xml:space="preserve"> SatDINO ViT-B/16, an optical-satellite foundation model (DINO self-distillation on fMoW-RGB), downloaded and fine-tuned on xView3 through the same harness as every arm.</a:t>
            </a:r>
          </a:p>
          <a:p>
            <a:r>
              <a:rPr lang="en-US" b="1" dirty="0"/>
              <a:t>What it tests.</a:t>
            </a:r>
            <a:r>
              <a:rPr lang="en-US" dirty="0"/>
              <a:t xml:space="preserve"> Optical-domain transfer: does foundation-model pretraining on optical satellite imagery transfer to SAR detection?</a:t>
            </a:r>
          </a:p>
          <a:p>
            <a:r>
              <a:rPr lang="en-US" b="1" dirty="0"/>
              <a:t>Source.</a:t>
            </a:r>
            <a:r>
              <a:rPr lang="en-US" dirty="0"/>
              <a:t xml:space="preserve"> SatDINO (Straka &amp; Gruber 2025), ViT-B/16 pretrained on fMoW-RGB; same size and fine-tuning regime as SARMAE. Downloadable (Apache-2.0); the optical ViT-B MAE was not, hence DINO.</a:t>
            </a:r>
          </a:p>
          <a:p>
            <a:r>
              <a:rPr lang="en-US" b="1" dirty="0"/>
              <a:t>Expected role.</a:t>
            </a:r>
            <a:r>
              <a:rPr lang="en-US" dirty="0"/>
              <a:t xml:space="preserve"> Same-size optical anchor (both ViT-B). Arms 2 and 3 differ in domain and in SSL method (DINO vs MAE); we compare the best released FM of each domain as-is, a documented caveat.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3C4F40-813B-976C-AFA8-BAE1595D8C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1FEF1A-7EE5-2E2F-8649-99F9B88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2 - SatDINO → xView3</a:t>
            </a:r>
          </a:p>
        </p:txBody>
      </p:sp>
    </p:spTree>
    <p:extLst>
      <p:ext uri="{BB962C8B-B14F-4D97-AF65-F5344CB8AC3E}">
        <p14:creationId xmlns:p14="http://schemas.microsoft.com/office/powerpoint/2010/main" val="3253150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E61084-6F92-A89B-674E-6104293C1A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Identity.</a:t>
            </a:r>
            <a:r>
              <a:rPr lang="en-US" dirty="0"/>
              <a:t xml:space="preserve"> SARMAE ViT-B/16, a SAR foundation model (masked autoencoder pretrained on the 1M-image SAR-1M set), downloaded and fine-tuned on xView3.</a:t>
            </a:r>
          </a:p>
          <a:p>
            <a:r>
              <a:rPr lang="en-US" b="1" dirty="0"/>
              <a:t>What it tests.</a:t>
            </a:r>
            <a:r>
              <a:rPr lang="en-US" dirty="0"/>
              <a:t xml:space="preserve"> The headline contrast: does a SAR-domain foundation model beat an optical one (SatDINO) for dark-vessel detection?</a:t>
            </a:r>
          </a:p>
          <a:p>
            <a:r>
              <a:rPr lang="en-US" b="1" dirty="0"/>
              <a:t>Source.</a:t>
            </a:r>
            <a:r>
              <a:rPr lang="en-US" dirty="0"/>
              <a:t xml:space="preserve"> Downloaded (Liu et al., CVPR 2026; MiliLab/SARMAE). Same ViT-B as every arm, fine-tuned identically. We pretrain nothing - this removes the compute and novel-code risk.</a:t>
            </a:r>
          </a:p>
          <a:p>
            <a:r>
              <a:rPr lang="en-US" b="1" dirty="0"/>
              <a:t>Expected role.</a:t>
            </a:r>
            <a:r>
              <a:rPr lang="en-US" dirty="0"/>
              <a:t xml:space="preserve"> The SAR-FM arm. If it leads at low label fractions, in-domain pretraining wins; the gap to SatDINO is the optical-vs-SAR result.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3C4F40-813B-976C-AFA8-BAE1595D8C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1FEF1A-7EE5-2E2F-8649-99F9B88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3 - SARMAE → xView3 (Core)</a:t>
            </a:r>
          </a:p>
        </p:txBody>
      </p:sp>
    </p:spTree>
    <p:extLst>
      <p:ext uri="{BB962C8B-B14F-4D97-AF65-F5344CB8AC3E}">
        <p14:creationId xmlns:p14="http://schemas.microsoft.com/office/powerpoint/2010/main" val="3253150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E61084-6F92-A89B-674E-6104293C1A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Identity.</a:t>
            </a:r>
            <a:r>
              <a:rPr lang="en-US" dirty="0"/>
              <a:t xml:space="preserve"> ViT pretrained supervised on a labeled SAR ship-detection set, then fine-tuned on xView3.</a:t>
            </a:r>
          </a:p>
          <a:p>
            <a:r>
              <a:rPr lang="en-US" b="1" dirty="0"/>
              <a:t>What it tests.</a:t>
            </a:r>
            <a:r>
              <a:rPr lang="en-US" dirty="0"/>
              <a:t xml:space="preserve"> Labeled near-domain SAR transfer vs. the downloaded foundation models. Single matched source keeps the contrast clean (native Sentinel-1, scene-scale).</a:t>
            </a:r>
          </a:p>
          <a:p>
            <a:r>
              <a:rPr lang="en-US" b="1" dirty="0"/>
              <a:t>Source.</a:t>
            </a:r>
            <a:r>
              <a:rPr lang="en-US" dirty="0"/>
              <a:t xml:space="preserve"> LS-SSDD-v1.0 only: native Sentinel-1, scene-scale, already 800px chips. Boxes collapsed to centroids, fed to the same heatmap head.</a:t>
            </a:r>
          </a:p>
          <a:p>
            <a:r>
              <a:rPr lang="en-US" b="1" dirty="0"/>
              <a:t>Expected role.</a:t>
            </a:r>
            <a:r>
              <a:rPr lang="en-US" dirty="0"/>
              <a:t xml:space="preserve"> A labeled-transfer point of comparison against the SatDINO and SARMAE foundation-model arms on the label-efficiency curve.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3C4F40-813B-976C-AFA8-BAE1595D8C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1FEF1A-7EE5-2E2F-8649-99F9B88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4 - Supervised SAR-ship → xView3</a:t>
            </a:r>
          </a:p>
        </p:txBody>
      </p:sp>
    </p:spTree>
    <p:extLst>
      <p:ext uri="{BB962C8B-B14F-4D97-AF65-F5344CB8AC3E}">
        <p14:creationId xmlns:p14="http://schemas.microsoft.com/office/powerpoint/2010/main" val="3253150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E61084-6F92-A89B-674E-6104293C1A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Identity.</a:t>
            </a:r>
            <a:r>
              <a:rPr lang="en-US" dirty="0"/>
              <a:t xml:space="preserve"> Stacked: best downloaded FM (SARMAE), then supervised SAR-ship, then fine-tune on xView3. Unconstrained.</a:t>
            </a:r>
          </a:p>
          <a:p>
            <a:r>
              <a:rPr lang="en-US" b="1" dirty="0"/>
              <a:t>What it tests.</a:t>
            </a:r>
            <a:r>
              <a:rPr lang="en-US" dirty="0"/>
              <a:t xml:space="preserve"> Maximum achievable score - not a controlled comparison. Reported separately from the five-arm study.</a:t>
            </a:r>
          </a:p>
          <a:p>
            <a:r>
              <a:rPr lang="en-US" b="1" dirty="0"/>
              <a:t>Source.</a:t>
            </a:r>
            <a:r>
              <a:rPr lang="en-US" dirty="0"/>
              <a:t xml:space="preserve"> Supervised stage pools all SAR detection sets (LS-SSDD + HRSID + SAR-Ship-Dataset + SSDD), centroids to heatmap; plus ensembling with YOLO26, TTA, pseudo-labeling, all-data training.</a:t>
            </a:r>
          </a:p>
          <a:p>
            <a:r>
              <a:rPr lang="en-US" b="1" dirty="0"/>
              <a:t>Expected role.</a:t>
            </a:r>
            <a:r>
              <a:rPr lang="en-US" dirty="0"/>
              <a:t xml:space="preserve"> The leaderboard entry / coda. Built last, only if the study lands and time remains; not on the label-efficiency curve.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3C4F40-813B-976C-AFA8-BAE1595D8C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1FEF1A-7EE5-2E2F-8649-99F9B88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5 - Best FM + Supervised (Challenge)</a:t>
            </a:r>
          </a:p>
        </p:txBody>
      </p:sp>
    </p:spTree>
    <p:extLst>
      <p:ext uri="{BB962C8B-B14F-4D97-AF65-F5344CB8AC3E}">
        <p14:creationId xmlns:p14="http://schemas.microsoft.com/office/powerpoint/2010/main" val="3253150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E61084-6F92-A89B-674E-6104293C1A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Identity.</a:t>
            </a:r>
            <a:r>
              <a:rPr lang="en-US" dirty="0"/>
              <a:t xml:space="preserve"> Two off-the-shelf models run for context, neither fine-tuned through the harness.</a:t>
            </a:r>
          </a:p>
          <a:p>
            <a:r>
              <a:rPr lang="en-US" b="1" dirty="0"/>
              <a:t>YOLO26-COCO.</a:t>
            </a:r>
            <a:r>
              <a:rPr lang="en-US" dirty="0"/>
              <a:t xml:space="preserve"> Standard detector fine-tuned from COCO; boxes built from points+lengths, centers scored through our scorer. The recognizable absolute-number anchor.</a:t>
            </a:r>
          </a:p>
          <a:p>
            <a:r>
              <a:rPr lang="en-US" b="1" dirty="0"/>
              <a:t>LocateAnything-3B.</a:t>
            </a:r>
            <a:r>
              <a:rPr lang="en-US" dirty="0"/>
              <a:t xml:space="preserve"> Frozen grounding VLM, zero-shot on SAR chips with text prompts. A 'what does a 2026 generalist do out of the box on SAR?' probe.</a:t>
            </a:r>
          </a:p>
          <a:p>
            <a:r>
              <a:rPr lang="en-US" b="1" dirty="0"/>
              <a:t>Expected role.</a:t>
            </a:r>
            <a:r>
              <a:rPr lang="en-US" dirty="0"/>
              <a:t xml:space="preserve"> Brackets the achievable range top and bottom; contextualizes the study arms without being on the curve.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3C4F40-813B-976C-AFA8-BAE1595D8C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1FEF1A-7EE5-2E2F-8649-99F9B88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6 - External References</a:t>
            </a:r>
          </a:p>
        </p:txBody>
      </p:sp>
    </p:spTree>
    <p:extLst>
      <p:ext uri="{BB962C8B-B14F-4D97-AF65-F5344CB8AC3E}">
        <p14:creationId xmlns:p14="http://schemas.microsoft.com/office/powerpoint/2010/main" val="3253150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Native Sentinel-1 (best fit)</a:t>
            </a:r>
          </a:p>
          <a:p>
            <a:pPr lvl="1"/>
            <a:r>
              <a:t>xView3 / SARFish: the target; C-band, VV/VH, ~10 m</a:t>
            </a:r>
          </a:p>
          <a:p>
            <a:pPr lvl="1"/>
            <a:r>
              <a:t>OpenSARShip 1.0/2.0: ~34k S-1 IW ship chips + AIS</a:t>
            </a:r>
          </a:p>
          <a:p>
            <a:pPr lvl="1"/>
            <a:r>
              <a:t>LS-SSDD-v1.0: 15 large S-1 scenes, 9k 800px sub-images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Related SAR (resolution-shifted)</a:t>
            </a:r>
          </a:p>
          <a:p>
            <a:pPr lvl="1"/>
            <a:r>
              <a:t>SAR-Ship-Dataset: ~39k S-1 + Gaofen-3 chips, 3-25 m</a:t>
            </a:r>
          </a:p>
          <a:p>
            <a:pPr lvl="1"/>
            <a:r>
              <a:t>HRSID: ~5.6k chips, 0.5-3 m, boxes + instance masks</a:t>
            </a:r>
          </a:p>
          <a:p>
            <a:pPr lvl="1"/>
            <a:r>
              <a:t>SSDD: 1,160 mixed-sensor images, 1-15 m, box/rbox/seg</a:t>
            </a:r>
          </a:p>
          <a:p>
            <a:pPr lvl="1"/>
            <a:r>
              <a:t>FUSAR-Ship: Gaofen-3 C-band, ~1.1-1.7 m, type labels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How each is used</a:t>
            </a:r>
          </a:p>
          <a:p>
            <a:pPr lvl="1"/>
            <a:r>
              <a:t>SARMAE is downloaded (pretrained on SAR-1M); we curate no SSL corpus ourselves</a:t>
            </a:r>
          </a:p>
          <a:p>
            <a:pPr lvl="1"/>
            <a:r>
              <a:t>LS-SSDD alone is the supervised arm (Arm 4) source</a:t>
            </a:r>
          </a:p>
          <a:p>
            <a:pPr lvl="1"/>
            <a:r>
              <a:t>HRSID + SAR-Ship + SSDD pool only for the challenge (Arm 5)</a:t>
            </a:r>
          </a:p>
          <a:p>
            <a:pPr lvl="1"/>
            <a:r>
              <a:t>Licenses checked per source before download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Pretraining Datasets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/>
        <p:txBody>
          <a:bodyPr>
            <a:normAutofit fontScale="92500" lnSpcReduction="10000"/>
          </a:bodyPr>
          <a:lstStyle/>
          <a:p>
            <a:r>
              <a:t>Sensor and resolution match drive value; native Sentinel-1 sets are corpus-grade, finer-resolution SAR sets are still useful pixels.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Primary metric</a:t>
            </a:r>
          </a:p>
          <a:p>
            <a:pPr lvl="1"/>
            <a:r>
              <a:t>xView3 aggregate detection F1 (precision + recall)</a:t>
            </a:r>
          </a:p>
          <a:p>
            <a:pPr lvl="1"/>
            <a:r>
              <a:t>Distance-matched: predicted points to GT points within tolerance, no IoU</a:t>
            </a:r>
          </a:p>
          <a:p>
            <a:pPr lvl="1"/>
            <a:r>
              <a:t>Threshold tuned on dev, frozen for test + final 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Operational slices</a:t>
            </a:r>
          </a:p>
          <a:p>
            <a:pPr lvl="1"/>
            <a:r>
              <a:t>Dark-vessel recall (non-AIS targets, the hard case)</a:t>
            </a:r>
          </a:p>
          <a:p>
            <a:pPr lvl="1"/>
            <a:r>
              <a:t>Close-to-shore F1 (shoreline + infrastructure clutter)</a:t>
            </a:r>
          </a:p>
          <a:p>
            <a:pPr lvl="1"/>
            <a:r>
              <a:t>Reported per arm and per label fraction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What we do NOT use</a:t>
            </a:r>
          </a:p>
          <a:p>
            <a:pPr lvl="1"/>
            <a:r>
              <a:t>No IoU / box overlap anywhere - labels are points</a:t>
            </a:r>
          </a:p>
          <a:p>
            <a:pPr lvl="1"/>
            <a:r>
              <a:t>Verified-scene F1 is the number that counts</a:t>
            </a:r>
          </a:p>
          <a:p>
            <a:pPr lvl="1"/>
            <a:r>
              <a:t>Challenge entry scored on the leaderboard, reported apart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Metrics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/>
        <p:txBody>
          <a:bodyPr>
            <a:normAutofit fontScale="92500" lnSpcReduction="10000"/>
          </a:bodyPr>
          <a:lstStyle/>
          <a:p>
            <a:r>
              <a:t>Every number flows through one frozen scorer; the metric mirrors the labels (points and distances), not bounding boxes.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2C71"/>
      </a:dk1>
      <a:lt1>
        <a:srgbClr val="FFFFFF"/>
      </a:lt1>
      <a:dk2>
        <a:srgbClr val="002C71"/>
      </a:dk2>
      <a:lt2>
        <a:srgbClr val="FFFFFF"/>
      </a:lt2>
      <a:accent1>
        <a:srgbClr val="4E97E0"/>
      </a:accent1>
      <a:accent2>
        <a:srgbClr val="0071CE"/>
      </a:accent2>
      <a:accent3>
        <a:srgbClr val="A35C98"/>
      </a:accent3>
      <a:accent4>
        <a:srgbClr val="008767"/>
      </a:accent4>
      <a:accent5>
        <a:srgbClr val="F1C300"/>
      </a:accent5>
      <a:accent6>
        <a:srgbClr val="275E3C"/>
      </a:accent6>
      <a:hlink>
        <a:srgbClr val="0071CE"/>
      </a:hlink>
      <a:folHlink>
        <a:srgbClr val="A0A0A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JHU-Presentation Template_Fa25" id="{E7D7FCDC-CC1D-C44D-BBD8-5602C9AAFB15}" vid="{6B1A63AA-FEFD-654B-A24A-80389F0133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</TotalTime>
  <Words>555</Words>
  <Application>Microsoft Macintosh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Georgia</vt:lpstr>
      <vt:lpstr>System Font Regular</vt:lpstr>
      <vt:lpstr>Tahoma</vt:lpstr>
      <vt:lpstr>Office Theme</vt:lpstr>
      <vt:lpstr>xView3: Dark Vessel Detection in SAR Imagery</vt:lpstr>
      <vt:lpstr>1. Problem Introduction</vt:lpstr>
      <vt:lpstr>2. Data</vt:lpstr>
      <vt:lpstr>3. Feasibility</vt:lpstr>
      <vt:lpstr>4. References</vt:lpstr>
      <vt:lpstr>5. Backup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Roth</dc:creator>
  <cp:lastModifiedBy>John Roth</cp:lastModifiedBy>
  <cp:revision>4</cp:revision>
  <dcterms:created xsi:type="dcterms:W3CDTF">2026-05-27T23:55:04Z</dcterms:created>
  <dcterms:modified xsi:type="dcterms:W3CDTF">2026-05-28T01:07:40Z</dcterms:modified>
</cp:coreProperties>
</file>