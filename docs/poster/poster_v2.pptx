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0" d="100"/>
          <a:sy n="30" d="100"/>
        </p:scale>
        <p:origin x="252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/>
          <p:cNvSpPr/>
          <p:nvPr/>
        </p:nvSpPr>
        <p:spPr>
          <a:xfrm>
            <a:off x="0" y="0"/>
            <a:ext cx="43891200" cy="44988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85800" y="320040"/>
            <a:ext cx="42519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0" b="1" i="0">
                <a:solidFill>
                  <a:srgbClr val="FFFFFF"/>
                </a:solidFill>
                <a:latin typeface="Arial"/>
              </a:rPr>
              <a:t>Label-Efficient Dark-Vessel Detection in SAR:</a:t>
            </a:r>
          </a:p>
          <a:p>
            <a:pPr algn="ctr">
              <a:spcAft>
                <a:spcPts val="0"/>
              </a:spcAft>
            </a:pPr>
            <a:r>
              <a:rPr sz="7000" b="1" i="0">
                <a:solidFill>
                  <a:srgbClr val="FFFFFF"/>
                </a:solidFill>
                <a:latin typeface="Arial"/>
              </a:rPr>
              <a:t>Does SAR-Domain Pretraining Outperform Optical and ImageNet Transfer Across ViT and CNN?</a:t>
            </a:r>
          </a:p>
        </p:txBody>
      </p:sp>
      <p:sp>
        <p:nvSpPr>
          <p:cNvPr id="4" name="authors"/>
          <p:cNvSpPr txBox="1"/>
          <p:nvPr/>
        </p:nvSpPr>
        <p:spPr>
          <a:xfrm>
            <a:off x="914400" y="2697480"/>
            <a:ext cx="4206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John Roth            Kyle Wagner            Liv d'Aliberti</a:t>
            </a:r>
          </a:p>
        </p:txBody>
      </p:sp>
      <p:sp>
        <p:nvSpPr>
          <p:cNvPr id="5" name="affiliation"/>
          <p:cNvSpPr txBox="1"/>
          <p:nvPr/>
        </p:nvSpPr>
        <p:spPr>
          <a:xfrm>
            <a:off x="914400" y="3520440"/>
            <a:ext cx="42062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FFFFFF"/>
                </a:solidFill>
                <a:latin typeface="Arial"/>
              </a:rPr>
              <a:t>Johns Hopkins University</a:t>
            </a:r>
          </a:p>
        </p:txBody>
      </p:sp>
      <p:sp>
        <p:nvSpPr>
          <p:cNvPr id="6" name="answer strip"/>
          <p:cNvSpPr/>
          <p:nvPr/>
        </p:nvSpPr>
        <p:spPr>
          <a:xfrm>
            <a:off x="786384" y="5212080"/>
            <a:ext cx="42309288" cy="950976"/>
          </a:xfrm>
          <a:prstGeom prst="rect">
            <a:avLst/>
          </a:prstGeom>
          <a:solidFill>
            <a:srgbClr val="DC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swer"/>
          <p:cNvSpPr txBox="1"/>
          <p:nvPr/>
        </p:nvSpPr>
        <p:spPr>
          <a:xfrm>
            <a:off x="1005840" y="5212080"/>
            <a:ext cx="41879520" cy="9509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1F2328"/>
                </a:solidFill>
                <a:latin typeface="Arial"/>
              </a:rPr>
              <a:t>Answer: no. </a:t>
            </a:r>
            <a:r>
              <a:rPr sz="3400" b="0" i="0">
                <a:solidFill>
                  <a:srgbClr val="1F2328"/>
                </a:solidFill>
                <a:latin typeface="Arial"/>
              </a:rPr>
              <a:t>SAR pretraining beats optical in 6 of 16 comparisons and ImageNet in 3 of 16 (ImageNet wins 7); its clearest edge is the CNN with 12–28 labeled scenes.</a:t>
            </a:r>
          </a:p>
        </p:txBody>
      </p:sp>
      <p:sp>
        <p:nvSpPr>
          <p:cNvPr id="8" name="footer bar"/>
          <p:cNvSpPr/>
          <p:nvPr/>
        </p:nvSpPr>
        <p:spPr>
          <a:xfrm>
            <a:off x="0" y="31866840"/>
            <a:ext cx="43891200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ooter left"/>
          <p:cNvSpPr txBox="1"/>
          <p:nvPr/>
        </p:nvSpPr>
        <p:spPr>
          <a:xfrm>
            <a:off x="822960" y="31866840"/>
            <a:ext cx="128016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"/>
              </a:rPr>
              <a:t>Johns Hopkins University</a:t>
            </a:r>
          </a:p>
        </p:txBody>
      </p:sp>
      <p:sp>
        <p:nvSpPr>
          <p:cNvPr id="10" name="footer center"/>
          <p:cNvSpPr txBox="1"/>
          <p:nvPr/>
        </p:nvSpPr>
        <p:spPr>
          <a:xfrm>
            <a:off x="10972800" y="31866840"/>
            <a:ext cx="219456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"/>
              </a:rPr>
              <a:t>Applied Imagery Pattern Recognition (AIPR) 2026</a:t>
            </a:r>
          </a:p>
        </p:txBody>
      </p:sp>
      <p:sp>
        <p:nvSpPr>
          <p:cNvPr id="11" name="footer right"/>
          <p:cNvSpPr txBox="1"/>
          <p:nvPr/>
        </p:nvSpPr>
        <p:spPr>
          <a:xfrm>
            <a:off x="30266640" y="31866840"/>
            <a:ext cx="128016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Arial"/>
              </a:rPr>
              <a:t>{jroth32, kwagne35, odalibe1}@jh.edu</a:t>
            </a:r>
          </a:p>
        </p:txBody>
      </p:sp>
      <p:sp>
        <p:nvSpPr>
          <p:cNvPr id="12" name="heading: Motivation"/>
          <p:cNvSpPr txBox="1"/>
          <p:nvPr/>
        </p:nvSpPr>
        <p:spPr>
          <a:xfrm>
            <a:off x="786384" y="6592824"/>
            <a:ext cx="8805672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Motivation</a:t>
            </a:r>
          </a:p>
        </p:txBody>
      </p:sp>
      <p:cxnSp>
        <p:nvCxnSpPr>
          <p:cNvPr id="13" name="rule: Motivation"/>
          <p:cNvCxnSpPr/>
          <p:nvPr/>
        </p:nvCxnSpPr>
        <p:spPr>
          <a:xfrm>
            <a:off x="786384" y="7370064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figure: dark vessels" descr="poster_dark_vess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7644384"/>
            <a:ext cx="8293608" cy="3946816"/>
          </a:xfrm>
          <a:prstGeom prst="rect">
            <a:avLst/>
          </a:prstGeom>
        </p:spPr>
      </p:pic>
      <p:sp>
        <p:nvSpPr>
          <p:cNvPr id="15" name="motivation"/>
          <p:cNvSpPr txBox="1"/>
          <p:nvPr/>
        </p:nvSpPr>
        <p:spPr>
          <a:xfrm>
            <a:off x="1042416" y="11819800"/>
            <a:ext cx="829360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F2328"/>
                </a:solidFill>
                <a:latin typeface="Arial"/>
              </a:rPr>
              <a:t>Dark vessels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send no AIS, yet radar </a:t>
            </a:r>
            <a:r>
              <a:rPr sz="2900" b="0" i="0">
                <a:solidFill>
                  <a:srgbClr val="5B6477"/>
                </a:solidFill>
                <a:latin typeface="Arial"/>
              </a:rPr>
              <a:t>[2]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still sees them. Human-checked labels are scarce: which pretraining stretches them?</a:t>
            </a:r>
          </a:p>
        </p:txBody>
      </p:sp>
      <p:sp>
        <p:nvSpPr>
          <p:cNvPr id="16" name="heading: Data: xView3-SAR [1]"/>
          <p:cNvSpPr txBox="1"/>
          <p:nvPr/>
        </p:nvSpPr>
        <p:spPr>
          <a:xfrm>
            <a:off x="795526" y="13258800"/>
            <a:ext cx="8805672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 dirty="0">
                <a:solidFill>
                  <a:srgbClr val="14213D"/>
                </a:solidFill>
                <a:latin typeface="Arial"/>
              </a:rPr>
              <a:t>Data: xView3-SAR [1]</a:t>
            </a:r>
          </a:p>
        </p:txBody>
      </p:sp>
      <p:cxnSp>
        <p:nvCxnSpPr>
          <p:cNvPr id="17" name="rule: Data: xView3-SAR [1]"/>
          <p:cNvCxnSpPr/>
          <p:nvPr/>
        </p:nvCxnSpPr>
        <p:spPr>
          <a:xfrm>
            <a:off x="786383" y="14086078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figure: scene and chip" descr="poster_scene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279" y="14444878"/>
            <a:ext cx="7894439" cy="3436468"/>
          </a:xfrm>
          <a:prstGeom prst="rect">
            <a:avLst/>
          </a:prstGeom>
        </p:spPr>
      </p:pic>
      <p:pic>
        <p:nvPicPr>
          <p:cNvPr id="19" name="figure: scene map" descr="poster_scene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503" y="17985258"/>
            <a:ext cx="8293608" cy="4427264"/>
          </a:xfrm>
          <a:prstGeom prst="rect">
            <a:avLst/>
          </a:prstGeom>
        </p:spPr>
      </p:pic>
      <p:sp>
        <p:nvSpPr>
          <p:cNvPr id="20" name="data bullets"/>
          <p:cNvSpPr txBox="1"/>
          <p:nvPr/>
        </p:nvSpPr>
        <p:spPr>
          <a:xfrm>
            <a:off x="1051558" y="22549681"/>
            <a:ext cx="8293608" cy="255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1" i="0" dirty="0">
                <a:solidFill>
                  <a:srgbClr val="1F2328"/>
                </a:solidFill>
                <a:latin typeface="Arial"/>
              </a:rPr>
              <a:t>Machine-made labels</a:t>
            </a:r>
            <a:r>
              <a:rPr sz="2900" b="0" i="0" dirty="0">
                <a:solidFill>
                  <a:srgbClr val="1F2328"/>
                </a:solidFill>
                <a:latin typeface="Arial"/>
              </a:rPr>
              <a:t> (AIS + automated detection) for train, dev and test; they miss vessels.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1" i="0" dirty="0">
                <a:solidFill>
                  <a:srgbClr val="1F2328"/>
                </a:solidFill>
                <a:latin typeface="Arial"/>
              </a:rPr>
              <a:t>50 human-verified scenes</a:t>
            </a:r>
            <a:r>
              <a:rPr sz="2900" b="0" i="0" dirty="0">
                <a:solidFill>
                  <a:srgbClr val="1F2328"/>
                </a:solidFill>
                <a:latin typeface="Arial"/>
              </a:rPr>
              <a:t>: 8,642 vessels.</a:t>
            </a:r>
          </a:p>
        </p:txBody>
      </p:sp>
      <p:sp>
        <p:nvSpPr>
          <p:cNvPr id="21" name="heading: What the best detector finds"/>
          <p:cNvSpPr txBox="1"/>
          <p:nvPr/>
        </p:nvSpPr>
        <p:spPr>
          <a:xfrm>
            <a:off x="786384" y="24597360"/>
            <a:ext cx="8805672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What the best detector finds</a:t>
            </a:r>
          </a:p>
        </p:txBody>
      </p:sp>
      <p:cxnSp>
        <p:nvCxnSpPr>
          <p:cNvPr id="22" name="rule: What the best detector finds"/>
          <p:cNvCxnSpPr/>
          <p:nvPr/>
        </p:nvCxnSpPr>
        <p:spPr>
          <a:xfrm>
            <a:off x="786384" y="25374600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figure: detection examples" descr="poster_detection_examp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756" y="25648920"/>
            <a:ext cx="7878927" cy="4995823"/>
          </a:xfrm>
          <a:prstGeom prst="rect">
            <a:avLst/>
          </a:prstGeom>
        </p:spPr>
      </p:pic>
      <p:sp>
        <p:nvSpPr>
          <p:cNvPr id="24" name="detection caption"/>
          <p:cNvSpPr txBox="1"/>
          <p:nvPr/>
        </p:nvSpPr>
        <p:spPr>
          <a:xfrm>
            <a:off x="1042416" y="30736183"/>
            <a:ext cx="829360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Best cell (ImageNet CNN, 111 scenes), 8 × 8 km verified crops. Verified F1: 0.724 offshore, 0.026 within 2 km of shore.</a:t>
            </a:r>
          </a:p>
        </p:txBody>
      </p:sp>
      <p:sp>
        <p:nvSpPr>
          <p:cNvPr id="25" name="heading: 8 arms × 4 budgets = 32 cells"/>
          <p:cNvSpPr txBox="1"/>
          <p:nvPr/>
        </p:nvSpPr>
        <p:spPr>
          <a:xfrm>
            <a:off x="10241280" y="6693408"/>
            <a:ext cx="8805672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8 arms × 4 budgets = 32 cells</a:t>
            </a:r>
          </a:p>
        </p:txBody>
      </p:sp>
      <p:cxnSp>
        <p:nvCxnSpPr>
          <p:cNvPr id="26" name="rule: 8 arms × 4 budgets = 32 cells"/>
          <p:cNvCxnSpPr/>
          <p:nvPr/>
        </p:nvCxnSpPr>
        <p:spPr>
          <a:xfrm>
            <a:off x="10241280" y="7470648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1711"/>
              </p:ext>
            </p:extLst>
          </p:nvPr>
        </p:nvGraphicFramePr>
        <p:xfrm>
          <a:off x="10497310" y="7744968"/>
          <a:ext cx="8805671" cy="4181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4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3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7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ViT-B/16 [3]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ConvNeXt V2 [4]</a:t>
                      </a:r>
                    </a:p>
                  </a:txBody>
                  <a:tcPr marL="54864" marR="5486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5D5D5D"/>
                          </a:solidFill>
                          <a:latin typeface="Arial"/>
                        </a:rPr>
                        <a:t>Random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 dirty="0">
                          <a:solidFill>
                            <a:srgbClr val="1F2328"/>
                          </a:solidFill>
                          <a:latin typeface="Arial"/>
                        </a:rPr>
                        <a:t>random</a:t>
                      </a:r>
                      <a:r>
                        <a:rPr sz="2600" b="0" i="0" dirty="0">
                          <a:solidFill>
                            <a:srgbClr val="1F2328"/>
                          </a:solidFill>
                          <a:latin typeface="Arial"/>
                        </a:rPr>
                        <a:t> </a:t>
                      </a:r>
                      <a:r>
                        <a:rPr sz="2600" b="0" i="0" dirty="0" err="1">
                          <a:solidFill>
                            <a:srgbClr val="1F2328"/>
                          </a:solidFill>
                          <a:latin typeface="Arial"/>
                        </a:rPr>
                        <a:t>init</a:t>
                      </a:r>
                      <a:endParaRPr sz="2600" b="0" i="0" dirty="0">
                        <a:solidFill>
                          <a:srgbClr val="1F2328"/>
                        </a:solidFill>
                        <a:latin typeface="Arial"/>
                      </a:endParaRP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0" dirty="0">
                          <a:solidFill>
                            <a:srgbClr val="1F2328"/>
                          </a:solidFill>
                          <a:latin typeface="Arial"/>
                        </a:rPr>
                        <a:t>random</a:t>
                      </a:r>
                      <a:r>
                        <a:rPr sz="2600" b="0" i="0" dirty="0">
                          <a:solidFill>
                            <a:srgbClr val="1F2328"/>
                          </a:solidFill>
                          <a:latin typeface="Arial"/>
                        </a:rPr>
                        <a:t> </a:t>
                      </a:r>
                      <a:r>
                        <a:rPr sz="2600" b="0" i="0" dirty="0" err="1">
                          <a:solidFill>
                            <a:srgbClr val="1F2328"/>
                          </a:solidFill>
                          <a:latin typeface="Arial"/>
                        </a:rPr>
                        <a:t>init</a:t>
                      </a:r>
                      <a:endParaRPr sz="2600" b="0" i="0" dirty="0">
                        <a:solidFill>
                          <a:srgbClr val="1F2328"/>
                        </a:solidFill>
                        <a:latin typeface="Arial"/>
                      </a:endParaRPr>
                    </a:p>
                  </a:txBody>
                  <a:tcPr marL="54864" marR="5486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9A6700"/>
                          </a:solidFill>
                          <a:latin typeface="Arial"/>
                        </a:rPr>
                        <a:t>Optical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SatDINO [6] (fMoW-RGB)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BigEarthNet-S2 [8]</a:t>
                      </a:r>
                    </a:p>
                  </a:txBody>
                  <a:tcPr marL="54864" marR="5486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0072B2"/>
                          </a:solidFill>
                          <a:latin typeface="Arial"/>
                        </a:rPr>
                        <a:t>SAR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SARMAE [7] (SAR-1M)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BigEarthNet-S1 [8]</a:t>
                      </a:r>
                    </a:p>
                  </a:txBody>
                  <a:tcPr marL="54864" marR="5486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2600" b="1" i="0">
                          <a:solidFill>
                            <a:srgbClr val="009E73"/>
                          </a:solidFill>
                          <a:latin typeface="Arial"/>
                        </a:rPr>
                        <a:t>ImageNet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>
                          <a:solidFill>
                            <a:srgbClr val="1F2328"/>
                          </a:solidFill>
                          <a:latin typeface="Arial"/>
                        </a:rPr>
                        <a:t>AugReg [5]</a:t>
                      </a:r>
                    </a:p>
                  </a:txBody>
                  <a:tcPr marL="54864" marR="54864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600" b="0" i="0" dirty="0">
                          <a:solidFill>
                            <a:srgbClr val="1F2328"/>
                          </a:solidFill>
                          <a:latin typeface="Arial"/>
                        </a:rPr>
                        <a:t>FCMAE [4]</a:t>
                      </a:r>
                    </a:p>
                  </a:txBody>
                  <a:tcPr marL="54864" marR="5486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8" name="figure: nested budgets" descr="poster_budget_waff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6595" y="11838122"/>
            <a:ext cx="9630437" cy="2276856"/>
          </a:xfrm>
          <a:prstGeom prst="rect">
            <a:avLst/>
          </a:prstGeom>
        </p:spPr>
      </p:pic>
      <p:sp>
        <p:nvSpPr>
          <p:cNvPr id="29" name="heading: One shared point detector"/>
          <p:cNvSpPr txBox="1"/>
          <p:nvPr/>
        </p:nvSpPr>
        <p:spPr>
          <a:xfrm>
            <a:off x="10241280" y="14913863"/>
            <a:ext cx="8805672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One shared point detector</a:t>
            </a:r>
          </a:p>
        </p:txBody>
      </p:sp>
      <p:cxnSp>
        <p:nvCxnSpPr>
          <p:cNvPr id="30" name="rule: One shared point detector"/>
          <p:cNvCxnSpPr/>
          <p:nvPr/>
        </p:nvCxnSpPr>
        <p:spPr>
          <a:xfrm>
            <a:off x="10241280" y="15691104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nput"/>
          <p:cNvSpPr/>
          <p:nvPr/>
        </p:nvSpPr>
        <p:spPr>
          <a:xfrm>
            <a:off x="10497311" y="16651224"/>
            <a:ext cx="1737360" cy="11430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[VH, VV,</a:t>
            </a:r>
          </a:p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VH−VV]</a:t>
            </a:r>
          </a:p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512² crop</a:t>
            </a:r>
          </a:p>
        </p:txBody>
      </p:sp>
      <p:sp>
        <p:nvSpPr>
          <p:cNvPr id="32" name="encoder group"/>
          <p:cNvSpPr/>
          <p:nvPr/>
        </p:nvSpPr>
        <p:spPr>
          <a:xfrm>
            <a:off x="12600432" y="16285463"/>
            <a:ext cx="3566160" cy="1965960"/>
          </a:xfrm>
          <a:prstGeom prst="roundRect">
            <a:avLst/>
          </a:prstGeom>
          <a:noFill/>
          <a:ln w="19050">
            <a:solidFill>
              <a:srgbClr val="8C8C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encoder group label"/>
          <p:cNvSpPr txBox="1"/>
          <p:nvPr/>
        </p:nvSpPr>
        <p:spPr>
          <a:xfrm>
            <a:off x="12600432" y="1591970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one encoder per track</a:t>
            </a:r>
          </a:p>
        </p:txBody>
      </p:sp>
      <p:sp>
        <p:nvSpPr>
          <p:cNvPr id="34" name="ViT encoder"/>
          <p:cNvSpPr/>
          <p:nvPr/>
        </p:nvSpPr>
        <p:spPr>
          <a:xfrm>
            <a:off x="12737592" y="16376904"/>
            <a:ext cx="3291840" cy="777240"/>
          </a:xfrm>
          <a:prstGeom prst="roundRect">
            <a:avLst/>
          </a:prstGeom>
          <a:solidFill>
            <a:srgbClr val="E6F1F7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900" b="0" i="0">
                <a:solidFill>
                  <a:srgbClr val="1F2328"/>
                </a:solidFill>
                <a:latin typeface="Arial"/>
              </a:rPr>
              <a:t>ViT-B/16, stride 16</a:t>
            </a:r>
          </a:p>
        </p:txBody>
      </p:sp>
      <p:sp>
        <p:nvSpPr>
          <p:cNvPr id="35" name="CNN encoder"/>
          <p:cNvSpPr/>
          <p:nvPr/>
        </p:nvSpPr>
        <p:spPr>
          <a:xfrm>
            <a:off x="12737592" y="17382744"/>
            <a:ext cx="3291840" cy="777240"/>
          </a:xfrm>
          <a:prstGeom prst="roundRect">
            <a:avLst/>
          </a:prstGeom>
          <a:solidFill>
            <a:srgbClr val="E6F1F7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1900" b="0" i="0">
                <a:solidFill>
                  <a:srgbClr val="1F2328"/>
                </a:solidFill>
                <a:latin typeface="Arial"/>
              </a:rPr>
              <a:t>ConvNeXt-V2-B, s32 + up</a:t>
            </a:r>
          </a:p>
        </p:txBody>
      </p:sp>
      <p:sp>
        <p:nvSpPr>
          <p:cNvPr id="36" name="head"/>
          <p:cNvSpPr/>
          <p:nvPr/>
        </p:nvSpPr>
        <p:spPr>
          <a:xfrm>
            <a:off x="16623792" y="16651224"/>
            <a:ext cx="2167127" cy="1143000"/>
          </a:xfrm>
          <a:prstGeom prst="roundRect">
            <a:avLst/>
          </a:prstGeom>
          <a:solidFill>
            <a:srgbClr val="F2F8FB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shared</a:t>
            </a:r>
          </a:p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256-ch head</a:t>
            </a:r>
          </a:p>
        </p:txBody>
      </p:sp>
      <p:cxnSp>
        <p:nvCxnSpPr>
          <p:cNvPr id="37" name="input to ViT"/>
          <p:cNvCxnSpPr/>
          <p:nvPr/>
        </p:nvCxnSpPr>
        <p:spPr>
          <a:xfrm flipV="1">
            <a:off x="12234672" y="16765524"/>
            <a:ext cx="502920" cy="480060"/>
          </a:xfrm>
          <a:prstGeom prst="bentConnector3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input to CNN"/>
          <p:cNvCxnSpPr/>
          <p:nvPr/>
        </p:nvCxnSpPr>
        <p:spPr>
          <a:xfrm>
            <a:off x="12234672" y="17245584"/>
            <a:ext cx="502920" cy="525780"/>
          </a:xfrm>
          <a:prstGeom prst="bentConnector3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ncoders to head"/>
          <p:cNvCxnSpPr/>
          <p:nvPr/>
        </p:nvCxnSpPr>
        <p:spPr>
          <a:xfrm>
            <a:off x="16166592" y="17245584"/>
            <a:ext cx="457200" cy="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coring"/>
          <p:cNvSpPr/>
          <p:nvPr/>
        </p:nvSpPr>
        <p:spPr>
          <a:xfrm>
            <a:off x="10497311" y="18571464"/>
            <a:ext cx="2490216" cy="1143000"/>
          </a:xfrm>
          <a:prstGeom prst="roundRect">
            <a:avLst/>
          </a:prstGeom>
          <a:solidFill>
            <a:srgbClr val="E0F4EE"/>
          </a:solidFill>
          <a:ln w="25400">
            <a:solidFill>
              <a:srgbClr val="007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F1, 200 m geo match</a:t>
            </a:r>
          </a:p>
        </p:txBody>
      </p:sp>
      <p:sp>
        <p:nvSpPr>
          <p:cNvPr id="41" name="threshold"/>
          <p:cNvSpPr/>
          <p:nvPr/>
        </p:nvSpPr>
        <p:spPr>
          <a:xfrm>
            <a:off x="13399008" y="18571464"/>
            <a:ext cx="2490216" cy="1143000"/>
          </a:xfrm>
          <a:prstGeom prst="roundRect">
            <a:avLst/>
          </a:prstGeom>
          <a:solidFill>
            <a:srgbClr val="FCF1DB"/>
          </a:solidFill>
          <a:ln w="25400">
            <a:solidFill>
              <a:srgbClr val="C487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threshold τ picked on dev</a:t>
            </a:r>
          </a:p>
        </p:txBody>
      </p:sp>
      <p:sp>
        <p:nvSpPr>
          <p:cNvPr id="42" name="decode"/>
          <p:cNvSpPr/>
          <p:nvPr/>
        </p:nvSpPr>
        <p:spPr>
          <a:xfrm>
            <a:off x="16300703" y="18571464"/>
            <a:ext cx="2490216" cy="1143000"/>
          </a:xfrm>
          <a:prstGeom prst="roundRect">
            <a:avLst/>
          </a:prstGeom>
          <a:solidFill>
            <a:srgbClr val="F2F8FB"/>
          </a:solidFill>
          <a:ln w="25400">
            <a:solidFill>
              <a:srgbClr val="005B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r>
              <a:rPr sz="2200" b="0" i="0">
                <a:solidFill>
                  <a:srgbClr val="1F2328"/>
                </a:solidFill>
                <a:latin typeface="Arial"/>
              </a:rPr>
              <a:t>heatmap peaks ≥ 0.05, 120 m NMS</a:t>
            </a:r>
          </a:p>
        </p:txBody>
      </p:sp>
      <p:cxnSp>
        <p:nvCxnSpPr>
          <p:cNvPr id="43" name="head to decode"/>
          <p:cNvCxnSpPr/>
          <p:nvPr/>
        </p:nvCxnSpPr>
        <p:spPr>
          <a:xfrm>
            <a:off x="17707356" y="17794224"/>
            <a:ext cx="0" cy="77724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decode to threshold"/>
          <p:cNvCxnSpPr/>
          <p:nvPr/>
        </p:nvCxnSpPr>
        <p:spPr>
          <a:xfrm flipH="1">
            <a:off x="15889223" y="19142964"/>
            <a:ext cx="411480" cy="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threshold to scoring"/>
          <p:cNvCxnSpPr/>
          <p:nvPr/>
        </p:nvCxnSpPr>
        <p:spPr>
          <a:xfrm flipH="1">
            <a:off x="12987527" y="19142964"/>
            <a:ext cx="411480" cy="0"/>
          </a:xfrm>
          <a:prstGeom prst="line">
            <a:avLst/>
          </a:prstGeom>
          <a:ln w="28575">
            <a:solidFill>
              <a:srgbClr val="1F23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etector bullets"/>
          <p:cNvSpPr txBox="1"/>
          <p:nvPr/>
        </p:nvSpPr>
        <p:spPr>
          <a:xfrm>
            <a:off x="10497311" y="20034504"/>
            <a:ext cx="8293608" cy="2551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CenterNet-style heatmap </a:t>
            </a:r>
            <a:r>
              <a:rPr sz="2900" b="0" i="0">
                <a:solidFill>
                  <a:srgbClr val="5B6477"/>
                </a:solidFill>
                <a:latin typeface="Arial"/>
              </a:rPr>
              <a:t>[9]</a:t>
            </a:r>
            <a:r>
              <a:rPr sz="2900" b="0" i="0">
                <a:solidFill>
                  <a:srgbClr val="1F2328"/>
                </a:solidFill>
                <a:latin typeface="Arial"/>
              </a:rPr>
              <a:t>, focal loss </a:t>
            </a:r>
            <a:r>
              <a:rPr sz="2900" b="0" i="0">
                <a:solidFill>
                  <a:srgbClr val="5B6477"/>
                </a:solidFill>
                <a:latin typeface="Arial"/>
              </a:rPr>
              <a:t>[10]</a:t>
            </a:r>
            <a:r>
              <a:rPr sz="2900" b="0" i="0">
                <a:solidFill>
                  <a:srgbClr val="1F2328"/>
                </a:solidFill>
                <a:latin typeface="Arial"/>
              </a:rPr>
              <a:t>; one recipe and seed for every cell.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8 dev scenes pick checkpoint and threshold; test and verified scenes are scored </a:t>
            </a:r>
            <a:r>
              <a:rPr sz="2900" b="1" i="0">
                <a:solidFill>
                  <a:srgbClr val="1F2328"/>
                </a:solidFill>
                <a:latin typeface="Arial"/>
              </a:rPr>
              <a:t>once</a:t>
            </a:r>
            <a:r>
              <a:rPr sz="2900" b="0" i="0">
                <a:solidFill>
                  <a:srgbClr val="1F2328"/>
                </a:solidFill>
                <a:latin typeface="Arial"/>
              </a:rPr>
              <a:t>.</a:t>
            </a:r>
          </a:p>
        </p:txBody>
      </p:sp>
      <p:sp>
        <p:nvSpPr>
          <p:cNvPr id="47" name="heading: Recall falls toward the coast"/>
          <p:cNvSpPr txBox="1"/>
          <p:nvPr/>
        </p:nvSpPr>
        <p:spPr>
          <a:xfrm>
            <a:off x="10241280" y="22658832"/>
            <a:ext cx="8805672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Recall falls toward the coast</a:t>
            </a:r>
          </a:p>
        </p:txBody>
      </p:sp>
      <p:cxnSp>
        <p:nvCxnSpPr>
          <p:cNvPr id="48" name="rule: Recall falls toward the coast"/>
          <p:cNvCxnSpPr/>
          <p:nvPr/>
        </p:nvCxnSpPr>
        <p:spPr>
          <a:xfrm>
            <a:off x="10241280" y="23436072"/>
            <a:ext cx="8805672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figure: recall by distance to shore" descr="poster_recall_by_dist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1" y="23710392"/>
            <a:ext cx="8110728" cy="6920795"/>
          </a:xfrm>
          <a:prstGeom prst="rect">
            <a:avLst/>
          </a:prstGeom>
        </p:spPr>
      </p:pic>
      <p:sp>
        <p:nvSpPr>
          <p:cNvPr id="50" name="recall caption"/>
          <p:cNvSpPr txBox="1"/>
          <p:nvPr/>
        </p:nvSpPr>
        <p:spPr>
          <a:xfrm>
            <a:off x="10497311" y="30740915"/>
            <a:ext cx="8293608" cy="897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50 verified scenes; the band spans all 32 cells. Best-cell recall: 0.676 beyond 10 km, 0.005 within 1 km.</a:t>
            </a:r>
          </a:p>
        </p:txBody>
      </p:sp>
      <p:sp>
        <p:nvSpPr>
          <p:cNvPr id="51" name="heading: Pretraining helps most when labels are scarce"/>
          <p:cNvSpPr txBox="1"/>
          <p:nvPr/>
        </p:nvSpPr>
        <p:spPr>
          <a:xfrm>
            <a:off x="19687032" y="6702552"/>
            <a:ext cx="12243816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Pretraining helps most when labels are scarce</a:t>
            </a:r>
          </a:p>
        </p:txBody>
      </p:sp>
      <p:cxnSp>
        <p:nvCxnSpPr>
          <p:cNvPr id="52" name="rule: Pretraining helps most when labels are scarce"/>
          <p:cNvCxnSpPr/>
          <p:nvPr/>
        </p:nvCxnSpPr>
        <p:spPr>
          <a:xfrm>
            <a:off x="19687032" y="7479792"/>
            <a:ext cx="12243816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figure: label efficiency" descr="poster_label_efficien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34504" y="7754112"/>
            <a:ext cx="11548872" cy="8186097"/>
          </a:xfrm>
          <a:prstGeom prst="rect">
            <a:avLst/>
          </a:prstGeom>
        </p:spPr>
      </p:pic>
      <p:sp>
        <p:nvSpPr>
          <p:cNvPr id="54" name="figure 1 caption"/>
          <p:cNvSpPr txBox="1"/>
          <p:nvPr/>
        </p:nvSpPr>
        <p:spPr>
          <a:xfrm>
            <a:off x="19943064" y="16077369"/>
            <a:ext cx="117317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1F2328"/>
                </a:solidFill>
                <a:latin typeface="Arial"/>
              </a:rPr>
              <a:t>F1 with 200 m matching, each cell scored once at the threshold it picked on 8 dev scenes. Top: 16 test scenes; bottom: 50 verified scenes. ★ YOLO26 at 111 scenes, test only (0.896). Zero-shot LocateAnything-3B: 0.122 F1 on dev chips.</a:t>
            </a:r>
          </a:p>
        </p:txBody>
      </p:sp>
      <p:sp>
        <p:nvSpPr>
          <p:cNvPr id="55" name="heading: SAR vs. optical: no stable winner"/>
          <p:cNvSpPr txBox="1"/>
          <p:nvPr/>
        </p:nvSpPr>
        <p:spPr>
          <a:xfrm>
            <a:off x="19687032" y="18041112"/>
            <a:ext cx="12243816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SAR vs. optical: no stable winner</a:t>
            </a:r>
          </a:p>
        </p:txBody>
      </p:sp>
      <p:cxnSp>
        <p:nvCxnSpPr>
          <p:cNvPr id="56" name="rule: SAR vs. optical: no stable winner"/>
          <p:cNvCxnSpPr/>
          <p:nvPr/>
        </p:nvCxnSpPr>
        <p:spPr>
          <a:xfrm>
            <a:off x="19687032" y="18818352"/>
            <a:ext cx="12243816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figure: SAR minus optical" descr="poster_sar_minus_optic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34504" y="19092672"/>
            <a:ext cx="11548872" cy="5960087"/>
          </a:xfrm>
          <a:prstGeom prst="rect">
            <a:avLst/>
          </a:prstGeom>
        </p:spPr>
      </p:pic>
      <p:sp>
        <p:nvSpPr>
          <p:cNvPr id="58" name="figure 2 caption"/>
          <p:cNvSpPr txBox="1"/>
          <p:nvPr/>
        </p:nvSpPr>
        <p:spPr>
          <a:xfrm>
            <a:off x="19943064" y="25189919"/>
            <a:ext cx="1173175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F2328"/>
                </a:solidFill>
                <a:latin typeface="Arial"/>
              </a:rPr>
              <a:t>How to read: </a:t>
            </a:r>
            <a:r>
              <a:rPr sz="2000" b="0" i="0">
                <a:solidFill>
                  <a:srgbClr val="1F2328"/>
                </a:solidFill>
                <a:latin typeface="Arial"/>
              </a:rPr>
              <a:t>each point is SAR F1 minus optical F1; above 0, SAR wins, and a bar clear of 0 is a win. Solid: test; dotted: verified. Bars: 95% intervals over 10,000 scene resamples; retraining moved test F1 by up to 0.043.</a:t>
            </a:r>
          </a:p>
        </p:txBody>
      </p:sp>
      <p:sp>
        <p:nvSpPr>
          <p:cNvPr id="59" name="heading: References"/>
          <p:cNvSpPr txBox="1"/>
          <p:nvPr/>
        </p:nvSpPr>
        <p:spPr>
          <a:xfrm>
            <a:off x="19687032" y="26983944"/>
            <a:ext cx="12243816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References</a:t>
            </a:r>
          </a:p>
        </p:txBody>
      </p:sp>
      <p:cxnSp>
        <p:nvCxnSpPr>
          <p:cNvPr id="60" name="rule: References"/>
          <p:cNvCxnSpPr/>
          <p:nvPr/>
        </p:nvCxnSpPr>
        <p:spPr>
          <a:xfrm>
            <a:off x="19687032" y="27761184"/>
            <a:ext cx="12243816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ferences 1"/>
          <p:cNvSpPr txBox="1"/>
          <p:nvPr/>
        </p:nvSpPr>
        <p:spPr>
          <a:xfrm>
            <a:off x="19943064" y="28035504"/>
            <a:ext cx="5728716" cy="3602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[1]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F. S. Paolo et al. xView3-SAR: Detecting dark fishing activity using SAR imagery. NeurIPS 2022.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[2]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R. Torres et al. GMES Sentinel-1 mission. Remote Sens. Environ. 2012.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[3]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A. Dosovitskiy et al. An image is worth 16×16 words. ICLR 2021.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[4]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S. Woo et al. ConvNeXt V2: Co-designing and scaling ConvNets with masked autoencoders. CVPR 2023.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[5]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A. Steiner et al. How to train your ViT? TMLR 2022.</a:t>
            </a:r>
          </a:p>
        </p:txBody>
      </p:sp>
      <p:sp>
        <p:nvSpPr>
          <p:cNvPr id="62" name="references 2"/>
          <p:cNvSpPr txBox="1"/>
          <p:nvPr/>
        </p:nvSpPr>
        <p:spPr>
          <a:xfrm>
            <a:off x="25946100" y="28035504"/>
            <a:ext cx="5728716" cy="3602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[6]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J. Straka and I. Gruber. SatDINO: A deep dive into self-supervised pretraining for remote sensing. arXiv:2508.21402, 2025.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[7]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D. Liu et al. SARMAE: Masked autoencoder for SAR representation learning. CVPR 2026.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[8]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K. N. Clasen et al. reBEN: Refined BigEarthNet dataset. IGARSS 2025.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[9]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X. Zhou, D. Wang, and P. Krähenbühl. Objects as points. arXiv:1904.07850, 2019.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B6477"/>
                </a:solidFill>
                <a:latin typeface="Arial"/>
              </a:rPr>
              <a:t>[10]  </a:t>
            </a:r>
            <a:r>
              <a:rPr sz="1700" b="0" i="0">
                <a:solidFill>
                  <a:srgbClr val="1F2328"/>
                </a:solidFill>
                <a:latin typeface="Arial"/>
              </a:rPr>
              <a:t>T.-Y. Lin et al. Focal loss for dense object detection. ICCV 2017.</a:t>
            </a:r>
          </a:p>
        </p:txBody>
      </p:sp>
      <p:sp>
        <p:nvSpPr>
          <p:cNvPr id="63" name="heading: Findings"/>
          <p:cNvSpPr txBox="1"/>
          <p:nvPr/>
        </p:nvSpPr>
        <p:spPr>
          <a:xfrm>
            <a:off x="32580072" y="6702552"/>
            <a:ext cx="10524744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Findings</a:t>
            </a:r>
          </a:p>
        </p:txBody>
      </p:sp>
      <p:cxnSp>
        <p:nvCxnSpPr>
          <p:cNvPr id="64" name="rule: Findings"/>
          <p:cNvCxnSpPr/>
          <p:nvPr/>
        </p:nvCxnSpPr>
        <p:spPr>
          <a:xfrm>
            <a:off x="32580072" y="7479792"/>
            <a:ext cx="10524744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indings 1-2"/>
          <p:cNvSpPr txBox="1"/>
          <p:nvPr/>
        </p:nvSpPr>
        <p:spPr>
          <a:xfrm>
            <a:off x="32836104" y="7754112"/>
            <a:ext cx="100126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1480" indent="-411480" algn="l">
              <a:spcAft>
                <a:spcPts val="1000"/>
              </a:spcAft>
              <a:buClr>
                <a:srgbClr val="14213D"/>
              </a:buClr>
              <a:buFont typeface="Arial"/>
              <a:buAutoNum type="arabicPlain"/>
            </a:pPr>
            <a:r>
              <a:rPr sz="2900" b="1" i="0">
                <a:solidFill>
                  <a:srgbClr val="1F2328"/>
                </a:solidFill>
                <a:latin typeface="Arial"/>
              </a:rPr>
              <a:t>Pretraining pays off with few labels: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+0.063 to +0.143 test F1 at 12 scenes.</a:t>
            </a:r>
          </a:p>
          <a:p>
            <a:pPr marL="411480" indent="-411480" algn="l">
              <a:spcAft>
                <a:spcPts val="0"/>
              </a:spcAft>
              <a:buClr>
                <a:srgbClr val="14213D"/>
              </a:buClr>
              <a:buFont typeface="Arial"/>
              <a:buAutoNum type="arabicPlain"/>
            </a:pPr>
            <a:r>
              <a:rPr sz="2900" b="1" i="0">
                <a:solidFill>
                  <a:srgbClr val="1F2328"/>
                </a:solidFill>
                <a:latin typeface="Arial"/>
              </a:rPr>
              <a:t>SAR pretraining rarely wins:</a:t>
            </a:r>
          </a:p>
        </p:txBody>
      </p:sp>
      <p:pic>
        <p:nvPicPr>
          <p:cNvPr id="66" name="figure: SAR scoreboard" descr="poster_score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47584" y="9537192"/>
            <a:ext cx="9313164" cy="4366007"/>
          </a:xfrm>
          <a:prstGeom prst="rect">
            <a:avLst/>
          </a:prstGeom>
        </p:spPr>
      </p:pic>
      <p:sp>
        <p:nvSpPr>
          <p:cNvPr id="67" name="findings 3-4"/>
          <p:cNvSpPr txBox="1"/>
          <p:nvPr/>
        </p:nvSpPr>
        <p:spPr>
          <a:xfrm>
            <a:off x="32836104" y="14086078"/>
            <a:ext cx="10012680" cy="283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11480" indent="-411480" algn="l">
              <a:spcAft>
                <a:spcPts val="1000"/>
              </a:spcAft>
              <a:buClr>
                <a:srgbClr val="14213D"/>
              </a:buClr>
              <a:buFont typeface="Arial"/>
              <a:buAutoNum type="arabicPlain" startAt="3"/>
            </a:pPr>
            <a:r>
              <a:rPr sz="2900" b="1" i="0">
                <a:solidFill>
                  <a:srgbClr val="1F2328"/>
                </a:solidFill>
                <a:latin typeface="Arial"/>
              </a:rPr>
              <a:t>The input adapter matters: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a seeded 3-channel stem lifts BigEarthNet-S2 above random at every budget.</a:t>
            </a:r>
          </a:p>
          <a:p>
            <a:pPr marL="411480" indent="-411480" algn="l">
              <a:spcAft>
                <a:spcPts val="800"/>
              </a:spcAft>
              <a:buClr>
                <a:srgbClr val="14213D"/>
              </a:buClr>
              <a:buFont typeface="Arial"/>
              <a:buAutoNum type="arabicPlain" startAt="3"/>
            </a:pPr>
            <a:r>
              <a:rPr sz="2900" b="1" i="0">
                <a:solidFill>
                  <a:srgbClr val="1F2328"/>
                </a:solidFill>
                <a:latin typeface="Arial"/>
              </a:rPr>
              <a:t>No detector works near shore: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recall ≤ 0.021 within 2 km in every cell.</a:t>
            </a:r>
          </a:p>
        </p:txBody>
      </p:sp>
      <p:sp>
        <p:nvSpPr>
          <p:cNvPr id="68" name="heading: Inside the detector"/>
          <p:cNvSpPr txBox="1"/>
          <p:nvPr/>
        </p:nvSpPr>
        <p:spPr>
          <a:xfrm>
            <a:off x="32580072" y="16062341"/>
            <a:ext cx="10524744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 dirty="0">
                <a:solidFill>
                  <a:srgbClr val="14213D"/>
                </a:solidFill>
                <a:latin typeface="Arial"/>
              </a:rPr>
              <a:t>Inside the detector</a:t>
            </a:r>
          </a:p>
        </p:txBody>
      </p:sp>
      <p:cxnSp>
        <p:nvCxnSpPr>
          <p:cNvPr id="69" name="rule: Inside the detector"/>
          <p:cNvCxnSpPr/>
          <p:nvPr/>
        </p:nvCxnSpPr>
        <p:spPr>
          <a:xfrm>
            <a:off x="32580072" y="16785118"/>
            <a:ext cx="10524744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figure: detector heatmaps" descr="poster_detector_heatmap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36104" y="17182446"/>
            <a:ext cx="10012680" cy="5807167"/>
          </a:xfrm>
          <a:prstGeom prst="rect">
            <a:avLst/>
          </a:prstGeom>
        </p:spPr>
      </p:pic>
      <p:sp>
        <p:nvSpPr>
          <p:cNvPr id="71" name="heatmap caption"/>
          <p:cNvSpPr txBox="1"/>
          <p:nvPr/>
        </p:nvSpPr>
        <p:spPr>
          <a:xfrm>
            <a:off x="32826961" y="22943892"/>
            <a:ext cx="10012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 i="0" dirty="0">
                <a:solidFill>
                  <a:srgbClr val="1F2328"/>
                </a:solidFill>
                <a:latin typeface="Arial"/>
              </a:rPr>
              <a:t>Best cell, same two crops: peak 0.987 offshore, 0.001 in the harbor.</a:t>
            </a:r>
          </a:p>
        </p:txBody>
      </p:sp>
      <p:sp>
        <p:nvSpPr>
          <p:cNvPr id="72" name="heading: Limits"/>
          <p:cNvSpPr txBox="1"/>
          <p:nvPr/>
        </p:nvSpPr>
        <p:spPr>
          <a:xfrm>
            <a:off x="32580072" y="23511477"/>
            <a:ext cx="10524744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 dirty="0">
                <a:solidFill>
                  <a:srgbClr val="14213D"/>
                </a:solidFill>
                <a:latin typeface="Arial"/>
              </a:rPr>
              <a:t>Limits</a:t>
            </a:r>
          </a:p>
        </p:txBody>
      </p:sp>
      <p:cxnSp>
        <p:nvCxnSpPr>
          <p:cNvPr id="73" name="rule: Limits"/>
          <p:cNvCxnSpPr/>
          <p:nvPr/>
        </p:nvCxnSpPr>
        <p:spPr>
          <a:xfrm>
            <a:off x="32680656" y="24359256"/>
            <a:ext cx="10524744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limits"/>
          <p:cNvSpPr txBox="1"/>
          <p:nvPr/>
        </p:nvSpPr>
        <p:spPr>
          <a:xfrm>
            <a:off x="32918400" y="24695224"/>
            <a:ext cx="10012680" cy="3534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 dirty="0">
                <a:solidFill>
                  <a:srgbClr val="1F2328"/>
                </a:solidFill>
                <a:latin typeface="Arial"/>
              </a:rPr>
              <a:t>One seed per cell; 8 dev scenes for selection.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 dirty="0">
                <a:solidFill>
                  <a:srgbClr val="1F2328"/>
                </a:solidFill>
                <a:latin typeface="Arial"/>
              </a:rPr>
              <a:t>Machine-made test labels; in-region test scenes.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 dirty="0">
                <a:solidFill>
                  <a:srgbClr val="1F2328"/>
                </a:solidFill>
                <a:latin typeface="Arial"/>
              </a:rPr>
              <a:t>Checkpoints also differ in objective and data.</a:t>
            </a:r>
            <a:endParaRPr lang="en-US" sz="2900" b="0" i="0" dirty="0">
              <a:solidFill>
                <a:srgbClr val="1F2328"/>
              </a:solidFill>
              <a:latin typeface="Arial"/>
            </a:endParaRPr>
          </a:p>
          <a:p>
            <a:pPr marL="347472" indent="-347472">
              <a:spcAft>
                <a:spcPts val="800"/>
              </a:spcAft>
              <a:buSzPct val="70000"/>
              <a:buFont typeface="Arial"/>
              <a:buChar char="■"/>
            </a:pPr>
            <a:r>
              <a:rPr lang="en-US" sz="2900" dirty="0">
                <a:solidFill>
                  <a:srgbClr val="1F2328"/>
                </a:solidFill>
                <a:latin typeface="Arial"/>
              </a:rPr>
              <a:t>In-region test: Sentinel-1 revisits put some test scenes near training scenes, so test F1 measures in-region generalization, not generalization to new regions.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endParaRPr sz="2900" b="0" i="0" dirty="0">
              <a:solidFill>
                <a:srgbClr val="1F2328"/>
              </a:solidFill>
              <a:latin typeface="Arial"/>
            </a:endParaRPr>
          </a:p>
        </p:txBody>
      </p:sp>
      <p:sp>
        <p:nvSpPr>
          <p:cNvPr id="75" name="heading: Open questions &amp; next steps"/>
          <p:cNvSpPr txBox="1"/>
          <p:nvPr/>
        </p:nvSpPr>
        <p:spPr>
          <a:xfrm>
            <a:off x="32580072" y="27806904"/>
            <a:ext cx="10524744" cy="6858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14213D"/>
                </a:solidFill>
                <a:latin typeface="Arial"/>
              </a:rPr>
              <a:t>Open questions &amp; next steps</a:t>
            </a:r>
          </a:p>
        </p:txBody>
      </p:sp>
      <p:cxnSp>
        <p:nvCxnSpPr>
          <p:cNvPr id="76" name="rule: Open questions &amp; next steps"/>
          <p:cNvCxnSpPr/>
          <p:nvPr/>
        </p:nvCxnSpPr>
        <p:spPr>
          <a:xfrm>
            <a:off x="32580072" y="28584144"/>
            <a:ext cx="10524744" cy="0"/>
          </a:xfrm>
          <a:prstGeom prst="line">
            <a:avLst/>
          </a:prstGeom>
          <a:ln w="57150">
            <a:solidFill>
              <a:srgbClr val="B8B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pen questions"/>
          <p:cNvSpPr txBox="1"/>
          <p:nvPr/>
        </p:nvSpPr>
        <p:spPr>
          <a:xfrm>
            <a:off x="32836104" y="28858464"/>
            <a:ext cx="10012680" cy="2779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Would joint SAR + optical foundation models win?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0" i="0">
                <a:solidFill>
                  <a:srgbClr val="1F2328"/>
                </a:solidFill>
                <a:latin typeface="Arial"/>
              </a:rPr>
              <a:t>Does SAR trail ImageNet with matched pretraining?</a:t>
            </a:r>
          </a:p>
          <a:p>
            <a:pPr marL="347472" indent="-347472" algn="l">
              <a:spcAft>
                <a:spcPts val="800"/>
              </a:spcAft>
              <a:buSzPct val="70000"/>
              <a:buFont typeface="Arial"/>
              <a:buChar char="■"/>
            </a:pPr>
            <a:r>
              <a:rPr sz="2900" b="1" i="0">
                <a:solidFill>
                  <a:srgbClr val="1F2328"/>
                </a:solidFill>
                <a:latin typeface="Arial"/>
              </a:rPr>
              <a:t>Next: make detectors work near shore</a:t>
            </a:r>
            <a:r>
              <a:rPr sz="2900" b="0" i="0">
                <a:solidFill>
                  <a:srgbClr val="1F2328"/>
                </a:solidFill>
                <a:latin typeface="Arial"/>
              </a:rPr>
              <a:t> (recall ≤ 0.021 within 2 km): train on human-labeled near-shore vessels, add a distance-to-shore input, and set shore-aware thresholds.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856</Words>
  <Application>Microsoft Office PowerPoint</Application>
  <PresentationFormat>Custom</PresentationFormat>
  <Paragraphs>78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Label-Efficient Dark-Vessel Detection in SAR (AIPR 2026 poster)</dc:title>
  <dc:subject/>
  <dc:creator>John Roth, Kyle Wagner, Liv d'Aliberti</dc:creator>
  <cp:keywords/>
  <dc:description>generated using python-pptx</dc:description>
  <cp:lastModifiedBy>John Roth</cp:lastModifiedBy>
  <cp:revision>5</cp:revision>
  <dcterms:created xsi:type="dcterms:W3CDTF">2013-01-27T09:14:16Z</dcterms:created>
  <dcterms:modified xsi:type="dcterms:W3CDTF">2026-10-07T21:46:02Z</dcterms:modified>
  <cp:category/>
</cp:coreProperties>
</file>