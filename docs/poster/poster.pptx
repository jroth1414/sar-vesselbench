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r"/>
          <p:cNvSpPr/>
          <p:nvPr/>
        </p:nvSpPr>
        <p:spPr>
          <a:xfrm>
            <a:off x="0" y="0"/>
            <a:ext cx="43891200" cy="486460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914400" y="411480"/>
            <a:ext cx="42062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Label-Efficient Dark-Vessel Detection in SAR:</a:t>
            </a:r>
          </a:p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FFFFFF"/>
                </a:solidFill>
                <a:latin typeface="Arial"/>
              </a:rPr>
              <a:t>Does SAR-Domain Pretraining Outperform Optical and ImageNet Transfer Across ViT and CNN?</a:t>
            </a:r>
          </a:p>
        </p:txBody>
      </p:sp>
      <p:sp>
        <p:nvSpPr>
          <p:cNvPr id="4" name="authors"/>
          <p:cNvSpPr txBox="1"/>
          <p:nvPr/>
        </p:nvSpPr>
        <p:spPr>
          <a:xfrm>
            <a:off x="914400" y="3063240"/>
            <a:ext cx="42062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4200" b="0" i="0">
                <a:solidFill>
                  <a:srgbClr val="FFFFFF"/>
                </a:solidFill>
                <a:latin typeface="Arial"/>
              </a:rPr>
              <a:t>John Roth</a:t>
            </a:r>
            <a:r>
              <a:rPr sz="4200" b="0" i="0" baseline="30000">
                <a:solidFill>
                  <a:srgbClr val="FFFFFF"/>
                </a:solidFill>
                <a:latin typeface="Arial"/>
              </a:rPr>
              <a:t>1,2</a:t>
            </a:r>
            <a:r>
              <a:rPr sz="4200" b="0" i="0">
                <a:solidFill>
                  <a:srgbClr val="FFFFFF"/>
                </a:solidFill>
                <a:latin typeface="Arial"/>
              </a:rPr>
              <a:t>        Kyle Wagner</a:t>
            </a:r>
            <a:r>
              <a:rPr sz="4200" b="0" i="0" baseline="30000">
                <a:solidFill>
                  <a:srgbClr val="FFFFFF"/>
                </a:solidFill>
                <a:latin typeface="Arial"/>
              </a:rPr>
              <a:t>1,3</a:t>
            </a:r>
            <a:r>
              <a:rPr sz="4200" b="0" i="0">
                <a:solidFill>
                  <a:srgbClr val="FFFFFF"/>
                </a:solidFill>
                <a:latin typeface="Arial"/>
              </a:rPr>
              <a:t>        Liv d'Aliberti</a:t>
            </a:r>
            <a:r>
              <a:rPr sz="4200" b="0" i="0" baseline="3000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affiliations"/>
          <p:cNvSpPr txBox="1"/>
          <p:nvPr/>
        </p:nvSpPr>
        <p:spPr>
          <a:xfrm>
            <a:off x="914400" y="3886200"/>
            <a:ext cx="42062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0" i="0" baseline="30000">
                <a:solidFill>
                  <a:srgbClr val="DDE1E8"/>
                </a:solidFill>
                <a:latin typeface="Arial"/>
              </a:rPr>
              <a:t>1</a:t>
            </a:r>
            <a:r>
              <a:rPr sz="3000" b="0" i="0">
                <a:solidFill>
                  <a:srgbClr val="DDE1E8"/>
                </a:solidFill>
                <a:latin typeface="Arial"/>
              </a:rPr>
              <a:t>Johns Hopkins University      </a:t>
            </a:r>
            <a:r>
              <a:rPr sz="3000" b="0" i="0" baseline="30000">
                <a:solidFill>
                  <a:srgbClr val="DDE1E8"/>
                </a:solidFill>
                <a:latin typeface="Arial"/>
              </a:rPr>
              <a:t>2</a:t>
            </a:r>
            <a:r>
              <a:rPr sz="3000" b="0" i="0">
                <a:solidFill>
                  <a:srgbClr val="DDE1E8"/>
                </a:solidFill>
                <a:latin typeface="Arial"/>
              </a:rPr>
              <a:t>The MITRE Corporation      </a:t>
            </a:r>
            <a:r>
              <a:rPr sz="3000" b="0" i="0" baseline="30000">
                <a:solidFill>
                  <a:srgbClr val="DDE1E8"/>
                </a:solidFill>
                <a:latin typeface="Arial"/>
              </a:rPr>
              <a:t>3</a:t>
            </a:r>
            <a:r>
              <a:rPr sz="3000" b="0" i="0">
                <a:solidFill>
                  <a:srgbClr val="DDE1E8"/>
                </a:solidFill>
                <a:latin typeface="Arial"/>
              </a:rPr>
              <a:t>Boeing – Phantom Works      {jroth32, kwagne35, odalibe1}@jh.edu</a:t>
            </a:r>
          </a:p>
        </p:txBody>
      </p:sp>
      <p:sp>
        <p:nvSpPr>
          <p:cNvPr id="6" name="block: Why it matters"/>
          <p:cNvSpPr/>
          <p:nvPr/>
        </p:nvSpPr>
        <p:spPr>
          <a:xfrm>
            <a:off x="786384" y="5586984"/>
            <a:ext cx="8805672" cy="6007608"/>
          </a:xfrm>
          <a:prstGeom prst="roundRect">
            <a:avLst>
              <a:gd name="adj" fmla="val 3805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lock title: Why it matters"/>
          <p:cNvSpPr/>
          <p:nvPr/>
        </p:nvSpPr>
        <p:spPr>
          <a:xfrm>
            <a:off x="786384" y="5586984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8" name="why"/>
          <p:cNvSpPr txBox="1"/>
          <p:nvPr/>
        </p:nvSpPr>
        <p:spPr>
          <a:xfrm>
            <a:off x="1060704" y="6684264"/>
            <a:ext cx="8257032" cy="4727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1" i="0">
                <a:solidFill>
                  <a:srgbClr val="1F2328"/>
                </a:solidFill>
                <a:latin typeface="Arial"/>
              </a:rPr>
              <a:t>Dark vessels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have no matching AIS report. Sentinel-1 SAR sees them at night and through cloud.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Vessels fill a few pixels in a 25,000-pixel scene. Sea clutter and coastlines give strong false returns.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1" i="0">
                <a:solidFill>
                  <a:srgbClr val="1F2328"/>
                </a:solidFill>
                <a:latin typeface="Arial"/>
              </a:rPr>
              <a:t>Human-verified labels are scarce.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Pretraining can lower the label cost, but which source domain helps most?</a:t>
            </a:r>
          </a:p>
        </p:txBody>
      </p:sp>
      <p:sp>
        <p:nvSpPr>
          <p:cNvPr id="9" name="block: Question"/>
          <p:cNvSpPr/>
          <p:nvPr/>
        </p:nvSpPr>
        <p:spPr>
          <a:xfrm>
            <a:off x="786384" y="12161520"/>
            <a:ext cx="8805672" cy="3172968"/>
          </a:xfrm>
          <a:prstGeom prst="roundRect">
            <a:avLst>
              <a:gd name="adj" fmla="val 7204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lock title: Question"/>
          <p:cNvSpPr/>
          <p:nvPr/>
        </p:nvSpPr>
        <p:spPr>
          <a:xfrm>
            <a:off x="786384" y="12161520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11" name="question"/>
          <p:cNvSpPr txBox="1"/>
          <p:nvPr/>
        </p:nvSpPr>
        <p:spPr>
          <a:xfrm>
            <a:off x="1060704" y="13258800"/>
            <a:ext cx="8257032" cy="1892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0">
                <a:solidFill>
                  <a:srgbClr val="1F2328"/>
                </a:solidFill>
                <a:latin typeface="Arial"/>
              </a:rPr>
              <a:t>Does </a:t>
            </a:r>
            <a:r>
              <a:rPr sz="2700" b="1" i="0">
                <a:solidFill>
                  <a:srgbClr val="0072B2"/>
                </a:solidFill>
                <a:latin typeface="Arial"/>
              </a:rPr>
              <a:t>SAR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pretraining beat </a:t>
            </a:r>
            <a:r>
              <a:rPr sz="2700" b="1" i="0">
                <a:solidFill>
                  <a:srgbClr val="9A6700"/>
                </a:solidFill>
                <a:latin typeface="Arial"/>
              </a:rPr>
              <a:t>optical remote-sensing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and </a:t>
            </a:r>
            <a:r>
              <a:rPr sz="2700" b="1" i="0">
                <a:solidFill>
                  <a:srgbClr val="009E73"/>
                </a:solidFill>
                <a:latin typeface="Arial"/>
              </a:rPr>
              <a:t>ImageNet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pretraining when labels are few? Does the answer hold for both a ViT and a CNN?</a:t>
            </a:r>
          </a:p>
        </p:txBody>
      </p:sp>
      <p:sp>
        <p:nvSpPr>
          <p:cNvPr id="12" name="block: Data: xView3-SAR"/>
          <p:cNvSpPr/>
          <p:nvPr/>
        </p:nvSpPr>
        <p:spPr>
          <a:xfrm>
            <a:off x="786384" y="15910559"/>
            <a:ext cx="8805672" cy="10890504"/>
          </a:xfrm>
          <a:prstGeom prst="roundRect">
            <a:avLst>
              <a:gd name="adj" fmla="val 2596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lock title: Data: xView3-SAR"/>
          <p:cNvSpPr/>
          <p:nvPr/>
        </p:nvSpPr>
        <p:spPr>
          <a:xfrm>
            <a:off x="786384" y="15910559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Data: xView3-SAR</a:t>
            </a:r>
          </a:p>
        </p:txBody>
      </p:sp>
      <p:pic>
        <p:nvPicPr>
          <p:cNvPr id="14" name="scene context" descr="scene_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17007839"/>
            <a:ext cx="8257032" cy="3986153"/>
          </a:xfrm>
          <a:prstGeom prst="rect">
            <a:avLst/>
          </a:prstGeom>
        </p:spPr>
      </p:pic>
      <p:sp>
        <p:nvSpPr>
          <p:cNvPr id="15" name="scene caption"/>
          <p:cNvSpPr txBox="1"/>
          <p:nvPr/>
        </p:nvSpPr>
        <p:spPr>
          <a:xfrm>
            <a:off x="1060704" y="21085433"/>
            <a:ext cx="825703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One Sentinel-1 scene (about 300 × 220 km) and one 800-pixel chip (8 × 8 km).</a:t>
            </a:r>
          </a:p>
        </p:txBody>
      </p:sp>
      <p:sp>
        <p:nvSpPr>
          <p:cNvPr id="16" name="data bullets"/>
          <p:cNvSpPr txBox="1"/>
          <p:nvPr/>
        </p:nvSpPr>
        <p:spPr>
          <a:xfrm>
            <a:off x="1060704" y="21771233"/>
            <a:ext cx="8257032" cy="4846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150 frozen study scenes: </a:t>
            </a:r>
            <a:r>
              <a:rPr sz="2700" b="1" i="0">
                <a:solidFill>
                  <a:srgbClr val="1F2328"/>
                </a:solidFill>
                <a:latin typeface="Arial"/>
              </a:rPr>
              <a:t>111 train, 23 dev, 16 test</a:t>
            </a:r>
            <a:r>
              <a:rPr sz="2700" b="0" i="0">
                <a:solidFill>
                  <a:srgbClr val="1F2328"/>
                </a:solidFill>
                <a:latin typeface="Arial"/>
              </a:rPr>
              <a:t>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Nested budgets: </a:t>
            </a:r>
            <a:r>
              <a:rPr sz="2700" b="1" i="0">
                <a:solidFill>
                  <a:srgbClr val="1F2328"/>
                </a:solidFill>
                <a:latin typeface="Arial"/>
              </a:rPr>
              <a:t>12 ⊂ 28 ⊂ 56 ⊂ 111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training scenes (10, 25, 50, 100%).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1" i="0">
                <a:solidFill>
                  <a:srgbClr val="1F2328"/>
                </a:solidFill>
                <a:latin typeface="Arial"/>
              </a:rPr>
              <a:t>50 near-shore, human-verified scenes</a:t>
            </a:r>
            <a:r>
              <a:rPr sz="2700" b="0" i="0">
                <a:solidFill>
                  <a:srgbClr val="1F2328"/>
                </a:solidFill>
                <a:latin typeface="Arial"/>
              </a:rPr>
              <a:t>, opened once after test scoring: 8,642 vessels, 3,644 dark, 2,686 within 2 km of shore.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Input [VH, VV, VH − VV] in dB, 10 m pixels.</a:t>
            </a:r>
          </a:p>
        </p:txBody>
      </p:sp>
      <p:sp>
        <p:nvSpPr>
          <p:cNvPr id="17" name="block: Fix before the final cohort"/>
          <p:cNvSpPr/>
          <p:nvPr/>
        </p:nvSpPr>
        <p:spPr>
          <a:xfrm>
            <a:off x="786384" y="27377136"/>
            <a:ext cx="8805672" cy="3931920"/>
          </a:xfrm>
          <a:prstGeom prst="roundRect">
            <a:avLst>
              <a:gd name="adj" fmla="val 5813"/>
            </a:avLst>
          </a:prstGeom>
          <a:solidFill>
            <a:srgbClr val="FFF4DE"/>
          </a:solidFill>
          <a:ln w="1905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lock title: Fix before the final cohort"/>
          <p:cNvSpPr/>
          <p:nvPr/>
        </p:nvSpPr>
        <p:spPr>
          <a:xfrm>
            <a:off x="786384" y="27377136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C48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Fix before the final cohort</a:t>
            </a:r>
          </a:p>
        </p:txBody>
      </p:sp>
      <p:sp>
        <p:nvSpPr>
          <p:cNvPr id="19" name="stem fix"/>
          <p:cNvSpPr txBox="1"/>
          <p:nvPr/>
        </p:nvSpPr>
        <p:spPr>
          <a:xfrm>
            <a:off x="1060704" y="28474416"/>
            <a:ext cx="8257032" cy="26517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0">
                <a:solidFill>
                  <a:srgbClr val="1F2328"/>
                </a:solidFill>
                <a:latin typeface="Arial"/>
              </a:rPr>
              <a:t>BigEarthNet-S2 expects 10 optical bands. The first adapter kept 3 band kernels and scaled them by 10/3: first-layer weight norm </a:t>
            </a:r>
            <a:r>
              <a:rPr sz="2700" b="1" i="0">
                <a:solidFill>
                  <a:srgbClr val="1F2328"/>
                </a:solidFill>
                <a:latin typeface="Arial"/>
              </a:rPr>
              <a:t>5.85×</a:t>
            </a:r>
            <a:r>
              <a:rPr sz="2700" b="0" i="0">
                <a:solidFill>
                  <a:srgbClr val="1F2328"/>
                </a:solidFill>
                <a:latin typeface="Arial"/>
              </a:rPr>
              <a:t>. A seeded 3-channel stem plus every other transferred tensor raised dev F1 from 0.799 to 0.837 (12 scenes). We then retrained </a:t>
            </a:r>
            <a:r>
              <a:rPr sz="2700" b="1" i="0">
                <a:solidFill>
                  <a:srgbClr val="1F2328"/>
                </a:solidFill>
                <a:latin typeface="Arial"/>
              </a:rPr>
              <a:t>all 32 cells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from initialization.</a:t>
            </a:r>
          </a:p>
        </p:txBody>
      </p:sp>
      <p:sp>
        <p:nvSpPr>
          <p:cNvPr id="20" name="block: 8 arms × 4 budgets = 32 cells"/>
          <p:cNvSpPr/>
          <p:nvPr/>
        </p:nvSpPr>
        <p:spPr>
          <a:xfrm>
            <a:off x="10241280" y="5586984"/>
            <a:ext cx="8805672" cy="8385048"/>
          </a:xfrm>
          <a:prstGeom prst="roundRect">
            <a:avLst>
              <a:gd name="adj" fmla="val 2726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lock title: 8 arms × 4 budgets = 32 cells"/>
          <p:cNvSpPr/>
          <p:nvPr/>
        </p:nvSpPr>
        <p:spPr>
          <a:xfrm>
            <a:off x="10241280" y="5586984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8 arms × 4 budgets = 32 cells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10515600" y="6684264"/>
          <a:ext cx="8257032" cy="4206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3108960"/>
                <a:gridCol w="3456432"/>
              </a:tblGrid>
              <a:tr h="841248"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ViT-B/16 (86M)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ConvNeXt-V2-B (89M)</a:t>
                      </a:r>
                    </a:p>
                  </a:txBody>
                  <a:tcPr marL="54864" marR="54864">
                    <a:noFill/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5D5D5D"/>
                          </a:solidFill>
                          <a:latin typeface="Arial"/>
                        </a:rPr>
                        <a:t>Random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fresh init</a:t>
                      </a:r>
                    </a:p>
                  </a:txBody>
                  <a:tcPr marL="54864" marR="54864">
                    <a:noFill/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9A6700"/>
                          </a:solidFill>
                          <a:latin typeface="Arial"/>
                        </a:rPr>
                        <a:t>Optical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SatDINO (fMoW-RGB)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BigEarthNet-S2</a:t>
                      </a:r>
                    </a:p>
                  </a:txBody>
                  <a:tcPr marL="54864" marR="54864">
                    <a:noFill/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72B2"/>
                          </a:solidFill>
                          <a:latin typeface="Arial"/>
                        </a:rPr>
                        <a:t>SAR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SARMAE (SAR-1M)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BigEarthNet-S1</a:t>
                      </a:r>
                    </a:p>
                  </a:txBody>
                  <a:tcPr marL="54864" marR="54864">
                    <a:noFill/>
                  </a:tcPr>
                </a:tc>
              </a:tr>
              <a:tr h="841248">
                <a:tc>
                  <a:txBody>
                    <a:bodyPr/>
                    <a:lstStyle/>
                    <a:p>
                      <a:r>
                        <a:rPr sz="2600" b="1" i="0">
                          <a:solidFill>
                            <a:srgbClr val="009E73"/>
                          </a:solidFill>
                          <a:latin typeface="Arial"/>
                        </a:rPr>
                        <a:t>ImageNet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AugReg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sz="2600" b="0" i="0">
                          <a:solidFill>
                            <a:srgbClr val="1F2328"/>
                          </a:solidFill>
                          <a:latin typeface="Arial"/>
                        </a:rPr>
                        <a:t>FCMAE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23" name="design note"/>
          <p:cNvSpPr txBox="1"/>
          <p:nvPr/>
        </p:nvSpPr>
        <p:spPr>
          <a:xfrm>
            <a:off x="10515600" y="11119104"/>
            <a:ext cx="8257032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0">
                <a:solidFill>
                  <a:srgbClr val="1F2328"/>
                </a:solidFill>
                <a:latin typeface="Arial"/>
              </a:rPr>
              <a:t>Only the initialization changes inside a track. We compare domains </a:t>
            </a:r>
            <a:r>
              <a:rPr sz="2700" b="1" i="0">
                <a:solidFill>
                  <a:srgbClr val="1F2328"/>
                </a:solidFill>
                <a:latin typeface="Arial"/>
              </a:rPr>
              <a:t>within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an architecture, then check whether the pattern repeats across the two.</a:t>
            </a:r>
          </a:p>
        </p:txBody>
      </p:sp>
      <p:sp>
        <p:nvSpPr>
          <p:cNvPr id="24" name="block: One shared point detector"/>
          <p:cNvSpPr/>
          <p:nvPr/>
        </p:nvSpPr>
        <p:spPr>
          <a:xfrm>
            <a:off x="10241280" y="14548104"/>
            <a:ext cx="8805672" cy="8458200"/>
          </a:xfrm>
          <a:prstGeom prst="roundRect">
            <a:avLst>
              <a:gd name="adj" fmla="val 2702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lock title: One shared point detector"/>
          <p:cNvSpPr/>
          <p:nvPr/>
        </p:nvSpPr>
        <p:spPr>
          <a:xfrm>
            <a:off x="10241280" y="14548104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One shared point detector</a:t>
            </a:r>
          </a:p>
        </p:txBody>
      </p:sp>
      <p:sp>
        <p:nvSpPr>
          <p:cNvPr id="26" name="input"/>
          <p:cNvSpPr/>
          <p:nvPr/>
        </p:nvSpPr>
        <p:spPr>
          <a:xfrm>
            <a:off x="10515600" y="16285464"/>
            <a:ext cx="1737360" cy="1143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8C8C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[VH, VV,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VH − VV]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512² crop</a:t>
            </a:r>
          </a:p>
        </p:txBody>
      </p:sp>
      <p:sp>
        <p:nvSpPr>
          <p:cNvPr id="27" name="encoder group"/>
          <p:cNvSpPr/>
          <p:nvPr/>
        </p:nvSpPr>
        <p:spPr>
          <a:xfrm>
            <a:off x="12618719" y="15919704"/>
            <a:ext cx="3566160" cy="1965960"/>
          </a:xfrm>
          <a:prstGeom prst="roundRect">
            <a:avLst/>
          </a:prstGeom>
          <a:noFill/>
          <a:ln w="19050">
            <a:solidFill>
              <a:srgbClr val="8C8C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ncoder group label"/>
          <p:cNvSpPr txBox="1"/>
          <p:nvPr/>
        </p:nvSpPr>
        <p:spPr>
          <a:xfrm>
            <a:off x="12618719" y="15553944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6B7280"/>
                </a:solidFill>
                <a:latin typeface="Arial"/>
              </a:rPr>
              <a:t>one encoder per track</a:t>
            </a:r>
          </a:p>
        </p:txBody>
      </p:sp>
      <p:sp>
        <p:nvSpPr>
          <p:cNvPr id="29" name="ViT encoder"/>
          <p:cNvSpPr/>
          <p:nvPr/>
        </p:nvSpPr>
        <p:spPr>
          <a:xfrm>
            <a:off x="12755880" y="16011144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ViT-B/16, stride 16</a:t>
            </a:r>
          </a:p>
        </p:txBody>
      </p:sp>
      <p:sp>
        <p:nvSpPr>
          <p:cNvPr id="30" name="CNN encoder"/>
          <p:cNvSpPr/>
          <p:nvPr/>
        </p:nvSpPr>
        <p:spPr>
          <a:xfrm>
            <a:off x="12755880" y="17016984"/>
            <a:ext cx="3291840" cy="777240"/>
          </a:xfrm>
          <a:prstGeom prst="roundRect">
            <a:avLst/>
          </a:prstGeom>
          <a:solidFill>
            <a:srgbClr val="E6F1F7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ConvNeXt-V2-B, s32 + up</a:t>
            </a:r>
          </a:p>
        </p:txBody>
      </p:sp>
      <p:sp>
        <p:nvSpPr>
          <p:cNvPr id="31" name="head"/>
          <p:cNvSpPr/>
          <p:nvPr/>
        </p:nvSpPr>
        <p:spPr>
          <a:xfrm>
            <a:off x="16642080" y="16285464"/>
            <a:ext cx="2130552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shared</a:t>
            </a:r>
          </a:p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256-ch head</a:t>
            </a:r>
          </a:p>
        </p:txBody>
      </p:sp>
      <p:cxnSp>
        <p:nvCxnSpPr>
          <p:cNvPr id="32" name="input to ViT"/>
          <p:cNvCxnSpPr/>
          <p:nvPr/>
        </p:nvCxnSpPr>
        <p:spPr>
          <a:xfrm flipV="1">
            <a:off x="12252960" y="16399764"/>
            <a:ext cx="502920" cy="48006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input to CNN"/>
          <p:cNvCxnSpPr/>
          <p:nvPr/>
        </p:nvCxnSpPr>
        <p:spPr>
          <a:xfrm>
            <a:off x="12252960" y="16879824"/>
            <a:ext cx="502920" cy="525780"/>
          </a:xfrm>
          <a:prstGeom prst="bentConnector3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encoders to head"/>
          <p:cNvCxnSpPr/>
          <p:nvPr/>
        </p:nvCxnSpPr>
        <p:spPr>
          <a:xfrm>
            <a:off x="16184880" y="16879824"/>
            <a:ext cx="45720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coring"/>
          <p:cNvSpPr/>
          <p:nvPr/>
        </p:nvSpPr>
        <p:spPr>
          <a:xfrm>
            <a:off x="10515600" y="18205704"/>
            <a:ext cx="2478024" cy="11430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7E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F1, 200 m geo match</a:t>
            </a:r>
          </a:p>
        </p:txBody>
      </p:sp>
      <p:sp>
        <p:nvSpPr>
          <p:cNvPr id="36" name="threshold"/>
          <p:cNvSpPr/>
          <p:nvPr/>
        </p:nvSpPr>
        <p:spPr>
          <a:xfrm>
            <a:off x="13405104" y="18205704"/>
            <a:ext cx="2478024" cy="11430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threshold τ picked on dev</a:t>
            </a:r>
          </a:p>
        </p:txBody>
      </p:sp>
      <p:sp>
        <p:nvSpPr>
          <p:cNvPr id="37" name="decode"/>
          <p:cNvSpPr/>
          <p:nvPr/>
        </p:nvSpPr>
        <p:spPr>
          <a:xfrm>
            <a:off x="16294608" y="18205704"/>
            <a:ext cx="2478024" cy="1143000"/>
          </a:xfrm>
          <a:prstGeom prst="roundRect">
            <a:avLst/>
          </a:prstGeom>
          <a:solidFill>
            <a:srgbClr val="F2F8FB"/>
          </a:solidFill>
          <a:ln w="25400">
            <a:solidFill>
              <a:srgbClr val="005B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0" i="0">
                <a:solidFill>
                  <a:srgbClr val="1F2328"/>
                </a:solidFill>
                <a:latin typeface="Arial"/>
              </a:rPr>
              <a:t>heatmap peaks ≥ 0.05, 120 m NMS</a:t>
            </a:r>
          </a:p>
        </p:txBody>
      </p:sp>
      <p:cxnSp>
        <p:nvCxnSpPr>
          <p:cNvPr id="38" name="head to decode"/>
          <p:cNvCxnSpPr/>
          <p:nvPr/>
        </p:nvCxnSpPr>
        <p:spPr>
          <a:xfrm>
            <a:off x="17707356" y="17428464"/>
            <a:ext cx="0" cy="77724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decode to threshold"/>
          <p:cNvCxnSpPr/>
          <p:nvPr/>
        </p:nvCxnSpPr>
        <p:spPr>
          <a:xfrm flipH="1">
            <a:off x="15883128" y="18777204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threshold to scoring"/>
          <p:cNvCxnSpPr/>
          <p:nvPr/>
        </p:nvCxnSpPr>
        <p:spPr>
          <a:xfrm flipH="1">
            <a:off x="12993624" y="18777204"/>
            <a:ext cx="411480" cy="0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detector bullets"/>
          <p:cNvSpPr txBox="1"/>
          <p:nvPr/>
        </p:nvSpPr>
        <p:spPr>
          <a:xfrm>
            <a:off x="10515600" y="19440144"/>
            <a:ext cx="8257032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CenterNet-style Gaussian heatmap and focal loss; F1 with 200 m geographic matching.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Same optimizer, schedule, crops, data order and seed (0) for every cell. Strict FP32: 567.6 H100 GPU-hours.</a:t>
            </a:r>
          </a:p>
        </p:txBody>
      </p:sp>
      <p:sp>
        <p:nvSpPr>
          <p:cNvPr id="42" name="block: Once-only held-out protocol"/>
          <p:cNvSpPr/>
          <p:nvPr/>
        </p:nvSpPr>
        <p:spPr>
          <a:xfrm>
            <a:off x="10241280" y="23573232"/>
            <a:ext cx="8805672" cy="5888736"/>
          </a:xfrm>
          <a:prstGeom prst="roundRect">
            <a:avLst>
              <a:gd name="adj" fmla="val 3881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block title: Once-only held-out protocol"/>
          <p:cNvSpPr/>
          <p:nvPr/>
        </p:nvSpPr>
        <p:spPr>
          <a:xfrm>
            <a:off x="10241280" y="23573232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Once-only held-out protocol</a:t>
            </a:r>
          </a:p>
        </p:txBody>
      </p:sp>
      <p:sp>
        <p:nvSpPr>
          <p:cNvPr id="44" name="step 1 number"/>
          <p:cNvSpPr/>
          <p:nvPr/>
        </p:nvSpPr>
        <p:spPr>
          <a:xfrm>
            <a:off x="10698480" y="24899112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5" name="step 1"/>
          <p:cNvSpPr/>
          <p:nvPr/>
        </p:nvSpPr>
        <p:spPr>
          <a:xfrm>
            <a:off x="11521440" y="24716232"/>
            <a:ext cx="7068312" cy="914400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Train 32 cells.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A sweep on 8 dev scenes picks each checkpoint and threshold.</a:t>
            </a:r>
          </a:p>
        </p:txBody>
      </p:sp>
      <p:cxnSp>
        <p:nvCxnSpPr>
          <p:cNvPr id="46" name="step arrow 1"/>
          <p:cNvCxnSpPr/>
          <p:nvPr/>
        </p:nvCxnSpPr>
        <p:spPr>
          <a:xfrm>
            <a:off x="15055596" y="25630632"/>
            <a:ext cx="0" cy="292608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tep 2 number"/>
          <p:cNvSpPr/>
          <p:nvPr/>
        </p:nvSpPr>
        <p:spPr>
          <a:xfrm>
            <a:off x="10698480" y="26106120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8" name="step 2"/>
          <p:cNvSpPr/>
          <p:nvPr/>
        </p:nvSpPr>
        <p:spPr>
          <a:xfrm>
            <a:off x="11521440" y="25923240"/>
            <a:ext cx="7068312" cy="914400"/>
          </a:xfrm>
          <a:prstGeom prst="roundRect">
            <a:avLst/>
          </a:prstGeom>
          <a:solidFill>
            <a:srgbClr val="EBF4FA"/>
          </a:solidFill>
          <a:ln w="2540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Freeze the cohort.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Hash-bind every marker and checkpoint.</a:t>
            </a:r>
          </a:p>
        </p:txBody>
      </p:sp>
      <p:cxnSp>
        <p:nvCxnSpPr>
          <p:cNvPr id="49" name="step arrow 2"/>
          <p:cNvCxnSpPr/>
          <p:nvPr/>
        </p:nvCxnSpPr>
        <p:spPr>
          <a:xfrm>
            <a:off x="15055596" y="26837640"/>
            <a:ext cx="0" cy="292608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step 3 number"/>
          <p:cNvSpPr/>
          <p:nvPr/>
        </p:nvSpPr>
        <p:spPr>
          <a:xfrm>
            <a:off x="10698480" y="27313128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1" name="step 3"/>
          <p:cNvSpPr/>
          <p:nvPr/>
        </p:nvSpPr>
        <p:spPr>
          <a:xfrm>
            <a:off x="11521440" y="27130248"/>
            <a:ext cx="7068312" cy="914400"/>
          </a:xfrm>
          <a:prstGeom prst="roundRect">
            <a:avLst/>
          </a:prstGeom>
          <a:solidFill>
            <a:srgbClr val="FCF1DB"/>
          </a:solidFill>
          <a:ln w="25400">
            <a:solidFill>
              <a:srgbClr val="C487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Score 16 test scenes once.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Same thresholds, no retuning.</a:t>
            </a:r>
          </a:p>
        </p:txBody>
      </p:sp>
      <p:cxnSp>
        <p:nvCxnSpPr>
          <p:cNvPr id="52" name="step arrow 3"/>
          <p:cNvCxnSpPr/>
          <p:nvPr/>
        </p:nvCxnSpPr>
        <p:spPr>
          <a:xfrm>
            <a:off x="15055596" y="28044648"/>
            <a:ext cx="0" cy="292608"/>
          </a:xfrm>
          <a:prstGeom prst="line">
            <a:avLst/>
          </a:prstGeom>
          <a:ln w="28575">
            <a:solidFill>
              <a:srgbClr val="1F23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tep 4 number"/>
          <p:cNvSpPr/>
          <p:nvPr/>
        </p:nvSpPr>
        <p:spPr>
          <a:xfrm>
            <a:off x="10698480" y="28520136"/>
            <a:ext cx="548640" cy="548640"/>
          </a:xfrm>
          <a:prstGeom prst="ellipse">
            <a:avLst/>
          </a:prstGeom>
          <a:solidFill>
            <a:srgbClr val="14213D"/>
          </a:solidFill>
          <a:ln w="2540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4" name="step 4"/>
          <p:cNvSpPr/>
          <p:nvPr/>
        </p:nvSpPr>
        <p:spPr>
          <a:xfrm>
            <a:off x="11521440" y="28337256"/>
            <a:ext cx="7068312" cy="914400"/>
          </a:xfrm>
          <a:prstGeom prst="roundRect">
            <a:avLst/>
          </a:prstGeom>
          <a:solidFill>
            <a:srgbClr val="E0F4EE"/>
          </a:solidFill>
          <a:ln w="25400">
            <a:solidFill>
              <a:srgbClr val="009E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2200" b="1" i="0">
                <a:solidFill>
                  <a:srgbClr val="1F2328"/>
                </a:solidFill>
                <a:latin typeface="Arial"/>
              </a:rPr>
              <a:t>Open 50 verified scenes once.</a:t>
            </a:r>
            <a:r>
              <a:rPr sz="2200" b="0" i="0">
                <a:solidFill>
                  <a:srgbClr val="1F2328"/>
                </a:solidFill>
                <a:latin typeface="Arial"/>
              </a:rPr>
              <a:t> Same thresholds, all 32 cells.</a:t>
            </a:r>
          </a:p>
        </p:txBody>
      </p:sp>
      <p:sp>
        <p:nvSpPr>
          <p:cNvPr id="55" name="block: Pretraining helps most when labels are scarce"/>
          <p:cNvSpPr/>
          <p:nvPr/>
        </p:nvSpPr>
        <p:spPr>
          <a:xfrm>
            <a:off x="19687032" y="5586984"/>
            <a:ext cx="13962888" cy="12883896"/>
          </a:xfrm>
          <a:prstGeom prst="roundRect">
            <a:avLst>
              <a:gd name="adj" fmla="val 1774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block title: Pretraining helps most when labels are scarce"/>
          <p:cNvSpPr/>
          <p:nvPr/>
        </p:nvSpPr>
        <p:spPr>
          <a:xfrm>
            <a:off x="19687032" y="5586984"/>
            <a:ext cx="13962888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Pretraining helps most when labels are scarce</a:t>
            </a:r>
          </a:p>
        </p:txBody>
      </p:sp>
      <p:pic>
        <p:nvPicPr>
          <p:cNvPr id="57" name="figure: label efficiency" descr="poster_label_efficien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44232" y="6684264"/>
            <a:ext cx="13048488" cy="10242830"/>
          </a:xfrm>
          <a:prstGeom prst="rect">
            <a:avLst/>
          </a:prstGeom>
        </p:spPr>
      </p:pic>
      <p:sp>
        <p:nvSpPr>
          <p:cNvPr id="58" name="figure 1 caption"/>
          <p:cNvSpPr txBox="1"/>
          <p:nvPr/>
        </p:nvSpPr>
        <p:spPr>
          <a:xfrm>
            <a:off x="19961352" y="17064254"/>
            <a:ext cx="13414248" cy="12237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F1 with 200 m matching. Each of the 32 cells is scored once with the threshold it picked on 8 dev scenes. Top: 16 held-out test scenes. Bottom: 50 near-shore, human-verified scenes. Seed 0; no intervals.</a:t>
            </a:r>
          </a:p>
        </p:txBody>
      </p:sp>
      <p:sp>
        <p:nvSpPr>
          <p:cNvPr id="59" name="block: SAR vs. optical depends on backbone and budget"/>
          <p:cNvSpPr/>
          <p:nvPr/>
        </p:nvSpPr>
        <p:spPr>
          <a:xfrm>
            <a:off x="19687032" y="19046952"/>
            <a:ext cx="13962888" cy="8147304"/>
          </a:xfrm>
          <a:prstGeom prst="roundRect">
            <a:avLst>
              <a:gd name="adj" fmla="val 2805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block title: SAR vs. optical depends on backbone and budget"/>
          <p:cNvSpPr/>
          <p:nvPr/>
        </p:nvSpPr>
        <p:spPr>
          <a:xfrm>
            <a:off x="19687032" y="19046952"/>
            <a:ext cx="13962888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SAR vs. optical depends on backbone and budget</a:t>
            </a:r>
          </a:p>
        </p:txBody>
      </p:sp>
      <p:pic>
        <p:nvPicPr>
          <p:cNvPr id="61" name="figure: SAR minus optical" descr="poster_sar_minus_opti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44232" y="20144231"/>
            <a:ext cx="13048488" cy="5655797"/>
          </a:xfrm>
          <a:prstGeom prst="rect">
            <a:avLst/>
          </a:prstGeom>
        </p:spPr>
      </p:pic>
      <p:sp>
        <p:nvSpPr>
          <p:cNvPr id="62" name="figure 2 caption"/>
          <p:cNvSpPr txBox="1"/>
          <p:nvPr/>
        </p:nvSpPr>
        <p:spPr>
          <a:xfrm>
            <a:off x="19961352" y="25937188"/>
            <a:ext cx="13414248" cy="1074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Gray band: the largest test-F1 change across 28 cells that we retrained with the same recipe and seed (±0.043). A contrast inside the band is within rerun variation.</a:t>
            </a:r>
          </a:p>
        </p:txBody>
      </p:sp>
      <p:sp>
        <p:nvSpPr>
          <p:cNvPr id="63" name="block: The verified scenes are a coastal stress test"/>
          <p:cNvSpPr/>
          <p:nvPr/>
        </p:nvSpPr>
        <p:spPr>
          <a:xfrm>
            <a:off x="19687032" y="27761184"/>
            <a:ext cx="13962888" cy="3602736"/>
          </a:xfrm>
          <a:prstGeom prst="roundRect">
            <a:avLst>
              <a:gd name="adj" fmla="val 6345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block title: The verified scenes are a coastal stress test"/>
          <p:cNvSpPr/>
          <p:nvPr/>
        </p:nvSpPr>
        <p:spPr>
          <a:xfrm>
            <a:off x="19687032" y="27761184"/>
            <a:ext cx="13962888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 verified scenes are a coastal stress test</a:t>
            </a:r>
          </a:p>
        </p:txBody>
      </p:sp>
      <p:sp>
        <p:nvSpPr>
          <p:cNvPr id="65" name="stat 1 value"/>
          <p:cNvSpPr txBox="1"/>
          <p:nvPr/>
        </p:nvSpPr>
        <p:spPr>
          <a:xfrm>
            <a:off x="19961352" y="28812744"/>
            <a:ext cx="4471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000" b="1" i="0">
                <a:solidFill>
                  <a:srgbClr val="14213D"/>
                </a:solidFill>
                <a:latin typeface="Arial"/>
              </a:rPr>
              <a:t>0.409–0.574</a:t>
            </a:r>
          </a:p>
        </p:txBody>
      </p:sp>
      <p:sp>
        <p:nvSpPr>
          <p:cNvPr id="66" name="stat 1 label"/>
          <p:cNvSpPr txBox="1"/>
          <p:nvPr/>
        </p:nvSpPr>
        <p:spPr>
          <a:xfrm>
            <a:off x="19961352" y="29727144"/>
            <a:ext cx="44714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verified F1, all 32 cells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(test: 0.657–0.888)</a:t>
            </a:r>
          </a:p>
        </p:txBody>
      </p:sp>
      <p:sp>
        <p:nvSpPr>
          <p:cNvPr id="67" name="stat 2 value"/>
          <p:cNvSpPr txBox="1"/>
          <p:nvPr/>
        </p:nvSpPr>
        <p:spPr>
          <a:xfrm>
            <a:off x="24432768" y="28812744"/>
            <a:ext cx="4471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000" b="1" i="0">
                <a:solidFill>
                  <a:srgbClr val="14213D"/>
                </a:solidFill>
                <a:latin typeface="Arial"/>
              </a:rPr>
              <a:t>≤ 0.228</a:t>
            </a:r>
          </a:p>
        </p:txBody>
      </p:sp>
      <p:sp>
        <p:nvSpPr>
          <p:cNvPr id="68" name="stat 2 label"/>
          <p:cNvSpPr txBox="1"/>
          <p:nvPr/>
        </p:nvSpPr>
        <p:spPr>
          <a:xfrm>
            <a:off x="24432768" y="29727144"/>
            <a:ext cx="44714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dark-vessel recall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(3,644 dark vessels)</a:t>
            </a:r>
          </a:p>
        </p:txBody>
      </p:sp>
      <p:sp>
        <p:nvSpPr>
          <p:cNvPr id="69" name="stat 3 value"/>
          <p:cNvSpPr txBox="1"/>
          <p:nvPr/>
        </p:nvSpPr>
        <p:spPr>
          <a:xfrm>
            <a:off x="28904184" y="28812744"/>
            <a:ext cx="4471416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000" b="1" i="0">
                <a:solidFill>
                  <a:srgbClr val="14213D"/>
                </a:solidFill>
                <a:latin typeface="Arial"/>
              </a:rPr>
              <a:t>≤ 0.041</a:t>
            </a:r>
          </a:p>
        </p:txBody>
      </p:sp>
      <p:sp>
        <p:nvSpPr>
          <p:cNvPr id="70" name="stat 3 label"/>
          <p:cNvSpPr txBox="1"/>
          <p:nvPr/>
        </p:nvSpPr>
        <p:spPr>
          <a:xfrm>
            <a:off x="28904184" y="29727144"/>
            <a:ext cx="447141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near-shore F1</a:t>
            </a:r>
          </a:p>
          <a:p>
            <a:pPr algn="ctr">
              <a:spcAft>
                <a:spcPts val="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(2,686 vessels within 2 km)</a:t>
            </a:r>
          </a:p>
        </p:txBody>
      </p:sp>
      <p:sp>
        <p:nvSpPr>
          <p:cNvPr id="71" name="stat note"/>
          <p:cNvSpPr txBox="1"/>
          <p:nvPr/>
        </p:nvSpPr>
        <p:spPr>
          <a:xfrm>
            <a:off x="19961352" y="30641544"/>
            <a:ext cx="1341424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Precision stays at 0.639–0.909 while recall falls to 0.286–0.434: the detectors miss coastal vessels rather than over-fire.</a:t>
            </a:r>
          </a:p>
        </p:txBody>
      </p:sp>
      <p:sp>
        <p:nvSpPr>
          <p:cNvPr id="72" name="block: Findings"/>
          <p:cNvSpPr/>
          <p:nvPr/>
        </p:nvSpPr>
        <p:spPr>
          <a:xfrm>
            <a:off x="34299144" y="5586984"/>
            <a:ext cx="8805672" cy="11274552"/>
          </a:xfrm>
          <a:prstGeom prst="roundRect">
            <a:avLst>
              <a:gd name="adj" fmla="val 2596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block title: Findings"/>
          <p:cNvSpPr/>
          <p:nvPr/>
        </p:nvSpPr>
        <p:spPr>
          <a:xfrm>
            <a:off x="34299144" y="5586984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Findings</a:t>
            </a:r>
          </a:p>
        </p:txBody>
      </p:sp>
      <p:sp>
        <p:nvSpPr>
          <p:cNvPr id="74" name="hero number"/>
          <p:cNvSpPr txBox="1"/>
          <p:nvPr/>
        </p:nvSpPr>
        <p:spPr>
          <a:xfrm>
            <a:off x="34573463" y="6684264"/>
            <a:ext cx="82570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0" b="1" i="0">
                <a:solidFill>
                  <a:srgbClr val="009E73"/>
                </a:solidFill>
                <a:latin typeface="Arial"/>
              </a:rPr>
              <a:t>12 ≈ 111</a:t>
            </a:r>
          </a:p>
        </p:txBody>
      </p:sp>
      <p:sp>
        <p:nvSpPr>
          <p:cNvPr id="75" name="hero caption"/>
          <p:cNvSpPr txBox="1"/>
          <p:nvPr/>
        </p:nvSpPr>
        <p:spPr>
          <a:xfrm>
            <a:off x="34573463" y="7735824"/>
            <a:ext cx="825703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700" b="0" i="0">
                <a:solidFill>
                  <a:srgbClr val="1F2328"/>
                </a:solidFill>
                <a:latin typeface="Arial"/>
              </a:rPr>
              <a:t>On the verified scenes, ImageNet ViT with 12 training scenes matches random ViT with 111 (0.523 vs. 0.522 F1).</a:t>
            </a:r>
          </a:p>
        </p:txBody>
      </p:sp>
      <p:sp>
        <p:nvSpPr>
          <p:cNvPr id="76" name="findings"/>
          <p:cNvSpPr txBox="1"/>
          <p:nvPr/>
        </p:nvSpPr>
        <p:spPr>
          <a:xfrm>
            <a:off x="34573463" y="9198864"/>
            <a:ext cx="8257032" cy="7479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700" b="1" i="0">
                <a:solidFill>
                  <a:srgbClr val="1F2328"/>
                </a:solidFill>
                <a:latin typeface="Arial"/>
              </a:rPr>
              <a:t>Pretraining pays off with few labels.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At 12 scenes every pretrained arm beats random: +0.063 to +0.143 test F1, +0.048 to +0.111 verified F1.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700" b="1" i="0">
                <a:solidFill>
                  <a:srgbClr val="1F2328"/>
                </a:solidFill>
                <a:latin typeface="Arial"/>
              </a:rPr>
              <a:t>SAR beats optical only while labels are scarce.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CNN: +0.080 test F1 at 12 scenes, −0.018 at 111. ViT: no stable order.</a:t>
            </a:r>
          </a:p>
          <a:p>
            <a:pPr algn="l" marL="411480" indent="-411480">
              <a:spcAft>
                <a:spcPts val="1200"/>
              </a:spcAft>
              <a:buClr>
                <a:srgbClr val="14213D"/>
              </a:buClr>
              <a:buFont typeface="Arial"/>
              <a:buAutoNum type="arabicPlain"/>
            </a:pPr>
            <a:r>
              <a:rPr sz="2700" b="1" i="0">
                <a:solidFill>
                  <a:srgbClr val="1F2328"/>
                </a:solidFill>
                <a:latin typeface="Arial"/>
              </a:rPr>
              <a:t>The input adapter matters.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With a seeded 3-channel stem, BigEarthNet-S2 beats random at every budget (+0.025 to +0.063 test F1).</a:t>
            </a:r>
          </a:p>
          <a:p>
            <a:pPr algn="l" marL="411480" indent="-411480">
              <a:spcAft>
                <a:spcPts val="800"/>
              </a:spcAft>
              <a:buClr>
                <a:srgbClr val="14213D"/>
              </a:buClr>
              <a:buFont typeface="Arial"/>
              <a:buAutoNum type="arabicPlain"/>
            </a:pPr>
            <a:r>
              <a:rPr sz="2700" b="1" i="0">
                <a:solidFill>
                  <a:srgbClr val="1F2328"/>
                </a:solidFill>
                <a:latin typeface="Arial"/>
              </a:rPr>
              <a:t>Coastal and dark vessels stay hard.</a:t>
            </a:r>
            <a:r>
              <a:rPr sz="2700" b="0" i="0">
                <a:solidFill>
                  <a:srgbClr val="1F2328"/>
                </a:solidFill>
                <a:latin typeface="Arial"/>
              </a:rPr>
              <a:t> Verified F1 is 0.409–0.574 (test: 0.657–0.888). Dark-vessel recall ≤ 0.228; near-shore F1 ≤ 0.041.</a:t>
            </a:r>
          </a:p>
        </p:txBody>
      </p:sp>
      <p:sp>
        <p:nvSpPr>
          <p:cNvPr id="77" name="block: Limits"/>
          <p:cNvSpPr/>
          <p:nvPr/>
        </p:nvSpPr>
        <p:spPr>
          <a:xfrm>
            <a:off x="34299144" y="17437608"/>
            <a:ext cx="8805672" cy="5696712"/>
          </a:xfrm>
          <a:prstGeom prst="roundRect">
            <a:avLst>
              <a:gd name="adj" fmla="val 4012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block title: Limits"/>
          <p:cNvSpPr/>
          <p:nvPr/>
        </p:nvSpPr>
        <p:spPr>
          <a:xfrm>
            <a:off x="34299144" y="17437608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Limits</a:t>
            </a:r>
          </a:p>
        </p:txBody>
      </p:sp>
      <p:sp>
        <p:nvSpPr>
          <p:cNvPr id="79" name="limits"/>
          <p:cNvSpPr txBox="1"/>
          <p:nvPr/>
        </p:nvSpPr>
        <p:spPr>
          <a:xfrm>
            <a:off x="34573463" y="18534888"/>
            <a:ext cx="8257032" cy="4416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One seed per cell; 8 dev scenes pick checkpoints and thresholds.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The predeclared monotonicity gate failed: two SAR test curves drop by more than 0.02 as labels grow. We report the grid as descriptive.</a:t>
            </a:r>
          </a:p>
          <a:p>
            <a:pPr algn="l" marL="347472" indent="-347472">
              <a:spcAft>
                <a:spcPts val="800"/>
              </a:spcAft>
              <a:buClr>
                <a:srgbClr val="14213D"/>
              </a:buClr>
              <a:buSzPct val="70000"/>
              <a:buFont typeface="Arial"/>
              <a:buChar char="■"/>
            </a:pPr>
            <a:r>
              <a:rPr sz="2700" b="0" i="0">
                <a:solidFill>
                  <a:srgbClr val="1F2328"/>
                </a:solidFill>
                <a:latin typeface="Arial"/>
              </a:rPr>
              <a:t>Checkpoints differ in objective and corpus as well as domain. We compare released checkpoints, not a causal domain effect.</a:t>
            </a:r>
          </a:p>
        </p:txBody>
      </p:sp>
      <p:sp>
        <p:nvSpPr>
          <p:cNvPr id="80" name="block: Code and checkpoints"/>
          <p:cNvSpPr/>
          <p:nvPr/>
        </p:nvSpPr>
        <p:spPr>
          <a:xfrm>
            <a:off x="34299144" y="23710392"/>
            <a:ext cx="8805672" cy="4517136"/>
          </a:xfrm>
          <a:prstGeom prst="roundRect">
            <a:avLst>
              <a:gd name="adj" fmla="val 5060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block title: Code and checkpoints"/>
          <p:cNvSpPr/>
          <p:nvPr/>
        </p:nvSpPr>
        <p:spPr>
          <a:xfrm>
            <a:off x="34299144" y="23710392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Code and checkpoints</a:t>
            </a:r>
          </a:p>
        </p:txBody>
      </p:sp>
      <p:pic>
        <p:nvPicPr>
          <p:cNvPr id="82" name="QR GitHub: code, evidence" descr="qr_gith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47783" y="24807672"/>
            <a:ext cx="2377440" cy="2377440"/>
          </a:xfrm>
          <a:prstGeom prst="rect">
            <a:avLst/>
          </a:prstGeom>
        </p:spPr>
      </p:pic>
      <p:sp>
        <p:nvSpPr>
          <p:cNvPr id="83" name="QR label 1"/>
          <p:cNvSpPr txBox="1"/>
          <p:nvPr/>
        </p:nvSpPr>
        <p:spPr>
          <a:xfrm>
            <a:off x="34299143" y="2727655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GitHub: code, evidence</a:t>
            </a:r>
          </a:p>
        </p:txBody>
      </p:sp>
      <p:pic>
        <p:nvPicPr>
          <p:cNvPr id="84" name="QR Hugging Face: weights" descr="qr_huggingfac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76299" y="24807672"/>
            <a:ext cx="2377440" cy="2377440"/>
          </a:xfrm>
          <a:prstGeom prst="rect">
            <a:avLst/>
          </a:prstGeom>
        </p:spPr>
      </p:pic>
      <p:sp>
        <p:nvSpPr>
          <p:cNvPr id="85" name="QR label 2"/>
          <p:cNvSpPr txBox="1"/>
          <p:nvPr/>
        </p:nvSpPr>
        <p:spPr>
          <a:xfrm>
            <a:off x="38427659" y="2727655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 i="0">
                <a:solidFill>
                  <a:srgbClr val="1F2328"/>
                </a:solidFill>
                <a:latin typeface="Arial"/>
              </a:rPr>
              <a:t>Hugging Face: weights</a:t>
            </a:r>
          </a:p>
        </p:txBody>
      </p:sp>
      <p:sp>
        <p:nvSpPr>
          <p:cNvPr id="86" name="block: References"/>
          <p:cNvSpPr/>
          <p:nvPr/>
        </p:nvSpPr>
        <p:spPr>
          <a:xfrm>
            <a:off x="34299144" y="28803600"/>
            <a:ext cx="8805672" cy="2432304"/>
          </a:xfrm>
          <a:prstGeom prst="roundRect">
            <a:avLst>
              <a:gd name="adj" fmla="val 9398"/>
            </a:avLst>
          </a:prstGeom>
          <a:solidFill>
            <a:srgbClr val="F8F8F9"/>
          </a:solidFill>
          <a:ln w="19050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block title: References"/>
          <p:cNvSpPr/>
          <p:nvPr/>
        </p:nvSpPr>
        <p:spPr>
          <a:xfrm>
            <a:off x="34299144" y="28803600"/>
            <a:ext cx="8805672" cy="868680"/>
          </a:xfrm>
          <a:prstGeom prst="round2SameRect">
            <a:avLst>
              <a:gd name="adj1" fmla="val 25000"/>
              <a:gd name="adj2" fmla="val 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wrap="square"/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References</a:t>
            </a:r>
          </a:p>
        </p:txBody>
      </p:sp>
      <p:sp>
        <p:nvSpPr>
          <p:cNvPr id="88" name="references"/>
          <p:cNvSpPr txBox="1"/>
          <p:nvPr/>
        </p:nvSpPr>
        <p:spPr>
          <a:xfrm>
            <a:off x="34573463" y="29900880"/>
            <a:ext cx="8257032" cy="1152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1F2328"/>
                </a:solidFill>
                <a:latin typeface="Arial"/>
              </a:rPr>
              <a:t>Paolo et al., xView3-SAR, NeurIPS 2022. Zhou et al., Objects as Points, 2019. Steiner et al., How to Train Your ViT?, TMLR 2022. Woo et al., ConvNeXt V2, CVPR 2023. Straka &amp; Gruber, SatDINO, 2025. Liu et al., SARMAE, CVPR 2026. Clasen et al., reBEN, IGARSS 2025.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Label-Efficient Dark-Vessel Detection in SAR (AIPR 2026 poster)</dc:title>
  <dc:subject/>
  <dc:creator>John Roth, Kyle Wagner, Liv d'Aliberti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