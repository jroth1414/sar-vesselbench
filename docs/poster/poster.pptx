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otivation"/>
          <p:cNvSpPr txBox="1"/>
          <p:nvPr/>
        </p:nvSpPr>
        <p:spPr>
          <a:xfrm>
            <a:off x="1042416" y="7644384"/>
            <a:ext cx="8293608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have no matching AIS report. Sentinel-1 SAR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sees them at night and through cloud.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most, and does the answer depend on the backbone?</a:t>
            </a:r>
          </a:p>
        </p:txBody>
      </p:sp>
      <p:sp>
        <p:nvSpPr>
          <p:cNvPr id="15" name="heading: Data: xView3-SAR [1]"/>
          <p:cNvSpPr txBox="1"/>
          <p:nvPr/>
        </p:nvSpPr>
        <p:spPr>
          <a:xfrm>
            <a:off x="786384" y="133502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6" name="rule: Data: xView3-SAR [1]"/>
          <p:cNvCxnSpPr/>
          <p:nvPr/>
        </p:nvCxnSpPr>
        <p:spPr>
          <a:xfrm>
            <a:off x="786384" y="141274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figure: scene and chip" descr="poster_scene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4401800"/>
            <a:ext cx="8293608" cy="3610227"/>
          </a:xfrm>
          <a:prstGeom prst="rect">
            <a:avLst/>
          </a:prstGeom>
        </p:spPr>
      </p:pic>
      <p:sp>
        <p:nvSpPr>
          <p:cNvPr id="18" name="data bullets"/>
          <p:cNvSpPr txBox="1"/>
          <p:nvPr/>
        </p:nvSpPr>
        <p:spPr>
          <a:xfrm>
            <a:off x="1042416" y="18286347"/>
            <a:ext cx="8293608" cy="57623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Nested budgets: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training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Train, dev and test labels are machine-made: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AIS matching plus automated detection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They miss vessels and are not complete ground truth.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</p:txBody>
      </p:sp>
      <p:sp>
        <p:nvSpPr>
          <p:cNvPr id="19" name="heading: What the best detector finds"/>
          <p:cNvSpPr txBox="1"/>
          <p:nvPr/>
        </p:nvSpPr>
        <p:spPr>
          <a:xfrm>
            <a:off x="786384" y="241950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What the best detector finds</a:t>
            </a:r>
          </a:p>
        </p:txBody>
      </p:sp>
      <p:cxnSp>
        <p:nvCxnSpPr>
          <p:cNvPr id="20" name="rule: What the best detector finds"/>
          <p:cNvCxnSpPr/>
          <p:nvPr/>
        </p:nvCxnSpPr>
        <p:spPr>
          <a:xfrm>
            <a:off x="786384" y="249722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figure: detection examples" descr="poster_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246584"/>
            <a:ext cx="8293608" cy="5258762"/>
          </a:xfrm>
          <a:prstGeom prst="rect">
            <a:avLst/>
          </a:prstGeom>
        </p:spPr>
      </p:pic>
      <p:sp>
        <p:nvSpPr>
          <p:cNvPr id="22" name="detection caption"/>
          <p:cNvSpPr txBox="1"/>
          <p:nvPr/>
        </p:nvSpPr>
        <p:spPr>
          <a:xfrm>
            <a:off x="1042416" y="30596786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 on two 8 × 8 km verified crops (VH, dB): offshore it finds almost every vessel; in this harbor, none. Its verified F1 is 0.724 offshore and 0.026 within 2 km of shore.</a:t>
            </a:r>
          </a:p>
        </p:txBody>
      </p:sp>
      <p:sp>
        <p:nvSpPr>
          <p:cNvPr id="23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4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6" name="design note"/>
          <p:cNvSpPr txBox="1"/>
          <p:nvPr/>
        </p:nvSpPr>
        <p:spPr>
          <a:xfrm>
            <a:off x="10497311" y="12042648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Only the initialization changes inside a track; we compare domains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 architecture.</a:t>
            </a:r>
          </a:p>
        </p:txBody>
      </p:sp>
      <p:sp>
        <p:nvSpPr>
          <p:cNvPr id="27" name="heading: One shared point detector"/>
          <p:cNvSpPr txBox="1"/>
          <p:nvPr/>
        </p:nvSpPr>
        <p:spPr>
          <a:xfrm>
            <a:off x="10241280" y="137525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28" name="rule: One shared point detector"/>
          <p:cNvCxnSpPr/>
          <p:nvPr/>
        </p:nvCxnSpPr>
        <p:spPr>
          <a:xfrm>
            <a:off x="10241280" y="14529815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nput"/>
          <p:cNvSpPr/>
          <p:nvPr/>
        </p:nvSpPr>
        <p:spPr>
          <a:xfrm>
            <a:off x="10497311" y="15489935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0" name="encoder group"/>
          <p:cNvSpPr/>
          <p:nvPr/>
        </p:nvSpPr>
        <p:spPr>
          <a:xfrm>
            <a:off x="12600432" y="15124175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ncoder group label"/>
          <p:cNvSpPr txBox="1"/>
          <p:nvPr/>
        </p:nvSpPr>
        <p:spPr>
          <a:xfrm>
            <a:off x="12600432" y="14758415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2" name="ViT encoder"/>
          <p:cNvSpPr/>
          <p:nvPr/>
        </p:nvSpPr>
        <p:spPr>
          <a:xfrm>
            <a:off x="12737592" y="1521561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3" name="CNN encoder"/>
          <p:cNvSpPr/>
          <p:nvPr/>
        </p:nvSpPr>
        <p:spPr>
          <a:xfrm>
            <a:off x="12737592" y="1622145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4" name="head"/>
          <p:cNvSpPr/>
          <p:nvPr/>
        </p:nvSpPr>
        <p:spPr>
          <a:xfrm>
            <a:off x="16623792" y="15489935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5" name="input to ViT"/>
          <p:cNvCxnSpPr/>
          <p:nvPr/>
        </p:nvCxnSpPr>
        <p:spPr>
          <a:xfrm flipV="1">
            <a:off x="12234672" y="15604235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nput to CNN"/>
          <p:cNvCxnSpPr/>
          <p:nvPr/>
        </p:nvCxnSpPr>
        <p:spPr>
          <a:xfrm>
            <a:off x="12234672" y="16084295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ncoders to head"/>
          <p:cNvCxnSpPr/>
          <p:nvPr/>
        </p:nvCxnSpPr>
        <p:spPr>
          <a:xfrm>
            <a:off x="16166592" y="16084295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coring"/>
          <p:cNvSpPr/>
          <p:nvPr/>
        </p:nvSpPr>
        <p:spPr>
          <a:xfrm>
            <a:off x="10497311" y="17410175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9" name="threshold"/>
          <p:cNvSpPr/>
          <p:nvPr/>
        </p:nvSpPr>
        <p:spPr>
          <a:xfrm>
            <a:off x="13399008" y="17410175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0" name="decode"/>
          <p:cNvSpPr/>
          <p:nvPr/>
        </p:nvSpPr>
        <p:spPr>
          <a:xfrm>
            <a:off x="16300703" y="17410175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1" name="head to decode"/>
          <p:cNvCxnSpPr/>
          <p:nvPr/>
        </p:nvCxnSpPr>
        <p:spPr>
          <a:xfrm>
            <a:off x="17707356" y="16632935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ecode to threshold"/>
          <p:cNvCxnSpPr/>
          <p:nvPr/>
        </p:nvCxnSpPr>
        <p:spPr>
          <a:xfrm flipH="1">
            <a:off x="15889223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hreshold to scoring"/>
          <p:cNvCxnSpPr/>
          <p:nvPr/>
        </p:nvCxnSpPr>
        <p:spPr>
          <a:xfrm flipH="1">
            <a:off x="12987527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etector bullets"/>
          <p:cNvSpPr txBox="1"/>
          <p:nvPr/>
        </p:nvSpPr>
        <p:spPr>
          <a:xfrm>
            <a:off x="10497311" y="18873215"/>
            <a:ext cx="8293608" cy="3712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strict FP32, 567.6 H100 GPU-hours.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Same optimizer, schedule, data order and seed (0) in every cell.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each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</p:txBody>
      </p:sp>
      <p:sp>
        <p:nvSpPr>
          <p:cNvPr id="45" name="heading: Recall falls toward the coast"/>
          <p:cNvSpPr txBox="1"/>
          <p:nvPr/>
        </p:nvSpPr>
        <p:spPr>
          <a:xfrm>
            <a:off x="10241280" y="226679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6" name="rule: Recall falls toward the coast"/>
          <p:cNvCxnSpPr/>
          <p:nvPr/>
        </p:nvCxnSpPr>
        <p:spPr>
          <a:xfrm>
            <a:off x="10241280" y="2344521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figure: recall by distance to shore" descr="poster_recall_by_dis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1" y="23719536"/>
            <a:ext cx="8110728" cy="6920795"/>
          </a:xfrm>
          <a:prstGeom prst="rect">
            <a:avLst/>
          </a:prstGeom>
        </p:spPr>
      </p:pic>
      <p:sp>
        <p:nvSpPr>
          <p:cNvPr id="48" name="recall caption"/>
          <p:cNvSpPr txBox="1"/>
          <p:nvPr/>
        </p:nvSpPr>
        <p:spPr>
          <a:xfrm>
            <a:off x="10497311" y="30750058"/>
            <a:ext cx="8293608" cy="888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49" name="heading: Pretraining helps most when labels are scarce"/>
          <p:cNvSpPr txBox="1"/>
          <p:nvPr/>
        </p:nvSpPr>
        <p:spPr>
          <a:xfrm>
            <a:off x="19687032" y="6702552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0" name="rule: Pretraining helps most when labels are scarce"/>
          <p:cNvCxnSpPr/>
          <p:nvPr/>
        </p:nvCxnSpPr>
        <p:spPr>
          <a:xfrm>
            <a:off x="19687032" y="7479792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figure: label efficiency" descr="poster_label_effici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4504" y="7754112"/>
            <a:ext cx="13267944" cy="9211221"/>
          </a:xfrm>
          <a:prstGeom prst="rect">
            <a:avLst/>
          </a:prstGeom>
        </p:spPr>
      </p:pic>
      <p:sp>
        <p:nvSpPr>
          <p:cNvPr id="52" name="figure 1 caption"/>
          <p:cNvSpPr txBox="1"/>
          <p:nvPr/>
        </p:nvSpPr>
        <p:spPr>
          <a:xfrm>
            <a:off x="19943064" y="17102493"/>
            <a:ext cx="134508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0.</a:t>
            </a:r>
          </a:p>
        </p:txBody>
      </p:sp>
      <p:sp>
        <p:nvSpPr>
          <p:cNvPr id="53" name="heading: SAR vs. optical depends on backbone and budget"/>
          <p:cNvSpPr txBox="1"/>
          <p:nvPr/>
        </p:nvSpPr>
        <p:spPr>
          <a:xfrm>
            <a:off x="19687032" y="1871776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 depends on backbone and budget</a:t>
            </a:r>
          </a:p>
        </p:txBody>
      </p:sp>
      <p:cxnSp>
        <p:nvCxnSpPr>
          <p:cNvPr id="54" name="rule: SAR vs. optical depends on backbone and budget"/>
          <p:cNvCxnSpPr/>
          <p:nvPr/>
        </p:nvCxnSpPr>
        <p:spPr>
          <a:xfrm>
            <a:off x="19687032" y="1949500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figure: SAR minus optical" descr="poster_sar_minus_opt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34504" y="19769328"/>
            <a:ext cx="13267944" cy="5539106"/>
          </a:xfrm>
          <a:prstGeom prst="rect">
            <a:avLst/>
          </a:prstGeom>
        </p:spPr>
      </p:pic>
      <p:sp>
        <p:nvSpPr>
          <p:cNvPr id="56" name="figure 2 caption"/>
          <p:cNvSpPr txBox="1"/>
          <p:nvPr/>
        </p:nvSpPr>
        <p:spPr>
          <a:xfrm>
            <a:off x="19943064" y="25445594"/>
            <a:ext cx="1345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 at one label budget. Above 0, SAR wins; below 0, optical wins. Solid: test scenes; dotted: verified scenes. A bar that does not cross 0 is a win; the 16 points here are the comparisons counted in the answer above. Bars are 95% intervals from 10,000 paired scene resamples and cover scene sampling only: retraining 28 unchanged cells moved test F1 by up to 0.043.</a:t>
            </a:r>
          </a:p>
        </p:txBody>
      </p:sp>
      <p:sp>
        <p:nvSpPr>
          <p:cNvPr id="57" name="heading: References"/>
          <p:cNvSpPr txBox="1"/>
          <p:nvPr/>
        </p:nvSpPr>
        <p:spPr>
          <a:xfrm>
            <a:off x="19687032" y="27038808"/>
            <a:ext cx="13962888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58" name="rule: References"/>
          <p:cNvCxnSpPr/>
          <p:nvPr/>
        </p:nvCxnSpPr>
        <p:spPr>
          <a:xfrm>
            <a:off x="19687032" y="27816048"/>
            <a:ext cx="13962888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ferences 1"/>
          <p:cNvSpPr txBox="1"/>
          <p:nvPr/>
        </p:nvSpPr>
        <p:spPr>
          <a:xfrm>
            <a:off x="19943064" y="28090368"/>
            <a:ext cx="6588251" cy="3547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</p:txBody>
      </p:sp>
      <p:sp>
        <p:nvSpPr>
          <p:cNvPr id="60" name="references 2"/>
          <p:cNvSpPr txBox="1"/>
          <p:nvPr/>
        </p:nvSpPr>
        <p:spPr>
          <a:xfrm>
            <a:off x="26805636" y="28090368"/>
            <a:ext cx="6588251" cy="3547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A deep dive into self-supervised pretraining for remote sensing. arXiv:2508.21402,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</p:txBody>
      </p:sp>
      <p:sp>
        <p:nvSpPr>
          <p:cNvPr id="61" name="heading: Findings"/>
          <p:cNvSpPr txBox="1"/>
          <p:nvPr/>
        </p:nvSpPr>
        <p:spPr>
          <a:xfrm>
            <a:off x="34299144" y="6702552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2" name="rule: Findings"/>
          <p:cNvCxnSpPr/>
          <p:nvPr/>
        </p:nvCxnSpPr>
        <p:spPr>
          <a:xfrm>
            <a:off x="34299144" y="7479792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ro number"/>
          <p:cNvSpPr txBox="1"/>
          <p:nvPr/>
        </p:nvSpPr>
        <p:spPr>
          <a:xfrm>
            <a:off x="34555176" y="766267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009E73"/>
                </a:solidFill>
                <a:latin typeface="Arial"/>
              </a:rPr>
              <a:t>12 / 12</a:t>
            </a:r>
          </a:p>
        </p:txBody>
      </p:sp>
      <p:sp>
        <p:nvSpPr>
          <p:cNvPr id="64" name="hero caption"/>
          <p:cNvSpPr txBox="1"/>
          <p:nvPr/>
        </p:nvSpPr>
        <p:spPr>
          <a:xfrm>
            <a:off x="34555176" y="8714232"/>
            <a:ext cx="82936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pretrained-vs-random comparisons at 12 training scenes have a 95% interval above zero.</a:t>
            </a:r>
          </a:p>
        </p:txBody>
      </p:sp>
      <p:sp>
        <p:nvSpPr>
          <p:cNvPr id="65" name="findings"/>
          <p:cNvSpPr txBox="1"/>
          <p:nvPr/>
        </p:nvSpPr>
        <p:spPr>
          <a:xfrm>
            <a:off x="34555176" y="9994392"/>
            <a:ext cx="8293608" cy="9025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Gains at 12 scenes: +0.063 to +0.143 test F1, +0.048 to +0.111 verified F1.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SAR's edge over optical depends on backbone and budget.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CNN: +0.080 [+0.036, +0.121] test F1 at 12 scenes, but −0.073 [−0.101, −0.046] verified F1 at 111. ViT: the order flips between 28 and 56 scenes.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a seeded 3-channel stem instead of band slicing, BigEarthNet-S2 beats random at every budget (+0.025 to +0.063 test F1).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 Training labels put 0.4% of vessels there; the verified set, 31%.</a:t>
            </a:r>
          </a:p>
        </p:txBody>
      </p:sp>
      <p:sp>
        <p:nvSpPr>
          <p:cNvPr id="66" name="heading: Limits"/>
          <p:cNvSpPr txBox="1"/>
          <p:nvPr/>
        </p:nvSpPr>
        <p:spPr>
          <a:xfrm>
            <a:off x="34299144" y="1905609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67" name="rule: Limits"/>
          <p:cNvCxnSpPr/>
          <p:nvPr/>
        </p:nvCxnSpPr>
        <p:spPr>
          <a:xfrm>
            <a:off x="34299144" y="1983333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limits"/>
          <p:cNvSpPr txBox="1"/>
          <p:nvPr/>
        </p:nvSpPr>
        <p:spPr>
          <a:xfrm>
            <a:off x="34555176" y="20107656"/>
            <a:ext cx="8293608" cy="60441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Dev and test labels are machine-made, so test F1 measures agreement with them, not with every vessel.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Two SAR test curves drop by more than 0.02 as labels grow. ViT-SAR at 28 scenes overfit after warm-up; early stopping kept epoch 4.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differ in objective and corpus, not only domain.</a:t>
            </a:r>
          </a:p>
        </p:txBody>
      </p:sp>
      <p:sp>
        <p:nvSpPr>
          <p:cNvPr id="69" name="heading: Open questions &amp; next steps"/>
          <p:cNvSpPr txBox="1"/>
          <p:nvPr/>
        </p:nvSpPr>
        <p:spPr>
          <a:xfrm>
            <a:off x="34299144" y="2628900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70" name="rule: Open questions &amp; next steps"/>
          <p:cNvCxnSpPr/>
          <p:nvPr/>
        </p:nvCxnSpPr>
        <p:spPr>
          <a:xfrm>
            <a:off x="34299144" y="2706624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pen questions"/>
          <p:cNvSpPr txBox="1"/>
          <p:nvPr/>
        </p:nvSpPr>
        <p:spPr>
          <a:xfrm>
            <a:off x="34555176" y="27340560"/>
            <a:ext cx="8293608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How do geospatial foundation models pretrained jointly on SAR and optical imagery fare against these single-source checkpoints?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help where optical cannot: near shore and for small dark vessels?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training labels, a shoreline input channel, several seeds, and matched pretraining objectives across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