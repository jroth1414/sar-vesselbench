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38912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r"/>
          <p:cNvSpPr/>
          <p:nvPr/>
        </p:nvSpPr>
        <p:spPr>
          <a:xfrm>
            <a:off x="0" y="0"/>
            <a:ext cx="43891200" cy="449884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685800" y="320040"/>
            <a:ext cx="425196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000" b="1" i="0">
                <a:solidFill>
                  <a:srgbClr val="FFFFFF"/>
                </a:solidFill>
                <a:latin typeface="Arial"/>
              </a:rPr>
              <a:t>Label-Efficient Dark-Vessel Detection in SAR:</a:t>
            </a:r>
          </a:p>
          <a:p>
            <a:pPr algn="ctr">
              <a:spcAft>
                <a:spcPts val="0"/>
              </a:spcAft>
            </a:pPr>
            <a:r>
              <a:rPr sz="7000" b="1" i="0">
                <a:solidFill>
                  <a:srgbClr val="FFFFFF"/>
                </a:solidFill>
                <a:latin typeface="Arial"/>
              </a:rPr>
              <a:t>Does SAR-Domain Pretraining Outperform Optical and ImageNet Transfer Across ViT and CNN?</a:t>
            </a:r>
          </a:p>
        </p:txBody>
      </p:sp>
      <p:sp>
        <p:nvSpPr>
          <p:cNvPr id="4" name="authors"/>
          <p:cNvSpPr txBox="1"/>
          <p:nvPr/>
        </p:nvSpPr>
        <p:spPr>
          <a:xfrm>
            <a:off x="914400" y="2697480"/>
            <a:ext cx="42062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4400" b="1" i="0">
                <a:solidFill>
                  <a:srgbClr val="FFFFFF"/>
                </a:solidFill>
                <a:latin typeface="Arial"/>
              </a:rPr>
              <a:t>John Roth            Kyle Wagner            Liv d'Aliberti</a:t>
            </a:r>
          </a:p>
        </p:txBody>
      </p:sp>
      <p:sp>
        <p:nvSpPr>
          <p:cNvPr id="5" name="affiliation"/>
          <p:cNvSpPr txBox="1"/>
          <p:nvPr/>
        </p:nvSpPr>
        <p:spPr>
          <a:xfrm>
            <a:off x="914400" y="3520440"/>
            <a:ext cx="4206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3400" b="0" i="0">
                <a:solidFill>
                  <a:srgbClr val="FFFFFF"/>
                </a:solidFill>
                <a:latin typeface="Arial"/>
              </a:rPr>
              <a:t>Johns Hopkins University</a:t>
            </a:r>
          </a:p>
        </p:txBody>
      </p:sp>
      <p:sp>
        <p:nvSpPr>
          <p:cNvPr id="6" name="answer strip"/>
          <p:cNvSpPr/>
          <p:nvPr/>
        </p:nvSpPr>
        <p:spPr>
          <a:xfrm>
            <a:off x="786384" y="5212080"/>
            <a:ext cx="42309288" cy="950976"/>
          </a:xfrm>
          <a:prstGeom prst="rect">
            <a:avLst/>
          </a:prstGeom>
          <a:solidFill>
            <a:srgbClr val="DC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nswer"/>
          <p:cNvSpPr txBox="1"/>
          <p:nvPr/>
        </p:nvSpPr>
        <p:spPr>
          <a:xfrm>
            <a:off x="1005840" y="5212080"/>
            <a:ext cx="41879520" cy="950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 i="0">
                <a:solidFill>
                  <a:srgbClr val="1F2328"/>
                </a:solidFill>
                <a:latin typeface="Arial"/>
              </a:rPr>
              <a:t>Short answer: not consistently. </a:t>
            </a:r>
            <a:r>
              <a:rPr sz="3400" b="0" i="0">
                <a:solidFill>
                  <a:srgbClr val="1F2328"/>
                </a:solidFill>
                <a:latin typeface="Arial"/>
              </a:rPr>
              <a:t>With 12 labeled scenes every pretrained encoder beats random initialization, but SAR pretraining beats optical only for the CNN, and only while labels are scarce.</a:t>
            </a:r>
          </a:p>
        </p:txBody>
      </p:sp>
      <p:sp>
        <p:nvSpPr>
          <p:cNvPr id="8" name="footer bar"/>
          <p:cNvSpPr/>
          <p:nvPr/>
        </p:nvSpPr>
        <p:spPr>
          <a:xfrm>
            <a:off x="0" y="31866840"/>
            <a:ext cx="43891200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ooter left"/>
          <p:cNvSpPr txBox="1"/>
          <p:nvPr/>
        </p:nvSpPr>
        <p:spPr>
          <a:xfrm>
            <a:off x="822960" y="31866840"/>
            <a:ext cx="128016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 i="0">
                <a:solidFill>
                  <a:srgbClr val="FFFFFF"/>
                </a:solidFill>
                <a:latin typeface="Arial"/>
              </a:rPr>
              <a:t>Johns Hopkins University</a:t>
            </a:r>
          </a:p>
        </p:txBody>
      </p:sp>
      <p:sp>
        <p:nvSpPr>
          <p:cNvPr id="10" name="footer center"/>
          <p:cNvSpPr txBox="1"/>
          <p:nvPr/>
        </p:nvSpPr>
        <p:spPr>
          <a:xfrm>
            <a:off x="10972800" y="31866840"/>
            <a:ext cx="219456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0" i="0">
                <a:solidFill>
                  <a:srgbClr val="FFFFFF"/>
                </a:solidFill>
                <a:latin typeface="Arial"/>
              </a:rPr>
              <a:t>Applied Imagery Pattern Recognition (AIPR) 2026</a:t>
            </a:r>
          </a:p>
        </p:txBody>
      </p:sp>
      <p:sp>
        <p:nvSpPr>
          <p:cNvPr id="11" name="footer right"/>
          <p:cNvSpPr txBox="1"/>
          <p:nvPr/>
        </p:nvSpPr>
        <p:spPr>
          <a:xfrm>
            <a:off x="30266640" y="31866840"/>
            <a:ext cx="128016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3000" b="0" i="0">
                <a:solidFill>
                  <a:srgbClr val="FFFFFF"/>
                </a:solidFill>
                <a:latin typeface="Arial"/>
              </a:rPr>
              <a:t>{jroth32, kwagne35, odalibe1}@jh.edu</a:t>
            </a:r>
          </a:p>
        </p:txBody>
      </p:sp>
      <p:sp>
        <p:nvSpPr>
          <p:cNvPr id="12" name="heading: Motivation"/>
          <p:cNvSpPr txBox="1"/>
          <p:nvPr/>
        </p:nvSpPr>
        <p:spPr>
          <a:xfrm>
            <a:off x="786384" y="6592824"/>
            <a:ext cx="8805672" cy="6858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200" b="1" i="0">
                <a:solidFill>
                  <a:srgbClr val="14213D"/>
                </a:solidFill>
                <a:latin typeface="Arial"/>
              </a:rPr>
              <a:t>Motivation</a:t>
            </a:r>
          </a:p>
        </p:txBody>
      </p:sp>
      <p:cxnSp>
        <p:nvCxnSpPr>
          <p:cNvPr id="13" name="rule: Motivation"/>
          <p:cNvCxnSpPr/>
          <p:nvPr/>
        </p:nvCxnSpPr>
        <p:spPr>
          <a:xfrm>
            <a:off x="786384" y="7370064"/>
            <a:ext cx="8805672" cy="0"/>
          </a:xfrm>
          <a:prstGeom prst="line">
            <a:avLst/>
          </a:prstGeom>
          <a:ln w="57150">
            <a:solidFill>
              <a:srgbClr val="B8BE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motivation"/>
          <p:cNvSpPr txBox="1"/>
          <p:nvPr/>
        </p:nvSpPr>
        <p:spPr>
          <a:xfrm>
            <a:off x="1042416" y="7644384"/>
            <a:ext cx="8293608" cy="5394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47472" indent="-347472">
              <a:spcAft>
                <a:spcPts val="800"/>
              </a:spcAft>
              <a:buSzPct val="70000"/>
              <a:buClr>
                <a:srgbClr val="14213D"/>
              </a:buClr>
              <a:buFont typeface="Arial"/>
              <a:buChar char="■"/>
            </a:pPr>
            <a:r>
              <a:rPr sz="2900" b="1" i="0">
                <a:solidFill>
                  <a:srgbClr val="1F2328"/>
                </a:solidFill>
                <a:latin typeface="Arial"/>
              </a:rPr>
              <a:t>Dark vessels</a:t>
            </a:r>
            <a:r>
              <a:rPr sz="2900" b="0" i="0">
                <a:solidFill>
                  <a:srgbClr val="1F2328"/>
                </a:solidFill>
                <a:latin typeface="Arial"/>
              </a:rPr>
              <a:t> have no matching AIS report. Sentinel-1 SAR </a:t>
            </a:r>
            <a:r>
              <a:rPr sz="2900" b="0" i="0">
                <a:solidFill>
                  <a:srgbClr val="5B6477"/>
                </a:solidFill>
                <a:latin typeface="Arial"/>
              </a:rPr>
              <a:t>[2]</a:t>
            </a:r>
            <a:r>
              <a:rPr sz="2900" b="0" i="0">
                <a:solidFill>
                  <a:srgbClr val="1F2328"/>
                </a:solidFill>
                <a:latin typeface="Arial"/>
              </a:rPr>
              <a:t> sees them at night and through cloud.</a:t>
            </a:r>
          </a:p>
          <a:p>
            <a:pPr algn="l" marL="347472" indent="-347472">
              <a:spcAft>
                <a:spcPts val="800"/>
              </a:spcAft>
              <a:buSzPct val="70000"/>
              <a:buClr>
                <a:srgbClr val="14213D"/>
              </a:buClr>
              <a:buFont typeface="Arial"/>
              <a:buChar char="■"/>
            </a:pPr>
            <a:r>
              <a:rPr sz="2900" b="0" i="0">
                <a:solidFill>
                  <a:srgbClr val="1F2328"/>
                </a:solidFill>
                <a:latin typeface="Arial"/>
              </a:rPr>
              <a:t>Vessels fill a few pixels in a 25,000-pixel scene. Sea clutter and coastlines give strong false returns.</a:t>
            </a:r>
          </a:p>
          <a:p>
            <a:pPr algn="l" marL="347472" indent="-347472">
              <a:spcAft>
                <a:spcPts val="800"/>
              </a:spcAft>
              <a:buSzPct val="70000"/>
              <a:buClr>
                <a:srgbClr val="14213D"/>
              </a:buClr>
              <a:buFont typeface="Arial"/>
              <a:buChar char="■"/>
            </a:pPr>
            <a:r>
              <a:rPr sz="2900" b="1" i="0">
                <a:solidFill>
                  <a:srgbClr val="1F2328"/>
                </a:solidFill>
                <a:latin typeface="Arial"/>
              </a:rPr>
              <a:t>Human-verified labels are scarce.</a:t>
            </a:r>
            <a:r>
              <a:rPr sz="2900" b="0" i="0">
                <a:solidFill>
                  <a:srgbClr val="1F2328"/>
                </a:solidFill>
                <a:latin typeface="Arial"/>
              </a:rPr>
              <a:t> Pretraining can lower the label cost, but which source domain helps most, and does the answer depend on the backbone?</a:t>
            </a:r>
          </a:p>
        </p:txBody>
      </p:sp>
      <p:sp>
        <p:nvSpPr>
          <p:cNvPr id="15" name="heading: Data: xView3-SAR [1]"/>
          <p:cNvSpPr txBox="1"/>
          <p:nvPr/>
        </p:nvSpPr>
        <p:spPr>
          <a:xfrm>
            <a:off x="786384" y="13350240"/>
            <a:ext cx="8805672" cy="6858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200" b="1" i="0">
                <a:solidFill>
                  <a:srgbClr val="14213D"/>
                </a:solidFill>
                <a:latin typeface="Arial"/>
              </a:rPr>
              <a:t>Data: xView3-SAR [1]</a:t>
            </a:r>
          </a:p>
        </p:txBody>
      </p:sp>
      <p:cxnSp>
        <p:nvCxnSpPr>
          <p:cNvPr id="16" name="rule: Data: xView3-SAR [1]"/>
          <p:cNvCxnSpPr/>
          <p:nvPr/>
        </p:nvCxnSpPr>
        <p:spPr>
          <a:xfrm>
            <a:off x="786384" y="14127480"/>
            <a:ext cx="8805672" cy="0"/>
          </a:xfrm>
          <a:prstGeom prst="line">
            <a:avLst/>
          </a:prstGeom>
          <a:ln w="57150">
            <a:solidFill>
              <a:srgbClr val="B8BE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scene context" descr="scene_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840" y="14401800"/>
            <a:ext cx="6800758" cy="3283125"/>
          </a:xfrm>
          <a:prstGeom prst="rect">
            <a:avLst/>
          </a:prstGeom>
        </p:spPr>
      </p:pic>
      <p:sp>
        <p:nvSpPr>
          <p:cNvPr id="18" name="scene caption"/>
          <p:cNvSpPr txBox="1"/>
          <p:nvPr/>
        </p:nvSpPr>
        <p:spPr>
          <a:xfrm>
            <a:off x="1042416" y="17776365"/>
            <a:ext cx="82936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0" i="0">
                <a:solidFill>
                  <a:srgbClr val="1F2328"/>
                </a:solidFill>
                <a:latin typeface="Arial"/>
              </a:rPr>
              <a:t>One Sentinel-1 scene (about 300 × 220 km) and one 800-pixel chip (8 × 8 km).</a:t>
            </a:r>
          </a:p>
        </p:txBody>
      </p:sp>
      <p:sp>
        <p:nvSpPr>
          <p:cNvPr id="19" name="data bullets"/>
          <p:cNvSpPr txBox="1"/>
          <p:nvPr/>
        </p:nvSpPr>
        <p:spPr>
          <a:xfrm>
            <a:off x="1042416" y="18553605"/>
            <a:ext cx="8293608" cy="5220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47472" indent="-347472">
              <a:spcAft>
                <a:spcPts val="800"/>
              </a:spcAft>
              <a:buSzPct val="70000"/>
              <a:buClr>
                <a:srgbClr val="14213D"/>
              </a:buClr>
              <a:buFont typeface="Arial"/>
              <a:buChar char="■"/>
            </a:pPr>
            <a:r>
              <a:rPr sz="2900" b="0" i="0">
                <a:solidFill>
                  <a:srgbClr val="1F2328"/>
                </a:solidFill>
                <a:latin typeface="Arial"/>
              </a:rPr>
              <a:t>150 frozen study scenes: </a:t>
            </a:r>
            <a:r>
              <a:rPr sz="2900" b="1" i="0">
                <a:solidFill>
                  <a:srgbClr val="1F2328"/>
                </a:solidFill>
                <a:latin typeface="Arial"/>
              </a:rPr>
              <a:t>111 train, 23 dev, 16 test</a:t>
            </a:r>
            <a:r>
              <a:rPr sz="2900" b="0" i="0">
                <a:solidFill>
                  <a:srgbClr val="1F2328"/>
                </a:solidFill>
                <a:latin typeface="Arial"/>
              </a:rPr>
              <a:t>.</a:t>
            </a:r>
          </a:p>
          <a:p>
            <a:pPr algn="l" marL="347472" indent="-347472">
              <a:spcAft>
                <a:spcPts val="800"/>
              </a:spcAft>
              <a:buSzPct val="70000"/>
              <a:buClr>
                <a:srgbClr val="14213D"/>
              </a:buClr>
              <a:buFont typeface="Arial"/>
              <a:buChar char="■"/>
            </a:pPr>
            <a:r>
              <a:rPr sz="2900" b="0" i="0">
                <a:solidFill>
                  <a:srgbClr val="1F2328"/>
                </a:solidFill>
                <a:latin typeface="Arial"/>
              </a:rPr>
              <a:t>Nested budgets: </a:t>
            </a:r>
            <a:r>
              <a:rPr sz="2900" b="1" i="0">
                <a:solidFill>
                  <a:srgbClr val="1F2328"/>
                </a:solidFill>
                <a:latin typeface="Arial"/>
              </a:rPr>
              <a:t>12 ⊂ 28 ⊂ 56 ⊂ 111</a:t>
            </a:r>
            <a:r>
              <a:rPr sz="2900" b="0" i="0">
                <a:solidFill>
                  <a:srgbClr val="1F2328"/>
                </a:solidFill>
                <a:latin typeface="Arial"/>
              </a:rPr>
              <a:t> training scenes (10, 25, 50, 100%).</a:t>
            </a:r>
          </a:p>
          <a:p>
            <a:pPr algn="l" marL="347472" indent="-347472">
              <a:spcAft>
                <a:spcPts val="800"/>
              </a:spcAft>
              <a:buSzPct val="70000"/>
              <a:buClr>
                <a:srgbClr val="14213D"/>
              </a:buClr>
              <a:buFont typeface="Arial"/>
              <a:buChar char="■"/>
            </a:pPr>
            <a:r>
              <a:rPr sz="2900" b="1" i="0">
                <a:solidFill>
                  <a:srgbClr val="1F2328"/>
                </a:solidFill>
                <a:latin typeface="Arial"/>
              </a:rPr>
              <a:t>50 near-shore, human-verified scenes</a:t>
            </a:r>
            <a:r>
              <a:rPr sz="2900" b="0" i="0">
                <a:solidFill>
                  <a:srgbClr val="1F2328"/>
                </a:solidFill>
                <a:latin typeface="Arial"/>
              </a:rPr>
              <a:t>, opened once after test scoring: 8,642 vessels, 3,644 dark, 2,686 within 2 km of shore.</a:t>
            </a:r>
          </a:p>
          <a:p>
            <a:pPr algn="l" marL="347472" indent="-347472">
              <a:spcAft>
                <a:spcPts val="800"/>
              </a:spcAft>
              <a:buSzPct val="70000"/>
              <a:buClr>
                <a:srgbClr val="14213D"/>
              </a:buClr>
              <a:buFont typeface="Arial"/>
              <a:buChar char="■"/>
            </a:pPr>
            <a:r>
              <a:rPr sz="2900" b="0" i="0">
                <a:solidFill>
                  <a:srgbClr val="1F2328"/>
                </a:solidFill>
                <a:latin typeface="Arial"/>
              </a:rPr>
              <a:t>Input [VH, VV, VH−VV] in dB, 10 m pixels.</a:t>
            </a:r>
          </a:p>
        </p:txBody>
      </p:sp>
      <p:sp>
        <p:nvSpPr>
          <p:cNvPr id="20" name="heading: References"/>
          <p:cNvSpPr txBox="1"/>
          <p:nvPr/>
        </p:nvSpPr>
        <p:spPr>
          <a:xfrm>
            <a:off x="786384" y="23838408"/>
            <a:ext cx="8805672" cy="6858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200" b="1" i="0">
                <a:solidFill>
                  <a:srgbClr val="14213D"/>
                </a:solidFill>
                <a:latin typeface="Arial"/>
              </a:rPr>
              <a:t>References</a:t>
            </a:r>
          </a:p>
        </p:txBody>
      </p:sp>
      <p:cxnSp>
        <p:nvCxnSpPr>
          <p:cNvPr id="21" name="rule: References"/>
          <p:cNvCxnSpPr/>
          <p:nvPr/>
        </p:nvCxnSpPr>
        <p:spPr>
          <a:xfrm>
            <a:off x="786384" y="24615648"/>
            <a:ext cx="8805672" cy="0"/>
          </a:xfrm>
          <a:prstGeom prst="line">
            <a:avLst/>
          </a:prstGeom>
          <a:ln w="57150">
            <a:solidFill>
              <a:srgbClr val="B8BE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ferences"/>
          <p:cNvSpPr txBox="1"/>
          <p:nvPr/>
        </p:nvSpPr>
        <p:spPr>
          <a:xfrm>
            <a:off x="1042416" y="24889968"/>
            <a:ext cx="8293608" cy="6748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 i="0">
                <a:solidFill>
                  <a:srgbClr val="5B6477"/>
                </a:solidFill>
                <a:latin typeface="Arial"/>
              </a:rPr>
              <a:t>[1]  </a:t>
            </a:r>
            <a:r>
              <a:rPr sz="1700" b="0" i="0">
                <a:solidFill>
                  <a:srgbClr val="1F2328"/>
                </a:solidFill>
                <a:latin typeface="Arial"/>
              </a:rPr>
              <a:t>F. S. Paolo et al. xView3-SAR: Detecting dark fishing activity using SAR imagery. NeurIPS 2022.</a:t>
            </a:r>
          </a:p>
          <a:p>
            <a:pPr algn="l">
              <a:spcAft>
                <a:spcPts val="300"/>
              </a:spcAft>
            </a:pPr>
            <a:r>
              <a:rPr sz="1700" b="0" i="0">
                <a:solidFill>
                  <a:srgbClr val="5B6477"/>
                </a:solidFill>
                <a:latin typeface="Arial"/>
              </a:rPr>
              <a:t>[2]  </a:t>
            </a:r>
            <a:r>
              <a:rPr sz="1700" b="0" i="0">
                <a:solidFill>
                  <a:srgbClr val="1F2328"/>
                </a:solidFill>
                <a:latin typeface="Arial"/>
              </a:rPr>
              <a:t>R. Torres et al. GMES Sentinel-1 mission. Remote Sens. Environ. 2012.</a:t>
            </a:r>
          </a:p>
          <a:p>
            <a:pPr algn="l">
              <a:spcAft>
                <a:spcPts val="300"/>
              </a:spcAft>
            </a:pPr>
            <a:r>
              <a:rPr sz="1700" b="0" i="0">
                <a:solidFill>
                  <a:srgbClr val="5B6477"/>
                </a:solidFill>
                <a:latin typeface="Arial"/>
              </a:rPr>
              <a:t>[3]  </a:t>
            </a:r>
            <a:r>
              <a:rPr sz="1700" b="0" i="0">
                <a:solidFill>
                  <a:srgbClr val="1F2328"/>
                </a:solidFill>
                <a:latin typeface="Arial"/>
              </a:rPr>
              <a:t>A. Dosovitskiy et al. An image is worth 16×16 words. ICLR 2021.</a:t>
            </a:r>
          </a:p>
          <a:p>
            <a:pPr algn="l">
              <a:spcAft>
                <a:spcPts val="300"/>
              </a:spcAft>
            </a:pPr>
            <a:r>
              <a:rPr sz="1700" b="0" i="0">
                <a:solidFill>
                  <a:srgbClr val="5B6477"/>
                </a:solidFill>
                <a:latin typeface="Arial"/>
              </a:rPr>
              <a:t>[4]  </a:t>
            </a:r>
            <a:r>
              <a:rPr sz="1700" b="0" i="0">
                <a:solidFill>
                  <a:srgbClr val="1F2328"/>
                </a:solidFill>
                <a:latin typeface="Arial"/>
              </a:rPr>
              <a:t>S. Woo et al. ConvNeXt V2: Co-designing and scaling ConvNets with masked autoencoders. CVPR 2023.</a:t>
            </a:r>
          </a:p>
          <a:p>
            <a:pPr algn="l">
              <a:spcAft>
                <a:spcPts val="300"/>
              </a:spcAft>
            </a:pPr>
            <a:r>
              <a:rPr sz="1700" b="0" i="0">
                <a:solidFill>
                  <a:srgbClr val="5B6477"/>
                </a:solidFill>
                <a:latin typeface="Arial"/>
              </a:rPr>
              <a:t>[5]  </a:t>
            </a:r>
            <a:r>
              <a:rPr sz="1700" b="0" i="0">
                <a:solidFill>
                  <a:srgbClr val="1F2328"/>
                </a:solidFill>
                <a:latin typeface="Arial"/>
              </a:rPr>
              <a:t>A. Steiner et al. How to train your ViT? TMLR 2022.</a:t>
            </a:r>
          </a:p>
          <a:p>
            <a:pPr algn="l">
              <a:spcAft>
                <a:spcPts val="300"/>
              </a:spcAft>
            </a:pPr>
            <a:r>
              <a:rPr sz="1700" b="0" i="0">
                <a:solidFill>
                  <a:srgbClr val="5B6477"/>
                </a:solidFill>
                <a:latin typeface="Arial"/>
              </a:rPr>
              <a:t>[6]  </a:t>
            </a:r>
            <a:r>
              <a:rPr sz="1700" b="0" i="0">
                <a:solidFill>
                  <a:srgbClr val="1F2328"/>
                </a:solidFill>
                <a:latin typeface="Arial"/>
              </a:rPr>
              <a:t>J. Straka and I. Gruber. SatDINO: Self-supervised pretraining for remote sensing. arXiv:2508.21402, 2025.</a:t>
            </a:r>
          </a:p>
          <a:p>
            <a:pPr algn="l">
              <a:spcAft>
                <a:spcPts val="300"/>
              </a:spcAft>
            </a:pPr>
            <a:r>
              <a:rPr sz="1700" b="0" i="0">
                <a:solidFill>
                  <a:srgbClr val="5B6477"/>
                </a:solidFill>
                <a:latin typeface="Arial"/>
              </a:rPr>
              <a:t>[7]  </a:t>
            </a:r>
            <a:r>
              <a:rPr sz="1700" b="0" i="0">
                <a:solidFill>
                  <a:srgbClr val="1F2328"/>
                </a:solidFill>
                <a:latin typeface="Arial"/>
              </a:rPr>
              <a:t>D. Liu et al. SARMAE: Masked autoencoder for SAR representation learning. CVPR 2026.</a:t>
            </a:r>
          </a:p>
          <a:p>
            <a:pPr algn="l">
              <a:spcAft>
                <a:spcPts val="300"/>
              </a:spcAft>
            </a:pPr>
            <a:r>
              <a:rPr sz="1700" b="0" i="0">
                <a:solidFill>
                  <a:srgbClr val="5B6477"/>
                </a:solidFill>
                <a:latin typeface="Arial"/>
              </a:rPr>
              <a:t>[8]  </a:t>
            </a:r>
            <a:r>
              <a:rPr sz="1700" b="0" i="0">
                <a:solidFill>
                  <a:srgbClr val="1F2328"/>
                </a:solidFill>
                <a:latin typeface="Arial"/>
              </a:rPr>
              <a:t>K. N. Clasen et al. reBEN: Refined BigEarthNet dataset. IGARSS 2025.</a:t>
            </a:r>
          </a:p>
          <a:p>
            <a:pPr algn="l">
              <a:spcAft>
                <a:spcPts val="300"/>
              </a:spcAft>
            </a:pPr>
            <a:r>
              <a:rPr sz="1700" b="0" i="0">
                <a:solidFill>
                  <a:srgbClr val="5B6477"/>
                </a:solidFill>
                <a:latin typeface="Arial"/>
              </a:rPr>
              <a:t>[9]  </a:t>
            </a:r>
            <a:r>
              <a:rPr sz="1700" b="0" i="0">
                <a:solidFill>
                  <a:srgbClr val="1F2328"/>
                </a:solidFill>
                <a:latin typeface="Arial"/>
              </a:rPr>
              <a:t>X. Zhou, D. Wang, and P. Krähenbühl. Objects as points. arXiv:1904.07850, 2019.</a:t>
            </a:r>
          </a:p>
          <a:p>
            <a:pPr algn="l">
              <a:spcAft>
                <a:spcPts val="300"/>
              </a:spcAft>
            </a:pPr>
            <a:r>
              <a:rPr sz="1700" b="0" i="0">
                <a:solidFill>
                  <a:srgbClr val="5B6477"/>
                </a:solidFill>
                <a:latin typeface="Arial"/>
              </a:rPr>
              <a:t>[10]  </a:t>
            </a:r>
            <a:r>
              <a:rPr sz="1700" b="0" i="0">
                <a:solidFill>
                  <a:srgbClr val="1F2328"/>
                </a:solidFill>
                <a:latin typeface="Arial"/>
              </a:rPr>
              <a:t>T.-Y. Lin et al. Focal loss for dense object detection. ICCV 2017.</a:t>
            </a:r>
          </a:p>
        </p:txBody>
      </p:sp>
      <p:sp>
        <p:nvSpPr>
          <p:cNvPr id="23" name="heading: 8 arms × 4 budgets = 32 cells"/>
          <p:cNvSpPr txBox="1"/>
          <p:nvPr/>
        </p:nvSpPr>
        <p:spPr>
          <a:xfrm>
            <a:off x="10241280" y="6693408"/>
            <a:ext cx="8805672" cy="6858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200" b="1" i="0">
                <a:solidFill>
                  <a:srgbClr val="14213D"/>
                </a:solidFill>
                <a:latin typeface="Arial"/>
              </a:rPr>
              <a:t>8 arms × 4 budgets = 32 cells</a:t>
            </a:r>
          </a:p>
        </p:txBody>
      </p:sp>
      <p:cxnSp>
        <p:nvCxnSpPr>
          <p:cNvPr id="24" name="rule: 8 arms × 4 budgets = 32 cells"/>
          <p:cNvCxnSpPr/>
          <p:nvPr/>
        </p:nvCxnSpPr>
        <p:spPr>
          <a:xfrm>
            <a:off x="10241280" y="7470648"/>
            <a:ext cx="8805672" cy="0"/>
          </a:xfrm>
          <a:prstGeom prst="line">
            <a:avLst/>
          </a:prstGeom>
          <a:ln w="57150">
            <a:solidFill>
              <a:srgbClr val="B8BE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10497311" y="7744968"/>
          <a:ext cx="8293608" cy="40233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57400"/>
                <a:gridCol w="3017520"/>
                <a:gridCol w="3218688"/>
              </a:tblGrid>
              <a:tr h="804672">
                <a:tc>
                  <a:txBody>
                    <a:bodyPr/>
                    <a:lstStyle/>
                    <a:p>
                      <a:r>
                        <a:rPr sz="2600" b="0" i="0">
                          <a:solidFill>
                            <a:srgbClr val="1F2328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marL="54864" marR="5486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600" b="0" i="0">
                          <a:solidFill>
                            <a:srgbClr val="1F2328"/>
                          </a:solidFill>
                          <a:latin typeface="Arial"/>
                        </a:rPr>
                        <a:t>ViT-B/16 [3]</a:t>
                      </a:r>
                    </a:p>
                  </a:txBody>
                  <a:tcPr marL="54864" marR="5486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600" b="0" i="0">
                          <a:solidFill>
                            <a:srgbClr val="1F2328"/>
                          </a:solidFill>
                          <a:latin typeface="Arial"/>
                        </a:rPr>
                        <a:t>ConvNeXt V2 [4]</a:t>
                      </a:r>
                    </a:p>
                  </a:txBody>
                  <a:tcPr marL="54864" marR="54864">
                    <a:noFill/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2600" b="1" i="0">
                          <a:solidFill>
                            <a:srgbClr val="5D5D5D"/>
                          </a:solidFill>
                          <a:latin typeface="Arial"/>
                        </a:rPr>
                        <a:t>Random</a:t>
                      </a:r>
                    </a:p>
                  </a:txBody>
                  <a:tcPr marL="54864" marR="5486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600" b="0" i="0">
                          <a:solidFill>
                            <a:srgbClr val="1F2328"/>
                          </a:solidFill>
                          <a:latin typeface="Arial"/>
                        </a:rPr>
                        <a:t>fresh init</a:t>
                      </a:r>
                    </a:p>
                  </a:txBody>
                  <a:tcPr marL="54864" marR="5486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600" b="0" i="0">
                          <a:solidFill>
                            <a:srgbClr val="1F2328"/>
                          </a:solidFill>
                          <a:latin typeface="Arial"/>
                        </a:rPr>
                        <a:t>fresh init</a:t>
                      </a:r>
                    </a:p>
                  </a:txBody>
                  <a:tcPr marL="54864" marR="54864">
                    <a:noFill/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2600" b="1" i="0">
                          <a:solidFill>
                            <a:srgbClr val="9A6700"/>
                          </a:solidFill>
                          <a:latin typeface="Arial"/>
                        </a:rPr>
                        <a:t>Optical</a:t>
                      </a:r>
                    </a:p>
                  </a:txBody>
                  <a:tcPr marL="54864" marR="5486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600" b="0" i="0">
                          <a:solidFill>
                            <a:srgbClr val="1F2328"/>
                          </a:solidFill>
                          <a:latin typeface="Arial"/>
                        </a:rPr>
                        <a:t>SatDINO [6] (fMoW-RGB)</a:t>
                      </a:r>
                    </a:p>
                  </a:txBody>
                  <a:tcPr marL="54864" marR="5486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600" b="0" i="0">
                          <a:solidFill>
                            <a:srgbClr val="1F2328"/>
                          </a:solidFill>
                          <a:latin typeface="Arial"/>
                        </a:rPr>
                        <a:t>BigEarthNet-S2 [8]</a:t>
                      </a:r>
                    </a:p>
                  </a:txBody>
                  <a:tcPr marL="54864" marR="54864">
                    <a:noFill/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2600" b="1" i="0">
                          <a:solidFill>
                            <a:srgbClr val="0072B2"/>
                          </a:solidFill>
                          <a:latin typeface="Arial"/>
                        </a:rPr>
                        <a:t>SAR</a:t>
                      </a:r>
                    </a:p>
                  </a:txBody>
                  <a:tcPr marL="54864" marR="5486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600" b="0" i="0">
                          <a:solidFill>
                            <a:srgbClr val="1F2328"/>
                          </a:solidFill>
                          <a:latin typeface="Arial"/>
                        </a:rPr>
                        <a:t>SARMAE [7] (SAR-1M)</a:t>
                      </a:r>
                    </a:p>
                  </a:txBody>
                  <a:tcPr marL="54864" marR="5486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600" b="0" i="0">
                          <a:solidFill>
                            <a:srgbClr val="1F2328"/>
                          </a:solidFill>
                          <a:latin typeface="Arial"/>
                        </a:rPr>
                        <a:t>BigEarthNet-S1 [8]</a:t>
                      </a:r>
                    </a:p>
                  </a:txBody>
                  <a:tcPr marL="54864" marR="54864">
                    <a:noFill/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2600" b="1" i="0">
                          <a:solidFill>
                            <a:srgbClr val="009E73"/>
                          </a:solidFill>
                          <a:latin typeface="Arial"/>
                        </a:rPr>
                        <a:t>ImageNet</a:t>
                      </a:r>
                    </a:p>
                  </a:txBody>
                  <a:tcPr marL="54864" marR="5486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600" b="0" i="0">
                          <a:solidFill>
                            <a:srgbClr val="1F2328"/>
                          </a:solidFill>
                          <a:latin typeface="Arial"/>
                        </a:rPr>
                        <a:t>AugReg [5]</a:t>
                      </a:r>
                    </a:p>
                  </a:txBody>
                  <a:tcPr marL="54864" marR="5486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600" b="0" i="0">
                          <a:solidFill>
                            <a:srgbClr val="1F2328"/>
                          </a:solidFill>
                          <a:latin typeface="Arial"/>
                        </a:rPr>
                        <a:t>FCMAE [4]</a:t>
                      </a:r>
                    </a:p>
                  </a:txBody>
                  <a:tcPr marL="54864" marR="54864">
                    <a:noFill/>
                  </a:tcPr>
                </a:tc>
              </a:tr>
            </a:tbl>
          </a:graphicData>
        </a:graphic>
      </p:graphicFrame>
      <p:sp>
        <p:nvSpPr>
          <p:cNvPr id="26" name="design note"/>
          <p:cNvSpPr txBox="1"/>
          <p:nvPr/>
        </p:nvSpPr>
        <p:spPr>
          <a:xfrm>
            <a:off x="10497311" y="12042648"/>
            <a:ext cx="829360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900" b="0" i="0">
                <a:solidFill>
                  <a:srgbClr val="1F2328"/>
                </a:solidFill>
                <a:latin typeface="Arial"/>
              </a:rPr>
              <a:t>Only the initialization changes inside a track; we compare domains </a:t>
            </a:r>
            <a:r>
              <a:rPr sz="2900" b="1" i="0">
                <a:solidFill>
                  <a:srgbClr val="1F2328"/>
                </a:solidFill>
                <a:latin typeface="Arial"/>
              </a:rPr>
              <a:t>within</a:t>
            </a:r>
            <a:r>
              <a:rPr sz="2900" b="0" i="0">
                <a:solidFill>
                  <a:srgbClr val="1F2328"/>
                </a:solidFill>
                <a:latin typeface="Arial"/>
              </a:rPr>
              <a:t> an architecture.</a:t>
            </a:r>
          </a:p>
        </p:txBody>
      </p:sp>
      <p:sp>
        <p:nvSpPr>
          <p:cNvPr id="27" name="heading: One shared point detector"/>
          <p:cNvSpPr txBox="1"/>
          <p:nvPr/>
        </p:nvSpPr>
        <p:spPr>
          <a:xfrm>
            <a:off x="10241280" y="13752576"/>
            <a:ext cx="8805672" cy="6858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200" b="1" i="0">
                <a:solidFill>
                  <a:srgbClr val="14213D"/>
                </a:solidFill>
                <a:latin typeface="Arial"/>
              </a:rPr>
              <a:t>One shared point detector</a:t>
            </a:r>
          </a:p>
        </p:txBody>
      </p:sp>
      <p:cxnSp>
        <p:nvCxnSpPr>
          <p:cNvPr id="28" name="rule: One shared point detector"/>
          <p:cNvCxnSpPr/>
          <p:nvPr/>
        </p:nvCxnSpPr>
        <p:spPr>
          <a:xfrm>
            <a:off x="10241280" y="14529815"/>
            <a:ext cx="8805672" cy="0"/>
          </a:xfrm>
          <a:prstGeom prst="line">
            <a:avLst/>
          </a:prstGeom>
          <a:ln w="57150">
            <a:solidFill>
              <a:srgbClr val="B8BE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nput"/>
          <p:cNvSpPr/>
          <p:nvPr/>
        </p:nvSpPr>
        <p:spPr>
          <a:xfrm>
            <a:off x="10497311" y="15489935"/>
            <a:ext cx="1737360" cy="11430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200" b="0" i="0">
                <a:solidFill>
                  <a:srgbClr val="1F2328"/>
                </a:solidFill>
                <a:latin typeface="Arial"/>
              </a:rPr>
              <a:t>[VH, VV,</a:t>
            </a:r>
          </a:p>
          <a:p>
            <a:pPr algn="ctr"/>
            <a:r>
              <a:rPr sz="2200" b="0" i="0">
                <a:solidFill>
                  <a:srgbClr val="1F2328"/>
                </a:solidFill>
                <a:latin typeface="Arial"/>
              </a:rPr>
              <a:t>VH−VV]</a:t>
            </a:r>
          </a:p>
          <a:p>
            <a:pPr algn="ctr"/>
            <a:r>
              <a:rPr sz="2200" b="0" i="0">
                <a:solidFill>
                  <a:srgbClr val="1F2328"/>
                </a:solidFill>
                <a:latin typeface="Arial"/>
              </a:rPr>
              <a:t>512² crop</a:t>
            </a:r>
          </a:p>
        </p:txBody>
      </p:sp>
      <p:sp>
        <p:nvSpPr>
          <p:cNvPr id="30" name="encoder group"/>
          <p:cNvSpPr/>
          <p:nvPr/>
        </p:nvSpPr>
        <p:spPr>
          <a:xfrm>
            <a:off x="12600432" y="15124175"/>
            <a:ext cx="3566160" cy="1965960"/>
          </a:xfrm>
          <a:prstGeom prst="roundRect">
            <a:avLst/>
          </a:prstGeom>
          <a:noFill/>
          <a:ln w="19050">
            <a:solidFill>
              <a:srgbClr val="8C8C8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ncoder group label"/>
          <p:cNvSpPr txBox="1"/>
          <p:nvPr/>
        </p:nvSpPr>
        <p:spPr>
          <a:xfrm>
            <a:off x="12600432" y="14758415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one encoder per track</a:t>
            </a:r>
          </a:p>
        </p:txBody>
      </p:sp>
      <p:sp>
        <p:nvSpPr>
          <p:cNvPr id="32" name="ViT encoder"/>
          <p:cNvSpPr/>
          <p:nvPr/>
        </p:nvSpPr>
        <p:spPr>
          <a:xfrm>
            <a:off x="12737592" y="15215615"/>
            <a:ext cx="3291840" cy="777240"/>
          </a:xfrm>
          <a:prstGeom prst="roundRect">
            <a:avLst/>
          </a:prstGeom>
          <a:solidFill>
            <a:srgbClr val="E6F1F7"/>
          </a:solidFill>
          <a:ln w="25400">
            <a:solidFill>
              <a:srgbClr val="005B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900" b="0" i="0">
                <a:solidFill>
                  <a:srgbClr val="1F2328"/>
                </a:solidFill>
                <a:latin typeface="Arial"/>
              </a:rPr>
              <a:t>ViT-B/16, stride 16</a:t>
            </a:r>
          </a:p>
        </p:txBody>
      </p:sp>
      <p:sp>
        <p:nvSpPr>
          <p:cNvPr id="33" name="CNN encoder"/>
          <p:cNvSpPr/>
          <p:nvPr/>
        </p:nvSpPr>
        <p:spPr>
          <a:xfrm>
            <a:off x="12737592" y="16221455"/>
            <a:ext cx="3291840" cy="777240"/>
          </a:xfrm>
          <a:prstGeom prst="roundRect">
            <a:avLst/>
          </a:prstGeom>
          <a:solidFill>
            <a:srgbClr val="E6F1F7"/>
          </a:solidFill>
          <a:ln w="25400">
            <a:solidFill>
              <a:srgbClr val="005B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900" b="0" i="0">
                <a:solidFill>
                  <a:srgbClr val="1F2328"/>
                </a:solidFill>
                <a:latin typeface="Arial"/>
              </a:rPr>
              <a:t>ConvNeXt-V2-B, s32 + up</a:t>
            </a:r>
          </a:p>
        </p:txBody>
      </p:sp>
      <p:sp>
        <p:nvSpPr>
          <p:cNvPr id="34" name="head"/>
          <p:cNvSpPr/>
          <p:nvPr/>
        </p:nvSpPr>
        <p:spPr>
          <a:xfrm>
            <a:off x="16623792" y="15489935"/>
            <a:ext cx="2167127" cy="1143000"/>
          </a:xfrm>
          <a:prstGeom prst="roundRect">
            <a:avLst/>
          </a:prstGeom>
          <a:solidFill>
            <a:srgbClr val="F2F8FB"/>
          </a:solidFill>
          <a:ln w="25400">
            <a:solidFill>
              <a:srgbClr val="005B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200" b="0" i="0">
                <a:solidFill>
                  <a:srgbClr val="1F2328"/>
                </a:solidFill>
                <a:latin typeface="Arial"/>
              </a:rPr>
              <a:t>shared</a:t>
            </a:r>
          </a:p>
          <a:p>
            <a:pPr algn="ctr"/>
            <a:r>
              <a:rPr sz="2200" b="0" i="0">
                <a:solidFill>
                  <a:srgbClr val="1F2328"/>
                </a:solidFill>
                <a:latin typeface="Arial"/>
              </a:rPr>
              <a:t>256-ch head</a:t>
            </a:r>
          </a:p>
        </p:txBody>
      </p:sp>
      <p:cxnSp>
        <p:nvCxnSpPr>
          <p:cNvPr id="35" name="input to ViT"/>
          <p:cNvCxnSpPr/>
          <p:nvPr/>
        </p:nvCxnSpPr>
        <p:spPr>
          <a:xfrm flipV="1">
            <a:off x="12234672" y="15604235"/>
            <a:ext cx="502920" cy="480060"/>
          </a:xfrm>
          <a:prstGeom prst="bentConnector3">
            <a:avLst/>
          </a:prstGeom>
          <a:ln w="28575">
            <a:solidFill>
              <a:srgbClr val="1F23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input to CNN"/>
          <p:cNvCxnSpPr/>
          <p:nvPr/>
        </p:nvCxnSpPr>
        <p:spPr>
          <a:xfrm>
            <a:off x="12234672" y="16084295"/>
            <a:ext cx="502920" cy="525780"/>
          </a:xfrm>
          <a:prstGeom prst="bentConnector3">
            <a:avLst/>
          </a:prstGeom>
          <a:ln w="28575">
            <a:solidFill>
              <a:srgbClr val="1F23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encoders to head"/>
          <p:cNvCxnSpPr/>
          <p:nvPr/>
        </p:nvCxnSpPr>
        <p:spPr>
          <a:xfrm>
            <a:off x="16166592" y="16084295"/>
            <a:ext cx="457200" cy="0"/>
          </a:xfrm>
          <a:prstGeom prst="line">
            <a:avLst/>
          </a:prstGeom>
          <a:ln w="28575">
            <a:solidFill>
              <a:srgbClr val="1F23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scoring"/>
          <p:cNvSpPr/>
          <p:nvPr/>
        </p:nvSpPr>
        <p:spPr>
          <a:xfrm>
            <a:off x="10497311" y="17410175"/>
            <a:ext cx="2490216" cy="1143000"/>
          </a:xfrm>
          <a:prstGeom prst="roundRect">
            <a:avLst/>
          </a:prstGeom>
          <a:solidFill>
            <a:srgbClr val="E0F4EE"/>
          </a:solidFill>
          <a:ln w="25400">
            <a:solidFill>
              <a:srgbClr val="007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200" b="0" i="0">
                <a:solidFill>
                  <a:srgbClr val="1F2328"/>
                </a:solidFill>
                <a:latin typeface="Arial"/>
              </a:rPr>
              <a:t>F1, 200 m geo match</a:t>
            </a:r>
          </a:p>
        </p:txBody>
      </p:sp>
      <p:sp>
        <p:nvSpPr>
          <p:cNvPr id="39" name="threshold"/>
          <p:cNvSpPr/>
          <p:nvPr/>
        </p:nvSpPr>
        <p:spPr>
          <a:xfrm>
            <a:off x="13399008" y="17410175"/>
            <a:ext cx="2490216" cy="1143000"/>
          </a:xfrm>
          <a:prstGeom prst="roundRect">
            <a:avLst/>
          </a:prstGeom>
          <a:solidFill>
            <a:srgbClr val="FCF1DB"/>
          </a:solidFill>
          <a:ln w="25400">
            <a:solidFill>
              <a:srgbClr val="C48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200" b="0" i="0">
                <a:solidFill>
                  <a:srgbClr val="1F2328"/>
                </a:solidFill>
                <a:latin typeface="Arial"/>
              </a:rPr>
              <a:t>threshold τ picked on dev</a:t>
            </a:r>
          </a:p>
        </p:txBody>
      </p:sp>
      <p:sp>
        <p:nvSpPr>
          <p:cNvPr id="40" name="decode"/>
          <p:cNvSpPr/>
          <p:nvPr/>
        </p:nvSpPr>
        <p:spPr>
          <a:xfrm>
            <a:off x="16300703" y="17410175"/>
            <a:ext cx="2490216" cy="1143000"/>
          </a:xfrm>
          <a:prstGeom prst="roundRect">
            <a:avLst/>
          </a:prstGeom>
          <a:solidFill>
            <a:srgbClr val="F2F8FB"/>
          </a:solidFill>
          <a:ln w="25400">
            <a:solidFill>
              <a:srgbClr val="005B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200" b="0" i="0">
                <a:solidFill>
                  <a:srgbClr val="1F2328"/>
                </a:solidFill>
                <a:latin typeface="Arial"/>
              </a:rPr>
              <a:t>heatmap peaks ≥ 0.05, 120 m NMS</a:t>
            </a:r>
          </a:p>
        </p:txBody>
      </p:sp>
      <p:cxnSp>
        <p:nvCxnSpPr>
          <p:cNvPr id="41" name="head to decode"/>
          <p:cNvCxnSpPr/>
          <p:nvPr/>
        </p:nvCxnSpPr>
        <p:spPr>
          <a:xfrm>
            <a:off x="17707356" y="16632935"/>
            <a:ext cx="0" cy="777240"/>
          </a:xfrm>
          <a:prstGeom prst="line">
            <a:avLst/>
          </a:prstGeom>
          <a:ln w="28575">
            <a:solidFill>
              <a:srgbClr val="1F23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decode to threshold"/>
          <p:cNvCxnSpPr/>
          <p:nvPr/>
        </p:nvCxnSpPr>
        <p:spPr>
          <a:xfrm flipH="1">
            <a:off x="15889223" y="17981675"/>
            <a:ext cx="411480" cy="0"/>
          </a:xfrm>
          <a:prstGeom prst="line">
            <a:avLst/>
          </a:prstGeom>
          <a:ln w="28575">
            <a:solidFill>
              <a:srgbClr val="1F23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threshold to scoring"/>
          <p:cNvCxnSpPr/>
          <p:nvPr/>
        </p:nvCxnSpPr>
        <p:spPr>
          <a:xfrm flipH="1">
            <a:off x="12987527" y="17981675"/>
            <a:ext cx="411480" cy="0"/>
          </a:xfrm>
          <a:prstGeom prst="line">
            <a:avLst/>
          </a:prstGeom>
          <a:ln w="28575">
            <a:solidFill>
              <a:srgbClr val="1F23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detector bullets"/>
          <p:cNvSpPr txBox="1"/>
          <p:nvPr/>
        </p:nvSpPr>
        <p:spPr>
          <a:xfrm>
            <a:off x="10497311" y="18873215"/>
            <a:ext cx="8293608" cy="5175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47472" indent="-347472">
              <a:spcAft>
                <a:spcPts val="800"/>
              </a:spcAft>
              <a:buSzPct val="70000"/>
              <a:buClr>
                <a:srgbClr val="14213D"/>
              </a:buClr>
              <a:buFont typeface="Arial"/>
              <a:buChar char="■"/>
            </a:pPr>
            <a:r>
              <a:rPr sz="2900" b="0" i="0">
                <a:solidFill>
                  <a:srgbClr val="1F2328"/>
                </a:solidFill>
                <a:latin typeface="Arial"/>
              </a:rPr>
              <a:t>CenterNet-style heatmap </a:t>
            </a:r>
            <a:r>
              <a:rPr sz="2900" b="0" i="0">
                <a:solidFill>
                  <a:srgbClr val="5B6477"/>
                </a:solidFill>
                <a:latin typeface="Arial"/>
              </a:rPr>
              <a:t>[9]</a:t>
            </a:r>
            <a:r>
              <a:rPr sz="2900" b="0" i="0">
                <a:solidFill>
                  <a:srgbClr val="1F2328"/>
                </a:solidFill>
                <a:latin typeface="Arial"/>
              </a:rPr>
              <a:t> with focal loss </a:t>
            </a:r>
            <a:r>
              <a:rPr sz="2900" b="0" i="0">
                <a:solidFill>
                  <a:srgbClr val="5B6477"/>
                </a:solidFill>
                <a:latin typeface="Arial"/>
              </a:rPr>
              <a:t>[10]</a:t>
            </a:r>
            <a:r>
              <a:rPr sz="2900" b="0" i="0">
                <a:solidFill>
                  <a:srgbClr val="1F2328"/>
                </a:solidFill>
                <a:latin typeface="Arial"/>
              </a:rPr>
              <a:t>; F1 with 200 m geographic matching.</a:t>
            </a:r>
          </a:p>
          <a:p>
            <a:pPr algn="l" marL="347472" indent="-347472">
              <a:spcAft>
                <a:spcPts val="800"/>
              </a:spcAft>
              <a:buSzPct val="70000"/>
              <a:buClr>
                <a:srgbClr val="14213D"/>
              </a:buClr>
              <a:buFont typeface="Arial"/>
              <a:buChar char="■"/>
            </a:pPr>
            <a:r>
              <a:rPr sz="2900" b="0" i="0">
                <a:solidFill>
                  <a:srgbClr val="1F2328"/>
                </a:solidFill>
                <a:latin typeface="Arial"/>
              </a:rPr>
              <a:t>Same optimizer, schedule, crops, data order and seed (0) for every cell. Strict FP32: 567.6 H100 GPU-hours.</a:t>
            </a:r>
          </a:p>
          <a:p>
            <a:pPr algn="l" marL="347472" indent="-347472">
              <a:spcAft>
                <a:spcPts val="800"/>
              </a:spcAft>
              <a:buSzPct val="70000"/>
              <a:buClr>
                <a:srgbClr val="14213D"/>
              </a:buClr>
              <a:buFont typeface="Arial"/>
              <a:buChar char="■"/>
            </a:pPr>
            <a:r>
              <a:rPr sz="2900" b="0" i="0">
                <a:solidFill>
                  <a:srgbClr val="1F2328"/>
                </a:solidFill>
                <a:latin typeface="Arial"/>
              </a:rPr>
              <a:t>8 dev scenes pick each checkpoint and threshold; test and verified scenes are scored </a:t>
            </a:r>
            <a:r>
              <a:rPr sz="2900" b="1" i="0">
                <a:solidFill>
                  <a:srgbClr val="1F2328"/>
                </a:solidFill>
                <a:latin typeface="Arial"/>
              </a:rPr>
              <a:t>once</a:t>
            </a:r>
            <a:r>
              <a:rPr sz="2900" b="0" i="0">
                <a:solidFill>
                  <a:srgbClr val="1F2328"/>
                </a:solidFill>
                <a:latin typeface="Arial"/>
              </a:rPr>
              <a:t>, with no retuning.</a:t>
            </a:r>
          </a:p>
        </p:txBody>
      </p:sp>
      <p:sp>
        <p:nvSpPr>
          <p:cNvPr id="45" name="heading: Why SARMAE dips at 28 scenes"/>
          <p:cNvSpPr txBox="1"/>
          <p:nvPr/>
        </p:nvSpPr>
        <p:spPr>
          <a:xfrm>
            <a:off x="10241280" y="24167592"/>
            <a:ext cx="8805672" cy="6858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200" b="1" i="0">
                <a:solidFill>
                  <a:srgbClr val="14213D"/>
                </a:solidFill>
                <a:latin typeface="Arial"/>
              </a:rPr>
              <a:t>Why SARMAE dips at 28 scenes</a:t>
            </a:r>
          </a:p>
        </p:txBody>
      </p:sp>
      <p:cxnSp>
        <p:nvCxnSpPr>
          <p:cNvPr id="46" name="rule: Why SARMAE dips at 28 scenes"/>
          <p:cNvCxnSpPr/>
          <p:nvPr/>
        </p:nvCxnSpPr>
        <p:spPr>
          <a:xfrm>
            <a:off x="10241280" y="24944832"/>
            <a:ext cx="8805672" cy="0"/>
          </a:xfrm>
          <a:prstGeom prst="line">
            <a:avLst/>
          </a:prstGeom>
          <a:ln w="57150">
            <a:solidFill>
              <a:srgbClr val="B8BE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figure: SARMAE dynamics" descr="poster_sarmae_dynam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751" y="25219152"/>
            <a:ext cx="8110728" cy="4497713"/>
          </a:xfrm>
          <a:prstGeom prst="rect">
            <a:avLst/>
          </a:prstGeom>
        </p:spPr>
      </p:pic>
      <p:sp>
        <p:nvSpPr>
          <p:cNvPr id="48" name="SARMAE caption"/>
          <p:cNvSpPr txBox="1"/>
          <p:nvPr/>
        </p:nvSpPr>
        <p:spPr>
          <a:xfrm>
            <a:off x="10497311" y="29826593"/>
            <a:ext cx="8293608" cy="1811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1F2328"/>
                </a:solidFill>
                <a:latin typeface="Arial"/>
              </a:rPr>
              <a:t>At 28 scenes SARMAE peaks as warm-up ends, then overfits (training loss 0.482 → 0.034; dev precision 0.858 → 0.768). Early stopping keeps the epoch-4 checkpoint.</a:t>
            </a:r>
          </a:p>
        </p:txBody>
      </p:sp>
      <p:sp>
        <p:nvSpPr>
          <p:cNvPr id="49" name="heading: Pretraining helps most when labels are scarce"/>
          <p:cNvSpPr txBox="1"/>
          <p:nvPr/>
        </p:nvSpPr>
        <p:spPr>
          <a:xfrm>
            <a:off x="19687032" y="6702552"/>
            <a:ext cx="13962888" cy="6858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200" b="1" i="0">
                <a:solidFill>
                  <a:srgbClr val="14213D"/>
                </a:solidFill>
                <a:latin typeface="Arial"/>
              </a:rPr>
              <a:t>Pretraining helps most when labels are scarce</a:t>
            </a:r>
          </a:p>
        </p:txBody>
      </p:sp>
      <p:cxnSp>
        <p:nvCxnSpPr>
          <p:cNvPr id="50" name="rule: Pretraining helps most when labels are scarce"/>
          <p:cNvCxnSpPr/>
          <p:nvPr/>
        </p:nvCxnSpPr>
        <p:spPr>
          <a:xfrm>
            <a:off x="19687032" y="7479792"/>
            <a:ext cx="13962888" cy="0"/>
          </a:xfrm>
          <a:prstGeom prst="line">
            <a:avLst/>
          </a:prstGeom>
          <a:ln w="57150">
            <a:solidFill>
              <a:srgbClr val="B8BE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1" name="figure: label efficiency" descr="poster_label_efficien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34504" y="7754112"/>
            <a:ext cx="13267944" cy="9211221"/>
          </a:xfrm>
          <a:prstGeom prst="rect">
            <a:avLst/>
          </a:prstGeom>
        </p:spPr>
      </p:pic>
      <p:sp>
        <p:nvSpPr>
          <p:cNvPr id="52" name="figure 1 caption"/>
          <p:cNvSpPr txBox="1"/>
          <p:nvPr/>
        </p:nvSpPr>
        <p:spPr>
          <a:xfrm>
            <a:off x="19943064" y="17102493"/>
            <a:ext cx="1345082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1F2328"/>
                </a:solidFill>
                <a:latin typeface="Arial"/>
              </a:rPr>
              <a:t>F1 with 200 m matching. Each of the 32 cells is scored once with the threshold it picked on 8 dev scenes. Top: 16 held-out test scenes. Bottom: 50 near-shore, human-verified scenes. Seed 0.</a:t>
            </a:r>
          </a:p>
        </p:txBody>
      </p:sp>
      <p:sp>
        <p:nvSpPr>
          <p:cNvPr id="53" name="heading: SAR vs. optical depends on backbone and budget"/>
          <p:cNvSpPr txBox="1"/>
          <p:nvPr/>
        </p:nvSpPr>
        <p:spPr>
          <a:xfrm>
            <a:off x="19687032" y="18717768"/>
            <a:ext cx="13962888" cy="6858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200" b="1" i="0">
                <a:solidFill>
                  <a:srgbClr val="14213D"/>
                </a:solidFill>
                <a:latin typeface="Arial"/>
              </a:rPr>
              <a:t>SAR vs. optical depends on backbone and budget</a:t>
            </a:r>
          </a:p>
        </p:txBody>
      </p:sp>
      <p:cxnSp>
        <p:nvCxnSpPr>
          <p:cNvPr id="54" name="rule: SAR vs. optical depends on backbone and budget"/>
          <p:cNvCxnSpPr/>
          <p:nvPr/>
        </p:nvCxnSpPr>
        <p:spPr>
          <a:xfrm>
            <a:off x="19687032" y="19495008"/>
            <a:ext cx="13962888" cy="0"/>
          </a:xfrm>
          <a:prstGeom prst="line">
            <a:avLst/>
          </a:prstGeom>
          <a:ln w="57150">
            <a:solidFill>
              <a:srgbClr val="B8BE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5" name="figure: SAR minus optical" descr="poster_sar_minus_optic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34504" y="19769328"/>
            <a:ext cx="13267944" cy="5539106"/>
          </a:xfrm>
          <a:prstGeom prst="rect">
            <a:avLst/>
          </a:prstGeom>
        </p:spPr>
      </p:pic>
      <p:sp>
        <p:nvSpPr>
          <p:cNvPr id="56" name="figure 2 caption"/>
          <p:cNvSpPr txBox="1"/>
          <p:nvPr/>
        </p:nvSpPr>
        <p:spPr>
          <a:xfrm>
            <a:off x="19943064" y="25445594"/>
            <a:ext cx="1345082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1F2328"/>
                </a:solidFill>
                <a:latin typeface="Arial"/>
              </a:rPr>
              <a:t>Bars: 95% intervals from 10,000 paired scene resamples. They cover scene sampling only: retraining 28 unchanged cells moved test F1 by up to 0.043.</a:t>
            </a:r>
          </a:p>
        </p:txBody>
      </p:sp>
      <p:sp>
        <p:nvSpPr>
          <p:cNvPr id="57" name="heading: The verified scenes expose a coastal label gap"/>
          <p:cNvSpPr txBox="1"/>
          <p:nvPr/>
        </p:nvSpPr>
        <p:spPr>
          <a:xfrm>
            <a:off x="19687032" y="27038808"/>
            <a:ext cx="13962888" cy="6858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200" b="1" i="0">
                <a:solidFill>
                  <a:srgbClr val="14213D"/>
                </a:solidFill>
                <a:latin typeface="Arial"/>
              </a:rPr>
              <a:t>The verified scenes expose a coastal label gap</a:t>
            </a:r>
          </a:p>
        </p:txBody>
      </p:sp>
      <p:cxnSp>
        <p:nvCxnSpPr>
          <p:cNvPr id="58" name="rule: The verified scenes expose a coastal label gap"/>
          <p:cNvCxnSpPr/>
          <p:nvPr/>
        </p:nvCxnSpPr>
        <p:spPr>
          <a:xfrm>
            <a:off x="19687032" y="27816048"/>
            <a:ext cx="13962888" cy="0"/>
          </a:xfrm>
          <a:prstGeom prst="line">
            <a:avLst/>
          </a:prstGeom>
          <a:ln w="57150">
            <a:solidFill>
              <a:srgbClr val="B8BE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stat 1 value"/>
          <p:cNvSpPr txBox="1"/>
          <p:nvPr/>
        </p:nvSpPr>
        <p:spPr>
          <a:xfrm>
            <a:off x="19943064" y="27998928"/>
            <a:ext cx="448360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200" b="1" i="0">
                <a:solidFill>
                  <a:srgbClr val="14213D"/>
                </a:solidFill>
                <a:latin typeface="Arial"/>
              </a:rPr>
              <a:t>0.4% → 31%</a:t>
            </a:r>
          </a:p>
        </p:txBody>
      </p:sp>
      <p:sp>
        <p:nvSpPr>
          <p:cNvPr id="60" name="stat 1 label"/>
          <p:cNvSpPr txBox="1"/>
          <p:nvPr/>
        </p:nvSpPr>
        <p:spPr>
          <a:xfrm>
            <a:off x="19943064" y="28867608"/>
            <a:ext cx="448360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1F2328"/>
                </a:solidFill>
                <a:latin typeface="Arial"/>
              </a:rPr>
              <a:t>vessels within 2 km of shore:</a:t>
            </a:r>
          </a:p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1F2328"/>
                </a:solidFill>
                <a:latin typeface="Arial"/>
              </a:rPr>
              <a:t>training labels → verified scenes</a:t>
            </a:r>
          </a:p>
        </p:txBody>
      </p:sp>
      <p:sp>
        <p:nvSpPr>
          <p:cNvPr id="61" name="stat 2 value"/>
          <p:cNvSpPr txBox="1"/>
          <p:nvPr/>
        </p:nvSpPr>
        <p:spPr>
          <a:xfrm>
            <a:off x="24426672" y="27998928"/>
            <a:ext cx="448360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200" b="1" i="0">
                <a:solidFill>
                  <a:srgbClr val="14213D"/>
                </a:solidFill>
                <a:latin typeface="Arial"/>
              </a:rPr>
              <a:t>34 / 4,302</a:t>
            </a:r>
          </a:p>
        </p:txBody>
      </p:sp>
      <p:sp>
        <p:nvSpPr>
          <p:cNvPr id="62" name="stat 2 label"/>
          <p:cNvSpPr txBox="1"/>
          <p:nvPr/>
        </p:nvSpPr>
        <p:spPr>
          <a:xfrm>
            <a:off x="24426672" y="28867608"/>
            <a:ext cx="448360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1F2328"/>
                </a:solidFill>
                <a:latin typeface="Arial"/>
              </a:rPr>
              <a:t>best cell's predictions</a:t>
            </a:r>
          </a:p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1F2328"/>
                </a:solidFill>
                <a:latin typeface="Arial"/>
              </a:rPr>
              <a:t>within 2 km of shore</a:t>
            </a:r>
          </a:p>
        </p:txBody>
      </p:sp>
      <p:sp>
        <p:nvSpPr>
          <p:cNvPr id="63" name="stat 3 value"/>
          <p:cNvSpPr txBox="1"/>
          <p:nvPr/>
        </p:nvSpPr>
        <p:spPr>
          <a:xfrm>
            <a:off x="28910280" y="27998928"/>
            <a:ext cx="448360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200" b="1" i="0">
                <a:solidFill>
                  <a:srgbClr val="14213D"/>
                </a:solidFill>
                <a:latin typeface="Arial"/>
              </a:rPr>
              <a:t>0.724</a:t>
            </a:r>
          </a:p>
        </p:txBody>
      </p:sp>
      <p:sp>
        <p:nvSpPr>
          <p:cNvPr id="64" name="stat 3 label"/>
          <p:cNvSpPr txBox="1"/>
          <p:nvPr/>
        </p:nvSpPr>
        <p:spPr>
          <a:xfrm>
            <a:off x="28910280" y="28867608"/>
            <a:ext cx="448360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1F2328"/>
                </a:solidFill>
                <a:latin typeface="Arial"/>
              </a:rPr>
              <a:t>best cell's offshore verified F1</a:t>
            </a:r>
          </a:p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1F2328"/>
                </a:solidFill>
                <a:latin typeface="Arial"/>
              </a:rPr>
              <a:t>(0.574 overall)</a:t>
            </a:r>
          </a:p>
        </p:txBody>
      </p:sp>
      <p:sp>
        <p:nvSpPr>
          <p:cNvPr id="65" name="stat note"/>
          <p:cNvSpPr txBox="1"/>
          <p:nvPr/>
        </p:nvSpPr>
        <p:spPr>
          <a:xfrm>
            <a:off x="19943064" y="29782008"/>
            <a:ext cx="134508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1F2328"/>
                </a:solidFill>
                <a:latin typeface="Arial"/>
              </a:rPr>
              <a:t>Every cell reaches at most 0.021 near-shore recall and 0.228 dark-vessel recall, while precision stays at 0.639–0.909: the detectors learned to stay silent near shore.</a:t>
            </a:r>
          </a:p>
        </p:txBody>
      </p:sp>
      <p:sp>
        <p:nvSpPr>
          <p:cNvPr id="66" name="heading: Findings"/>
          <p:cNvSpPr txBox="1"/>
          <p:nvPr/>
        </p:nvSpPr>
        <p:spPr>
          <a:xfrm>
            <a:off x="34299144" y="6702552"/>
            <a:ext cx="8805672" cy="6858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200" b="1" i="0">
                <a:solidFill>
                  <a:srgbClr val="14213D"/>
                </a:solidFill>
                <a:latin typeface="Arial"/>
              </a:rPr>
              <a:t>Findings</a:t>
            </a:r>
          </a:p>
        </p:txBody>
      </p:sp>
      <p:cxnSp>
        <p:nvCxnSpPr>
          <p:cNvPr id="67" name="rule: Findings"/>
          <p:cNvCxnSpPr/>
          <p:nvPr/>
        </p:nvCxnSpPr>
        <p:spPr>
          <a:xfrm>
            <a:off x="34299144" y="7479792"/>
            <a:ext cx="8805672" cy="0"/>
          </a:xfrm>
          <a:prstGeom prst="line">
            <a:avLst/>
          </a:prstGeom>
          <a:ln w="57150">
            <a:solidFill>
              <a:srgbClr val="B8BE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hero number"/>
          <p:cNvSpPr txBox="1"/>
          <p:nvPr/>
        </p:nvSpPr>
        <p:spPr>
          <a:xfrm>
            <a:off x="34555176" y="7662672"/>
            <a:ext cx="829360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000" b="1" i="0">
                <a:solidFill>
                  <a:srgbClr val="009E73"/>
                </a:solidFill>
                <a:latin typeface="Arial"/>
              </a:rPr>
              <a:t>12 / 12</a:t>
            </a:r>
          </a:p>
        </p:txBody>
      </p:sp>
      <p:sp>
        <p:nvSpPr>
          <p:cNvPr id="69" name="hero caption"/>
          <p:cNvSpPr txBox="1"/>
          <p:nvPr/>
        </p:nvSpPr>
        <p:spPr>
          <a:xfrm>
            <a:off x="34555176" y="8714232"/>
            <a:ext cx="829360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900" b="0" i="0">
                <a:solidFill>
                  <a:srgbClr val="1F2328"/>
                </a:solidFill>
                <a:latin typeface="Arial"/>
              </a:rPr>
              <a:t>pretrained-vs-random comparisons at 12 training scenes have a 95% interval above zero.</a:t>
            </a:r>
          </a:p>
        </p:txBody>
      </p:sp>
      <p:sp>
        <p:nvSpPr>
          <p:cNvPr id="70" name="findings"/>
          <p:cNvSpPr txBox="1"/>
          <p:nvPr/>
        </p:nvSpPr>
        <p:spPr>
          <a:xfrm>
            <a:off x="34555176" y="9994392"/>
            <a:ext cx="8293608" cy="8567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411480" indent="-411480">
              <a:spcAft>
                <a:spcPts val="1200"/>
              </a:spcAft>
              <a:buClr>
                <a:srgbClr val="14213D"/>
              </a:buClr>
              <a:buFont typeface="Arial"/>
              <a:buAutoNum type="arabicPlain"/>
            </a:pPr>
            <a:r>
              <a:rPr sz="2900" b="1" i="0">
                <a:solidFill>
                  <a:srgbClr val="1F2328"/>
                </a:solidFill>
                <a:latin typeface="Arial"/>
              </a:rPr>
              <a:t>Pretraining pays off with few labels.</a:t>
            </a:r>
            <a:r>
              <a:rPr sz="2900" b="0" i="0">
                <a:solidFill>
                  <a:srgbClr val="1F2328"/>
                </a:solidFill>
                <a:latin typeface="Arial"/>
              </a:rPr>
              <a:t> Gains at 12 scenes: +0.063 to +0.143 test F1, +0.048 to +0.111 verified F1.</a:t>
            </a:r>
          </a:p>
          <a:p>
            <a:pPr algn="l" marL="411480" indent="-411480">
              <a:spcAft>
                <a:spcPts val="1200"/>
              </a:spcAft>
              <a:buClr>
                <a:srgbClr val="14213D"/>
              </a:buClr>
              <a:buFont typeface="Arial"/>
              <a:buAutoNum type="arabicPlain"/>
            </a:pPr>
            <a:r>
              <a:rPr sz="2900" b="1" i="0">
                <a:solidFill>
                  <a:srgbClr val="1F2328"/>
                </a:solidFill>
                <a:latin typeface="Arial"/>
              </a:rPr>
              <a:t>SAR beats optical only for the CNN, and only with few labels:</a:t>
            </a:r>
            <a:r>
              <a:rPr sz="2900" b="0" i="0">
                <a:solidFill>
                  <a:srgbClr val="1F2328"/>
                </a:solidFill>
                <a:latin typeface="Arial"/>
              </a:rPr>
              <a:t> +0.080 [+0.036, +0.121] test F1 at 12 scenes, but −0.073 [−0.101, −0.046] verified F1 at 111. ViT: no stable order.</a:t>
            </a:r>
          </a:p>
          <a:p>
            <a:pPr algn="l" marL="411480" indent="-411480">
              <a:spcAft>
                <a:spcPts val="1200"/>
              </a:spcAft>
              <a:buClr>
                <a:srgbClr val="14213D"/>
              </a:buClr>
              <a:buFont typeface="Arial"/>
              <a:buAutoNum type="arabicPlain"/>
            </a:pPr>
            <a:r>
              <a:rPr sz="2900" b="1" i="0">
                <a:solidFill>
                  <a:srgbClr val="1F2328"/>
                </a:solidFill>
                <a:latin typeface="Arial"/>
              </a:rPr>
              <a:t>The input adapter matters.</a:t>
            </a:r>
            <a:r>
              <a:rPr sz="2900" b="0" i="0">
                <a:solidFill>
                  <a:srgbClr val="1F2328"/>
                </a:solidFill>
                <a:latin typeface="Arial"/>
              </a:rPr>
              <a:t> With a seeded 3-channel stem instead of band slicing, BigEarthNet-S2 beats random at every budget (+0.025 to +0.063 test F1).</a:t>
            </a:r>
          </a:p>
          <a:p>
            <a:pPr algn="l" marL="411480" indent="-411480">
              <a:spcAft>
                <a:spcPts val="800"/>
              </a:spcAft>
              <a:buClr>
                <a:srgbClr val="14213D"/>
              </a:buClr>
              <a:buFont typeface="Arial"/>
              <a:buAutoNum type="arabicPlain"/>
            </a:pPr>
            <a:r>
              <a:rPr sz="2900" b="1" i="0">
                <a:solidFill>
                  <a:srgbClr val="1F2328"/>
                </a:solidFill>
                <a:latin typeface="Arial"/>
              </a:rPr>
              <a:t>The coastal gap is a label gap.</a:t>
            </a:r>
            <a:r>
              <a:rPr sz="2900" b="0" i="0">
                <a:solidFill>
                  <a:srgbClr val="1F2328"/>
                </a:solidFill>
                <a:latin typeface="Arial"/>
              </a:rPr>
              <a:t> Only 0.4% of training vessels lie within 2 km of shore, against 31% of verified ones.</a:t>
            </a:r>
          </a:p>
        </p:txBody>
      </p:sp>
      <p:sp>
        <p:nvSpPr>
          <p:cNvPr id="71" name="heading: Limits"/>
          <p:cNvSpPr txBox="1"/>
          <p:nvPr/>
        </p:nvSpPr>
        <p:spPr>
          <a:xfrm>
            <a:off x="34299144" y="18617184"/>
            <a:ext cx="8805672" cy="6858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200" b="1" i="0">
                <a:solidFill>
                  <a:srgbClr val="14213D"/>
                </a:solidFill>
                <a:latin typeface="Arial"/>
              </a:rPr>
              <a:t>Limits</a:t>
            </a:r>
          </a:p>
        </p:txBody>
      </p:sp>
      <p:cxnSp>
        <p:nvCxnSpPr>
          <p:cNvPr id="72" name="rule: Limits"/>
          <p:cNvCxnSpPr/>
          <p:nvPr/>
        </p:nvCxnSpPr>
        <p:spPr>
          <a:xfrm>
            <a:off x="34299144" y="19394424"/>
            <a:ext cx="8805672" cy="0"/>
          </a:xfrm>
          <a:prstGeom prst="line">
            <a:avLst/>
          </a:prstGeom>
          <a:ln w="57150">
            <a:solidFill>
              <a:srgbClr val="B8BE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limits"/>
          <p:cNvSpPr txBox="1"/>
          <p:nvPr/>
        </p:nvSpPr>
        <p:spPr>
          <a:xfrm>
            <a:off x="34555176" y="19668744"/>
            <a:ext cx="8293608" cy="3922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47472" indent="-347472">
              <a:spcAft>
                <a:spcPts val="800"/>
              </a:spcAft>
              <a:buSzPct val="70000"/>
              <a:buClr>
                <a:srgbClr val="14213D"/>
              </a:buClr>
              <a:buFont typeface="Arial"/>
              <a:buChar char="■"/>
            </a:pPr>
            <a:r>
              <a:rPr sz="2900" b="0" i="0">
                <a:solidFill>
                  <a:srgbClr val="1F2328"/>
                </a:solidFill>
                <a:latin typeface="Arial"/>
              </a:rPr>
              <a:t>One seed per cell; 8 dev scenes pick checkpoints and thresholds.</a:t>
            </a:r>
          </a:p>
          <a:p>
            <a:pPr algn="l" marL="347472" indent="-347472">
              <a:spcAft>
                <a:spcPts val="800"/>
              </a:spcAft>
              <a:buSzPct val="70000"/>
              <a:buClr>
                <a:srgbClr val="14213D"/>
              </a:buClr>
              <a:buFont typeface="Arial"/>
              <a:buChar char="■"/>
            </a:pPr>
            <a:r>
              <a:rPr sz="2900" b="0" i="0">
                <a:solidFill>
                  <a:srgbClr val="1F2328"/>
                </a:solidFill>
                <a:latin typeface="Arial"/>
              </a:rPr>
              <a:t>Monotonicity gate failed: two SAR test curves drop by more than 0.02 as labels grow.</a:t>
            </a:r>
          </a:p>
          <a:p>
            <a:pPr algn="l" marL="347472" indent="-347472">
              <a:spcAft>
                <a:spcPts val="800"/>
              </a:spcAft>
              <a:buSzPct val="70000"/>
              <a:buClr>
                <a:srgbClr val="14213D"/>
              </a:buClr>
              <a:buFont typeface="Arial"/>
              <a:buChar char="■"/>
            </a:pPr>
            <a:r>
              <a:rPr sz="2900" b="0" i="0">
                <a:solidFill>
                  <a:srgbClr val="1F2328"/>
                </a:solidFill>
                <a:latin typeface="Arial"/>
              </a:rPr>
              <a:t>Checkpoints differ in objective and corpus, not only domain.</a:t>
            </a:r>
          </a:p>
        </p:txBody>
      </p:sp>
      <p:sp>
        <p:nvSpPr>
          <p:cNvPr id="74" name="heading: Open questions &amp; next steps"/>
          <p:cNvSpPr txBox="1"/>
          <p:nvPr/>
        </p:nvSpPr>
        <p:spPr>
          <a:xfrm>
            <a:off x="34299144" y="23792688"/>
            <a:ext cx="8805672" cy="6858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200" b="1" i="0">
                <a:solidFill>
                  <a:srgbClr val="14213D"/>
                </a:solidFill>
                <a:latin typeface="Arial"/>
              </a:rPr>
              <a:t>Open questions &amp; next steps</a:t>
            </a:r>
          </a:p>
        </p:txBody>
      </p:sp>
      <p:cxnSp>
        <p:nvCxnSpPr>
          <p:cNvPr id="75" name="rule: Open questions &amp; next steps"/>
          <p:cNvCxnSpPr/>
          <p:nvPr/>
        </p:nvCxnSpPr>
        <p:spPr>
          <a:xfrm>
            <a:off x="34299144" y="24569928"/>
            <a:ext cx="8805672" cy="0"/>
          </a:xfrm>
          <a:prstGeom prst="line">
            <a:avLst/>
          </a:prstGeom>
          <a:ln w="57150">
            <a:solidFill>
              <a:srgbClr val="B8BE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pen questions"/>
          <p:cNvSpPr txBox="1"/>
          <p:nvPr/>
        </p:nvSpPr>
        <p:spPr>
          <a:xfrm>
            <a:off x="34555176" y="24844248"/>
            <a:ext cx="8293608" cy="6793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47472" indent="-347472">
              <a:spcAft>
                <a:spcPts val="800"/>
              </a:spcAft>
              <a:buSzPct val="70000"/>
              <a:buClr>
                <a:srgbClr val="14213D"/>
              </a:buClr>
              <a:buFont typeface="Arial"/>
              <a:buChar char="■"/>
            </a:pPr>
            <a:r>
              <a:rPr sz="2900" b="0" i="0">
                <a:solidFill>
                  <a:srgbClr val="1F2328"/>
                </a:solidFill>
                <a:latin typeface="Arial"/>
              </a:rPr>
              <a:t>How do geospatial foundation models pretrained jointly on SAR and optical imagery fare against these single-source checkpoints?</a:t>
            </a:r>
          </a:p>
          <a:p>
            <a:pPr algn="l" marL="347472" indent="-347472">
              <a:spcAft>
                <a:spcPts val="800"/>
              </a:spcAft>
              <a:buSzPct val="70000"/>
              <a:buClr>
                <a:srgbClr val="14213D"/>
              </a:buClr>
              <a:buFont typeface="Arial"/>
              <a:buChar char="■"/>
            </a:pPr>
            <a:r>
              <a:rPr sz="2900" b="0" i="0">
                <a:solidFill>
                  <a:srgbClr val="1F2328"/>
                </a:solidFill>
                <a:latin typeface="Arial"/>
              </a:rPr>
              <a:t>Does SAR pretraining help where optical cannot: near shore and for small dark vessels?</a:t>
            </a:r>
          </a:p>
          <a:p>
            <a:pPr algn="l" marL="347472" indent="-347472">
              <a:spcAft>
                <a:spcPts val="800"/>
              </a:spcAft>
              <a:buSzPct val="70000"/>
              <a:buClr>
                <a:srgbClr val="14213D"/>
              </a:buClr>
              <a:buFont typeface="Arial"/>
              <a:buChar char="■"/>
            </a:pPr>
            <a:r>
              <a:rPr sz="2900" b="0" i="0">
                <a:solidFill>
                  <a:srgbClr val="1F2328"/>
                </a:solidFill>
                <a:latin typeface="Arial"/>
              </a:rPr>
              <a:t>Would per-arm learning rates or longer early-stopping patience remove the small-budget dips?</a:t>
            </a:r>
          </a:p>
          <a:p>
            <a:pPr algn="l" marL="347472" indent="-347472">
              <a:spcAft>
                <a:spcPts val="800"/>
              </a:spcAft>
              <a:buSzPct val="70000"/>
              <a:buClr>
                <a:srgbClr val="14213D"/>
              </a:buClr>
              <a:buFont typeface="Arial"/>
              <a:buChar char="■"/>
            </a:pPr>
            <a:r>
              <a:rPr sz="2900" b="1" i="0">
                <a:solidFill>
                  <a:srgbClr val="1F2328"/>
                </a:solidFill>
                <a:latin typeface="Arial"/>
              </a:rPr>
              <a:t>Next:</a:t>
            </a:r>
            <a:r>
              <a:rPr sz="2900" b="0" i="0">
                <a:solidFill>
                  <a:srgbClr val="1F2328"/>
                </a:solidFill>
                <a:latin typeface="Arial"/>
              </a:rPr>
              <a:t> near-shore training labels, a shoreline input channel, several seeds, and matched pretraining objectives across sensors.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Label-Efficient Dark-Vessel Detection in SAR (AIPR 2026 poster)</dc:title>
  <dc:subject/>
  <dc:creator>John Roth, Kyle Wagner, Liv d'Aliberti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