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r"/>
          <p:cNvSpPr/>
          <p:nvPr/>
        </p:nvSpPr>
        <p:spPr>
          <a:xfrm>
            <a:off x="0" y="0"/>
            <a:ext cx="43891200" cy="449884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685800" y="320040"/>
            <a:ext cx="42519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000" b="1" i="0">
                <a:solidFill>
                  <a:srgbClr val="FFFFFF"/>
                </a:solidFill>
                <a:latin typeface="Arial"/>
              </a:rPr>
              <a:t>Label-Efficient Dark-Vessel Detection in SAR:</a:t>
            </a:r>
          </a:p>
          <a:p>
            <a:pPr algn="ctr">
              <a:spcAft>
                <a:spcPts val="0"/>
              </a:spcAft>
            </a:pPr>
            <a:r>
              <a:rPr sz="7000" b="1" i="0">
                <a:solidFill>
                  <a:srgbClr val="FFFFFF"/>
                </a:solidFill>
                <a:latin typeface="Arial"/>
              </a:rPr>
              <a:t>Does SAR-Domain Pretraining Outperform Optical and ImageNet Transfer Across ViT and CNN?</a:t>
            </a:r>
          </a:p>
        </p:txBody>
      </p:sp>
      <p:sp>
        <p:nvSpPr>
          <p:cNvPr id="4" name="authors"/>
          <p:cNvSpPr txBox="1"/>
          <p:nvPr/>
        </p:nvSpPr>
        <p:spPr>
          <a:xfrm>
            <a:off x="914400" y="2697480"/>
            <a:ext cx="42062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4400" b="1" i="0">
                <a:solidFill>
                  <a:srgbClr val="FFFFFF"/>
                </a:solidFill>
                <a:latin typeface="Arial"/>
              </a:rPr>
              <a:t>John Roth            Kyle Wagner            Liv d'Aliberti</a:t>
            </a:r>
          </a:p>
        </p:txBody>
      </p:sp>
      <p:sp>
        <p:nvSpPr>
          <p:cNvPr id="5" name="affiliation"/>
          <p:cNvSpPr txBox="1"/>
          <p:nvPr/>
        </p:nvSpPr>
        <p:spPr>
          <a:xfrm>
            <a:off x="914400" y="3520440"/>
            <a:ext cx="4206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3400" b="0" i="0">
                <a:solidFill>
                  <a:srgbClr val="FFFFFF"/>
                </a:solidFill>
                <a:latin typeface="Arial"/>
              </a:rPr>
              <a:t>Johns Hopkins University</a:t>
            </a:r>
          </a:p>
        </p:txBody>
      </p:sp>
      <p:sp>
        <p:nvSpPr>
          <p:cNvPr id="6" name="answer strip"/>
          <p:cNvSpPr/>
          <p:nvPr/>
        </p:nvSpPr>
        <p:spPr>
          <a:xfrm>
            <a:off x="786384" y="5212080"/>
            <a:ext cx="42309288" cy="950976"/>
          </a:xfrm>
          <a:prstGeom prst="rect">
            <a:avLst/>
          </a:prstGeom>
          <a:solidFill>
            <a:srgbClr val="DC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nswer"/>
          <p:cNvSpPr txBox="1"/>
          <p:nvPr/>
        </p:nvSpPr>
        <p:spPr>
          <a:xfrm>
            <a:off x="1005840" y="5212080"/>
            <a:ext cx="41879520" cy="950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400" b="1" i="0">
                <a:solidFill>
                  <a:srgbClr val="1F2328"/>
                </a:solidFill>
                <a:latin typeface="Arial"/>
              </a:rPr>
              <a:t>Answer: no. </a:t>
            </a:r>
            <a:r>
              <a:rPr sz="3400" b="0" i="0">
                <a:solidFill>
                  <a:srgbClr val="1F2328"/>
                </a:solidFill>
                <a:latin typeface="Arial"/>
              </a:rPr>
              <a:t>SAR pretraining beats optical in 6 of 16 comparisons and ImageNet in 3 of 16 (ImageNet wins 7); its clearest edge is the CNN with 12–28 labeled scenes.</a:t>
            </a:r>
          </a:p>
        </p:txBody>
      </p:sp>
      <p:sp>
        <p:nvSpPr>
          <p:cNvPr id="8" name="footer bar"/>
          <p:cNvSpPr/>
          <p:nvPr/>
        </p:nvSpPr>
        <p:spPr>
          <a:xfrm>
            <a:off x="0" y="31866840"/>
            <a:ext cx="43891200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ooter left"/>
          <p:cNvSpPr txBox="1"/>
          <p:nvPr/>
        </p:nvSpPr>
        <p:spPr>
          <a:xfrm>
            <a:off x="822960" y="31866840"/>
            <a:ext cx="128016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Arial"/>
              </a:rPr>
              <a:t>Johns Hopkins University</a:t>
            </a:r>
          </a:p>
        </p:txBody>
      </p:sp>
      <p:sp>
        <p:nvSpPr>
          <p:cNvPr id="10" name="footer center"/>
          <p:cNvSpPr txBox="1"/>
          <p:nvPr/>
        </p:nvSpPr>
        <p:spPr>
          <a:xfrm>
            <a:off x="10972800" y="31866840"/>
            <a:ext cx="219456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Arial"/>
              </a:rPr>
              <a:t>Applied Imagery Pattern Recognition (AIPR) 2026</a:t>
            </a:r>
          </a:p>
        </p:txBody>
      </p:sp>
      <p:sp>
        <p:nvSpPr>
          <p:cNvPr id="11" name="footer right"/>
          <p:cNvSpPr txBox="1"/>
          <p:nvPr/>
        </p:nvSpPr>
        <p:spPr>
          <a:xfrm>
            <a:off x="30266640" y="31866840"/>
            <a:ext cx="128016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Arial"/>
              </a:rPr>
              <a:t>{jroth32, kwagne35, odalibe1}@jh.edu</a:t>
            </a:r>
          </a:p>
        </p:txBody>
      </p:sp>
      <p:sp>
        <p:nvSpPr>
          <p:cNvPr id="12" name="heading: Motivation"/>
          <p:cNvSpPr txBox="1"/>
          <p:nvPr/>
        </p:nvSpPr>
        <p:spPr>
          <a:xfrm>
            <a:off x="786384" y="6592824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Motivation</a:t>
            </a:r>
          </a:p>
        </p:txBody>
      </p:sp>
      <p:cxnSp>
        <p:nvCxnSpPr>
          <p:cNvPr id="13" name="rule: Motivation"/>
          <p:cNvCxnSpPr/>
          <p:nvPr/>
        </p:nvCxnSpPr>
        <p:spPr>
          <a:xfrm>
            <a:off x="786384" y="7370064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otivation"/>
          <p:cNvSpPr txBox="1"/>
          <p:nvPr/>
        </p:nvSpPr>
        <p:spPr>
          <a:xfrm>
            <a:off x="1042416" y="7644384"/>
            <a:ext cx="8293608" cy="5394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Dark vessels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have no matching AIS report. Sentinel-1 SAR </a:t>
            </a:r>
            <a:r>
              <a:rPr sz="2900" b="0" i="0">
                <a:solidFill>
                  <a:srgbClr val="5B6477"/>
                </a:solidFill>
                <a:latin typeface="Arial"/>
              </a:rPr>
              <a:t>[2]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sees them at night and through cloud.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Vessels fill a few pixels in a 25,000-pixel scene. Sea clutter and coastlines give strong false returns.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Human-verified labels are scarce.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Pretraining can lower the label cost, but which source domain helps most, and does the answer depend on the backbone?</a:t>
            </a:r>
          </a:p>
        </p:txBody>
      </p:sp>
      <p:sp>
        <p:nvSpPr>
          <p:cNvPr id="15" name="heading: Data: xView3-SAR [1]"/>
          <p:cNvSpPr txBox="1"/>
          <p:nvPr/>
        </p:nvSpPr>
        <p:spPr>
          <a:xfrm>
            <a:off x="786384" y="13350240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Data: xView3-SAR [1]</a:t>
            </a:r>
          </a:p>
        </p:txBody>
      </p:sp>
      <p:cxnSp>
        <p:nvCxnSpPr>
          <p:cNvPr id="16" name="rule: Data: xView3-SAR [1]"/>
          <p:cNvCxnSpPr/>
          <p:nvPr/>
        </p:nvCxnSpPr>
        <p:spPr>
          <a:xfrm>
            <a:off x="786384" y="14127480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figure: scene and chip" descr="poster_scene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14401800"/>
            <a:ext cx="8293608" cy="3610227"/>
          </a:xfrm>
          <a:prstGeom prst="rect">
            <a:avLst/>
          </a:prstGeom>
        </p:spPr>
      </p:pic>
      <p:sp>
        <p:nvSpPr>
          <p:cNvPr id="18" name="data bullets"/>
          <p:cNvSpPr txBox="1"/>
          <p:nvPr/>
        </p:nvSpPr>
        <p:spPr>
          <a:xfrm>
            <a:off x="1042416" y="18286347"/>
            <a:ext cx="8293608" cy="57623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150 frozen study scenes: </a:t>
            </a:r>
            <a:r>
              <a:rPr sz="2900" b="1" i="0">
                <a:solidFill>
                  <a:srgbClr val="1F2328"/>
                </a:solidFill>
                <a:latin typeface="Arial"/>
              </a:rPr>
              <a:t>111 train, 23 dev, 16 test</a:t>
            </a:r>
            <a:r>
              <a:rPr sz="2900" b="0" i="0">
                <a:solidFill>
                  <a:srgbClr val="1F2328"/>
                </a:solidFill>
                <a:latin typeface="Arial"/>
              </a:rPr>
              <a:t>. Nested budgets: </a:t>
            </a:r>
            <a:r>
              <a:rPr sz="2900" b="1" i="0">
                <a:solidFill>
                  <a:srgbClr val="1F2328"/>
                </a:solidFill>
                <a:latin typeface="Arial"/>
              </a:rPr>
              <a:t>12 ⊂ 28 ⊂ 56 ⊂ 111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training scenes.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Train, dev and test labels are machine-made: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AIS matching plus automated detection </a:t>
            </a:r>
            <a:r>
              <a:rPr sz="2900" b="0" i="0">
                <a:solidFill>
                  <a:srgbClr val="5B6477"/>
                </a:solidFill>
                <a:latin typeface="Arial"/>
              </a:rPr>
              <a:t>[1]</a:t>
            </a:r>
            <a:r>
              <a:rPr sz="2900" b="0" i="0">
                <a:solidFill>
                  <a:srgbClr val="1F2328"/>
                </a:solidFill>
                <a:latin typeface="Arial"/>
              </a:rPr>
              <a:t>. They miss vessels and are not complete ground truth.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50 near-shore, human-verified scenes</a:t>
            </a:r>
            <a:r>
              <a:rPr sz="2900" b="0" i="0">
                <a:solidFill>
                  <a:srgbClr val="1F2328"/>
                </a:solidFill>
                <a:latin typeface="Arial"/>
              </a:rPr>
              <a:t>, opened once after test scoring: 8,642 vessels, 3,644 dark, 2,686 within 2 km of shore.</a:t>
            </a:r>
          </a:p>
        </p:txBody>
      </p:sp>
      <p:sp>
        <p:nvSpPr>
          <p:cNvPr id="19" name="heading: What the best detector finds"/>
          <p:cNvSpPr txBox="1"/>
          <p:nvPr/>
        </p:nvSpPr>
        <p:spPr>
          <a:xfrm>
            <a:off x="786384" y="24195024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What the best detector finds</a:t>
            </a:r>
          </a:p>
        </p:txBody>
      </p:sp>
      <p:cxnSp>
        <p:nvCxnSpPr>
          <p:cNvPr id="20" name="rule: What the best detector finds"/>
          <p:cNvCxnSpPr/>
          <p:nvPr/>
        </p:nvCxnSpPr>
        <p:spPr>
          <a:xfrm>
            <a:off x="786384" y="24972264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figure: detection examples" descr="poster_detection_examp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5246584"/>
            <a:ext cx="8293608" cy="5258762"/>
          </a:xfrm>
          <a:prstGeom prst="rect">
            <a:avLst/>
          </a:prstGeom>
        </p:spPr>
      </p:pic>
      <p:sp>
        <p:nvSpPr>
          <p:cNvPr id="22" name="detection caption"/>
          <p:cNvSpPr txBox="1"/>
          <p:nvPr/>
        </p:nvSpPr>
        <p:spPr>
          <a:xfrm>
            <a:off x="1042416" y="30596786"/>
            <a:ext cx="829360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Best cell (ImageNet CNN, 111 scenes) on two 8 × 8 km verified crops (VH, dB): offshore it finds almost every vessel; in this harbor, none. Its verified F1 is 0.724 offshore and 0.026 within 2 km of shore.</a:t>
            </a:r>
          </a:p>
        </p:txBody>
      </p:sp>
      <p:sp>
        <p:nvSpPr>
          <p:cNvPr id="23" name="heading: 8 arms × 4 budgets = 32 cells"/>
          <p:cNvSpPr txBox="1"/>
          <p:nvPr/>
        </p:nvSpPr>
        <p:spPr>
          <a:xfrm>
            <a:off x="10241280" y="6693408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8 arms × 4 budgets = 32 cells</a:t>
            </a:r>
          </a:p>
        </p:txBody>
      </p:sp>
      <p:cxnSp>
        <p:nvCxnSpPr>
          <p:cNvPr id="24" name="rule: 8 arms × 4 budgets = 32 cells"/>
          <p:cNvCxnSpPr/>
          <p:nvPr/>
        </p:nvCxnSpPr>
        <p:spPr>
          <a:xfrm>
            <a:off x="10241280" y="7470648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497311" y="7744968"/>
          <a:ext cx="8293608" cy="4023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57400"/>
                <a:gridCol w="3017520"/>
                <a:gridCol w="3218688"/>
              </a:tblGrid>
              <a:tr h="804672"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ViT-B/16 [3]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ConvNeXt V2 [4]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5D5D5D"/>
                          </a:solidFill>
                          <a:latin typeface="Arial"/>
                        </a:rPr>
                        <a:t>Random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fresh init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fresh init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9A6700"/>
                          </a:solidFill>
                          <a:latin typeface="Arial"/>
                        </a:rPr>
                        <a:t>Optical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SatDINO [6] (fMoW-RGB)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BigEarthNet-S2 [8]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0072B2"/>
                          </a:solidFill>
                          <a:latin typeface="Arial"/>
                        </a:rPr>
                        <a:t>SAR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SARMAE [7] (SAR-1M)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BigEarthNet-S1 [8]</a:t>
                      </a:r>
                    </a:p>
                  </a:txBody>
                  <a:tcPr marL="54864" marR="54864">
                    <a:noFill/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009E73"/>
                          </a:solidFill>
                          <a:latin typeface="Arial"/>
                        </a:rPr>
                        <a:t>ImageNet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AugReg [5]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FCMAE [4]</a:t>
                      </a:r>
                    </a:p>
                  </a:txBody>
                  <a:tcPr marL="54864" marR="54864">
                    <a:noFill/>
                  </a:tcPr>
                </a:tc>
              </a:tr>
            </a:tbl>
          </a:graphicData>
        </a:graphic>
      </p:graphicFrame>
      <p:sp>
        <p:nvSpPr>
          <p:cNvPr id="26" name="design note"/>
          <p:cNvSpPr txBox="1"/>
          <p:nvPr/>
        </p:nvSpPr>
        <p:spPr>
          <a:xfrm>
            <a:off x="10497311" y="12042648"/>
            <a:ext cx="829360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900" b="0" i="0">
                <a:solidFill>
                  <a:srgbClr val="1F2328"/>
                </a:solidFill>
                <a:latin typeface="Arial"/>
              </a:rPr>
              <a:t>Only the initialization changes inside a track; we compare domains </a:t>
            </a:r>
            <a:r>
              <a:rPr sz="2900" b="1" i="0">
                <a:solidFill>
                  <a:srgbClr val="1F2328"/>
                </a:solidFill>
                <a:latin typeface="Arial"/>
              </a:rPr>
              <a:t>within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an architecture.</a:t>
            </a:r>
          </a:p>
        </p:txBody>
      </p:sp>
      <p:sp>
        <p:nvSpPr>
          <p:cNvPr id="27" name="heading: One shared point detector"/>
          <p:cNvSpPr txBox="1"/>
          <p:nvPr/>
        </p:nvSpPr>
        <p:spPr>
          <a:xfrm>
            <a:off x="10241280" y="13752576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One shared point detector</a:t>
            </a:r>
          </a:p>
        </p:txBody>
      </p:sp>
      <p:cxnSp>
        <p:nvCxnSpPr>
          <p:cNvPr id="28" name="rule: One shared point detector"/>
          <p:cNvCxnSpPr/>
          <p:nvPr/>
        </p:nvCxnSpPr>
        <p:spPr>
          <a:xfrm>
            <a:off x="10241280" y="14529815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nput"/>
          <p:cNvSpPr/>
          <p:nvPr/>
        </p:nvSpPr>
        <p:spPr>
          <a:xfrm>
            <a:off x="10497311" y="15489935"/>
            <a:ext cx="1737360" cy="11430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[VH, VV,</a:t>
            </a:r>
          </a:p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VH−VV]</a:t>
            </a:r>
          </a:p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512² crop</a:t>
            </a:r>
          </a:p>
        </p:txBody>
      </p:sp>
      <p:sp>
        <p:nvSpPr>
          <p:cNvPr id="30" name="encoder group"/>
          <p:cNvSpPr/>
          <p:nvPr/>
        </p:nvSpPr>
        <p:spPr>
          <a:xfrm>
            <a:off x="12600432" y="15124175"/>
            <a:ext cx="3566160" cy="1965960"/>
          </a:xfrm>
          <a:prstGeom prst="roundRect">
            <a:avLst/>
          </a:prstGeom>
          <a:noFill/>
          <a:ln w="19050">
            <a:solidFill>
              <a:srgbClr val="8C8C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encoder group label"/>
          <p:cNvSpPr txBox="1"/>
          <p:nvPr/>
        </p:nvSpPr>
        <p:spPr>
          <a:xfrm>
            <a:off x="12600432" y="14758415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700" b="0" i="0">
                <a:solidFill>
                  <a:srgbClr val="6B7280"/>
                </a:solidFill>
                <a:latin typeface="Arial"/>
              </a:rPr>
              <a:t>one encoder per track</a:t>
            </a:r>
          </a:p>
        </p:txBody>
      </p:sp>
      <p:sp>
        <p:nvSpPr>
          <p:cNvPr id="32" name="ViT encoder"/>
          <p:cNvSpPr/>
          <p:nvPr/>
        </p:nvSpPr>
        <p:spPr>
          <a:xfrm>
            <a:off x="12737592" y="15215615"/>
            <a:ext cx="3291840" cy="777240"/>
          </a:xfrm>
          <a:prstGeom prst="roundRect">
            <a:avLst/>
          </a:prstGeom>
          <a:solidFill>
            <a:srgbClr val="E6F1F7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0" i="0">
                <a:solidFill>
                  <a:srgbClr val="1F2328"/>
                </a:solidFill>
                <a:latin typeface="Arial"/>
              </a:rPr>
              <a:t>ViT-B/16, stride 16</a:t>
            </a:r>
          </a:p>
        </p:txBody>
      </p:sp>
      <p:sp>
        <p:nvSpPr>
          <p:cNvPr id="33" name="CNN encoder"/>
          <p:cNvSpPr/>
          <p:nvPr/>
        </p:nvSpPr>
        <p:spPr>
          <a:xfrm>
            <a:off x="12737592" y="16221455"/>
            <a:ext cx="3291840" cy="777240"/>
          </a:xfrm>
          <a:prstGeom prst="roundRect">
            <a:avLst/>
          </a:prstGeom>
          <a:solidFill>
            <a:srgbClr val="E6F1F7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900" b="0" i="0">
                <a:solidFill>
                  <a:srgbClr val="1F2328"/>
                </a:solidFill>
                <a:latin typeface="Arial"/>
              </a:rPr>
              <a:t>ConvNeXt-V2-B, s32 + up</a:t>
            </a:r>
          </a:p>
        </p:txBody>
      </p:sp>
      <p:sp>
        <p:nvSpPr>
          <p:cNvPr id="34" name="head"/>
          <p:cNvSpPr/>
          <p:nvPr/>
        </p:nvSpPr>
        <p:spPr>
          <a:xfrm>
            <a:off x="16623792" y="15489935"/>
            <a:ext cx="2167127" cy="1143000"/>
          </a:xfrm>
          <a:prstGeom prst="roundRect">
            <a:avLst/>
          </a:prstGeom>
          <a:solidFill>
            <a:srgbClr val="F2F8FB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shared</a:t>
            </a:r>
          </a:p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256-ch head</a:t>
            </a:r>
          </a:p>
        </p:txBody>
      </p:sp>
      <p:cxnSp>
        <p:nvCxnSpPr>
          <p:cNvPr id="35" name="input to ViT"/>
          <p:cNvCxnSpPr/>
          <p:nvPr/>
        </p:nvCxnSpPr>
        <p:spPr>
          <a:xfrm flipV="1">
            <a:off x="12234672" y="15604235"/>
            <a:ext cx="502920" cy="480060"/>
          </a:xfrm>
          <a:prstGeom prst="bentConnector3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input to CNN"/>
          <p:cNvCxnSpPr/>
          <p:nvPr/>
        </p:nvCxnSpPr>
        <p:spPr>
          <a:xfrm>
            <a:off x="12234672" y="16084295"/>
            <a:ext cx="502920" cy="525780"/>
          </a:xfrm>
          <a:prstGeom prst="bentConnector3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encoders to head"/>
          <p:cNvCxnSpPr/>
          <p:nvPr/>
        </p:nvCxnSpPr>
        <p:spPr>
          <a:xfrm>
            <a:off x="16166592" y="16084295"/>
            <a:ext cx="457200" cy="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coring"/>
          <p:cNvSpPr/>
          <p:nvPr/>
        </p:nvSpPr>
        <p:spPr>
          <a:xfrm>
            <a:off x="10497311" y="17410175"/>
            <a:ext cx="2490216" cy="1143000"/>
          </a:xfrm>
          <a:prstGeom prst="roundRect">
            <a:avLst/>
          </a:prstGeom>
          <a:solidFill>
            <a:srgbClr val="E0F4EE"/>
          </a:solidFill>
          <a:ln w="25400">
            <a:solidFill>
              <a:srgbClr val="007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F1, 200 m geo match</a:t>
            </a:r>
          </a:p>
        </p:txBody>
      </p:sp>
      <p:sp>
        <p:nvSpPr>
          <p:cNvPr id="39" name="threshold"/>
          <p:cNvSpPr/>
          <p:nvPr/>
        </p:nvSpPr>
        <p:spPr>
          <a:xfrm>
            <a:off x="13399008" y="17410175"/>
            <a:ext cx="2490216" cy="1143000"/>
          </a:xfrm>
          <a:prstGeom prst="roundRect">
            <a:avLst/>
          </a:prstGeom>
          <a:solidFill>
            <a:srgbClr val="FCF1DB"/>
          </a:solidFill>
          <a:ln w="25400">
            <a:solidFill>
              <a:srgbClr val="C48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threshold τ picked on dev</a:t>
            </a:r>
          </a:p>
        </p:txBody>
      </p:sp>
      <p:sp>
        <p:nvSpPr>
          <p:cNvPr id="40" name="decode"/>
          <p:cNvSpPr/>
          <p:nvPr/>
        </p:nvSpPr>
        <p:spPr>
          <a:xfrm>
            <a:off x="16300703" y="17410175"/>
            <a:ext cx="2490216" cy="1143000"/>
          </a:xfrm>
          <a:prstGeom prst="roundRect">
            <a:avLst/>
          </a:prstGeom>
          <a:solidFill>
            <a:srgbClr val="F2F8FB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heatmap peaks ≥ 0.05, 120 m NMS</a:t>
            </a:r>
          </a:p>
        </p:txBody>
      </p:sp>
      <p:cxnSp>
        <p:nvCxnSpPr>
          <p:cNvPr id="41" name="head to decode"/>
          <p:cNvCxnSpPr/>
          <p:nvPr/>
        </p:nvCxnSpPr>
        <p:spPr>
          <a:xfrm>
            <a:off x="17707356" y="16632935"/>
            <a:ext cx="0" cy="77724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decode to threshold"/>
          <p:cNvCxnSpPr/>
          <p:nvPr/>
        </p:nvCxnSpPr>
        <p:spPr>
          <a:xfrm flipH="1">
            <a:off x="15889223" y="17981675"/>
            <a:ext cx="411480" cy="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threshold to scoring"/>
          <p:cNvCxnSpPr/>
          <p:nvPr/>
        </p:nvCxnSpPr>
        <p:spPr>
          <a:xfrm flipH="1">
            <a:off x="12987527" y="17981675"/>
            <a:ext cx="411480" cy="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etector bullets"/>
          <p:cNvSpPr txBox="1"/>
          <p:nvPr/>
        </p:nvSpPr>
        <p:spPr>
          <a:xfrm>
            <a:off x="10497311" y="18873215"/>
            <a:ext cx="8293608" cy="3712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CenterNet-style heatmap </a:t>
            </a:r>
            <a:r>
              <a:rPr sz="2900" b="0" i="0">
                <a:solidFill>
                  <a:srgbClr val="5B6477"/>
                </a:solidFill>
                <a:latin typeface="Arial"/>
              </a:rPr>
              <a:t>[9]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with focal loss </a:t>
            </a:r>
            <a:r>
              <a:rPr sz="2900" b="0" i="0">
                <a:solidFill>
                  <a:srgbClr val="5B6477"/>
                </a:solidFill>
                <a:latin typeface="Arial"/>
              </a:rPr>
              <a:t>[10]</a:t>
            </a:r>
            <a:r>
              <a:rPr sz="2900" b="0" i="0">
                <a:solidFill>
                  <a:srgbClr val="1F2328"/>
                </a:solidFill>
                <a:latin typeface="Arial"/>
              </a:rPr>
              <a:t>; strict FP32, 567.6 H100 GPU-hours.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Same optimizer, schedule, data order and seed (0) in every cell.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8 dev scenes pick each checkpoint and threshold; test and verified scenes are scored </a:t>
            </a:r>
            <a:r>
              <a:rPr sz="2900" b="1" i="0">
                <a:solidFill>
                  <a:srgbClr val="1F2328"/>
                </a:solidFill>
                <a:latin typeface="Arial"/>
              </a:rPr>
              <a:t>once</a:t>
            </a:r>
            <a:r>
              <a:rPr sz="2900" b="0" i="0">
                <a:solidFill>
                  <a:srgbClr val="1F2328"/>
                </a:solidFill>
                <a:latin typeface="Arial"/>
              </a:rPr>
              <a:t>.</a:t>
            </a:r>
          </a:p>
        </p:txBody>
      </p:sp>
      <p:sp>
        <p:nvSpPr>
          <p:cNvPr id="45" name="heading: Recall falls toward the coast"/>
          <p:cNvSpPr txBox="1"/>
          <p:nvPr/>
        </p:nvSpPr>
        <p:spPr>
          <a:xfrm>
            <a:off x="10241280" y="22667976"/>
            <a:ext cx="8805672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Recall falls toward the coast</a:t>
            </a:r>
          </a:p>
        </p:txBody>
      </p:sp>
      <p:cxnSp>
        <p:nvCxnSpPr>
          <p:cNvPr id="46" name="rule: Recall falls toward the coast"/>
          <p:cNvCxnSpPr/>
          <p:nvPr/>
        </p:nvCxnSpPr>
        <p:spPr>
          <a:xfrm>
            <a:off x="10241280" y="23445216"/>
            <a:ext cx="8805672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" name="figure: recall by distance to shore" descr="poster_recall_by_dist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8751" y="23719536"/>
            <a:ext cx="8110728" cy="6920795"/>
          </a:xfrm>
          <a:prstGeom prst="rect">
            <a:avLst/>
          </a:prstGeom>
        </p:spPr>
      </p:pic>
      <p:sp>
        <p:nvSpPr>
          <p:cNvPr id="48" name="recall caption"/>
          <p:cNvSpPr txBox="1"/>
          <p:nvPr/>
        </p:nvSpPr>
        <p:spPr>
          <a:xfrm>
            <a:off x="10497311" y="30750058"/>
            <a:ext cx="8293608" cy="888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50 verified scenes; the band spans all 32 cells. Best-cell recall: 0.676 beyond 10 km, 0.005 within 1 km.</a:t>
            </a:r>
          </a:p>
        </p:txBody>
      </p:sp>
      <p:sp>
        <p:nvSpPr>
          <p:cNvPr id="49" name="heading: Pretraining helps most when labels are scarce"/>
          <p:cNvSpPr txBox="1"/>
          <p:nvPr/>
        </p:nvSpPr>
        <p:spPr>
          <a:xfrm>
            <a:off x="19687032" y="6702552"/>
            <a:ext cx="12243816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Pretraining helps most when labels are scarce</a:t>
            </a:r>
          </a:p>
        </p:txBody>
      </p:sp>
      <p:cxnSp>
        <p:nvCxnSpPr>
          <p:cNvPr id="50" name="rule: Pretraining helps most when labels are scarce"/>
          <p:cNvCxnSpPr/>
          <p:nvPr/>
        </p:nvCxnSpPr>
        <p:spPr>
          <a:xfrm>
            <a:off x="19687032" y="7479792"/>
            <a:ext cx="12243816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1" name="figure: label efficiency" descr="poster_label_efficienc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034504" y="7754112"/>
            <a:ext cx="11548872" cy="8698722"/>
          </a:xfrm>
          <a:prstGeom prst="rect">
            <a:avLst/>
          </a:prstGeom>
        </p:spPr>
      </p:pic>
      <p:sp>
        <p:nvSpPr>
          <p:cNvPr id="52" name="figure 1 caption"/>
          <p:cNvSpPr txBox="1"/>
          <p:nvPr/>
        </p:nvSpPr>
        <p:spPr>
          <a:xfrm>
            <a:off x="19943064" y="16589994"/>
            <a:ext cx="117317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F1 with 200 m matching. Each of the 32 cells is scored once with the threshold it picked on 8 dev scenes. Top: 16 held-out test scenes. Bottom: 50 near-shore, human-verified scenes. Seed 0.</a:t>
            </a:r>
          </a:p>
        </p:txBody>
      </p:sp>
      <p:sp>
        <p:nvSpPr>
          <p:cNvPr id="53" name="heading: SAR vs. optical: no stable winner"/>
          <p:cNvSpPr txBox="1"/>
          <p:nvPr/>
        </p:nvSpPr>
        <p:spPr>
          <a:xfrm>
            <a:off x="19687032" y="18242280"/>
            <a:ext cx="12243816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SAR vs. optical: no stable winner</a:t>
            </a:r>
          </a:p>
        </p:txBody>
      </p:sp>
      <p:cxnSp>
        <p:nvCxnSpPr>
          <p:cNvPr id="54" name="rule: SAR vs. optical: no stable winner"/>
          <p:cNvCxnSpPr/>
          <p:nvPr/>
        </p:nvCxnSpPr>
        <p:spPr>
          <a:xfrm>
            <a:off x="19687032" y="19019520"/>
            <a:ext cx="12243816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5" name="figure: SAR minus optical" descr="poster_sar_minus_optic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034504" y="19293840"/>
            <a:ext cx="11548872" cy="5374421"/>
          </a:xfrm>
          <a:prstGeom prst="rect">
            <a:avLst/>
          </a:prstGeom>
        </p:spPr>
      </p:pic>
      <p:sp>
        <p:nvSpPr>
          <p:cNvPr id="56" name="figure 2 caption"/>
          <p:cNvSpPr txBox="1"/>
          <p:nvPr/>
        </p:nvSpPr>
        <p:spPr>
          <a:xfrm>
            <a:off x="19943064" y="24805421"/>
            <a:ext cx="1173175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 i="0">
                <a:solidFill>
                  <a:srgbClr val="1F2328"/>
                </a:solidFill>
                <a:latin typeface="Arial"/>
              </a:rPr>
              <a:t>How to read: </a:t>
            </a:r>
            <a:r>
              <a:rPr sz="2000" b="0" i="0">
                <a:solidFill>
                  <a:srgbClr val="1F2328"/>
                </a:solidFill>
                <a:latin typeface="Arial"/>
              </a:rPr>
              <a:t>each point is SAR F1 minus optical F1 at one label budget. Above 0, SAR wins; below 0, optical wins. Solid: test scenes; dotted: verified scenes. A bar that does not cross 0 is a win; the 16 points here are the comparisons counted in the answer above. Bars are 95% intervals from 10,000 paired scene resamples and cover scene sampling only: retraining 28 unchanged cells moved test F1 by up to 0.043.</a:t>
            </a:r>
          </a:p>
        </p:txBody>
      </p:sp>
      <p:sp>
        <p:nvSpPr>
          <p:cNvPr id="57" name="heading: References"/>
          <p:cNvSpPr txBox="1"/>
          <p:nvPr/>
        </p:nvSpPr>
        <p:spPr>
          <a:xfrm>
            <a:off x="19687032" y="27221688"/>
            <a:ext cx="12243816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References</a:t>
            </a:r>
          </a:p>
        </p:txBody>
      </p:sp>
      <p:cxnSp>
        <p:nvCxnSpPr>
          <p:cNvPr id="58" name="rule: References"/>
          <p:cNvCxnSpPr/>
          <p:nvPr/>
        </p:nvCxnSpPr>
        <p:spPr>
          <a:xfrm>
            <a:off x="19687032" y="27998928"/>
            <a:ext cx="12243816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ferences 1"/>
          <p:cNvSpPr txBox="1"/>
          <p:nvPr/>
        </p:nvSpPr>
        <p:spPr>
          <a:xfrm>
            <a:off x="19943064" y="28273248"/>
            <a:ext cx="5728716" cy="33649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[1]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F. S. Paolo et al. xView3-SAR: Detecting dark fishing activity using SAR imagery. NeurIPS 2022.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[2]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R. Torres et al. GMES Sentinel-1 mission. Remote Sens. Environ. 2012.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[3]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A. Dosovitskiy et al. An image is worth 16×16 words. ICLR 2021.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[4]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S. Woo et al. ConvNeXt V2: Co-designing and scaling ConvNets with masked autoencoders. CVPR 2023.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[5]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A. Steiner et al. How to train your ViT? TMLR 2022.</a:t>
            </a:r>
          </a:p>
        </p:txBody>
      </p:sp>
      <p:sp>
        <p:nvSpPr>
          <p:cNvPr id="60" name="references 2"/>
          <p:cNvSpPr txBox="1"/>
          <p:nvPr/>
        </p:nvSpPr>
        <p:spPr>
          <a:xfrm>
            <a:off x="25946100" y="28273248"/>
            <a:ext cx="5728716" cy="33649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[6]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J. Straka and I. Gruber. SatDINO: A deep dive into self-supervised pretraining for remote sensing. arXiv:2508.21402, 2025.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[7]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D. Liu et al. SARMAE: Masked autoencoder for SAR representation learning. CVPR 2026.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[8]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K. N. Clasen et al. reBEN: Refined BigEarthNet dataset. IGARSS 2025.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[9]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X. Zhou, D. Wang, and P. Krähenbühl. Objects as points. arXiv:1904.07850, 2019.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5B6477"/>
                </a:solidFill>
                <a:latin typeface="Arial"/>
              </a:rPr>
              <a:t>[10]  </a:t>
            </a:r>
            <a:r>
              <a:rPr sz="1700" b="0" i="0">
                <a:solidFill>
                  <a:srgbClr val="1F2328"/>
                </a:solidFill>
                <a:latin typeface="Arial"/>
              </a:rPr>
              <a:t>T.-Y. Lin et al. Focal loss for dense object detection. ICCV 2017.</a:t>
            </a:r>
          </a:p>
        </p:txBody>
      </p:sp>
      <p:sp>
        <p:nvSpPr>
          <p:cNvPr id="61" name="heading: Findings"/>
          <p:cNvSpPr txBox="1"/>
          <p:nvPr/>
        </p:nvSpPr>
        <p:spPr>
          <a:xfrm>
            <a:off x="32580072" y="6702552"/>
            <a:ext cx="10524744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Findings</a:t>
            </a:r>
          </a:p>
        </p:txBody>
      </p:sp>
      <p:cxnSp>
        <p:nvCxnSpPr>
          <p:cNvPr id="62" name="rule: Findings"/>
          <p:cNvCxnSpPr/>
          <p:nvPr/>
        </p:nvCxnSpPr>
        <p:spPr>
          <a:xfrm>
            <a:off x="32580072" y="7479792"/>
            <a:ext cx="10524744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indings"/>
          <p:cNvSpPr txBox="1"/>
          <p:nvPr/>
        </p:nvSpPr>
        <p:spPr>
          <a:xfrm>
            <a:off x="32836104" y="7754112"/>
            <a:ext cx="10012680" cy="93451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411480" indent="-411480">
              <a:spcAft>
                <a:spcPts val="1000"/>
              </a:spcAft>
              <a:buClr>
                <a:srgbClr val="14213D"/>
              </a:buClr>
              <a:buFont typeface="Arial"/>
              <a:buAutoNum type="arabicPlain"/>
            </a:pPr>
            <a:r>
              <a:rPr sz="2900" b="1" i="0">
                <a:solidFill>
                  <a:srgbClr val="1F2328"/>
                </a:solidFill>
                <a:latin typeface="Arial"/>
              </a:rPr>
              <a:t>Pretraining pays off with few labels.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Gains at 12 scenes: +0.063 to +0.143 test F1, +0.048 to +0.111 verified F1.</a:t>
            </a:r>
          </a:p>
          <a:p>
            <a:pPr algn="l" marL="411480" indent="-411480">
              <a:spcAft>
                <a:spcPts val="1000"/>
              </a:spcAft>
              <a:buClr>
                <a:srgbClr val="14213D"/>
              </a:buClr>
              <a:buFont typeface="Arial"/>
              <a:buAutoNum type="arabicPlain"/>
            </a:pPr>
            <a:r>
              <a:rPr sz="2900" b="1" i="0">
                <a:solidFill>
                  <a:srgbClr val="1F2328"/>
                </a:solidFill>
                <a:latin typeface="Arial"/>
              </a:rPr>
              <a:t>SAR's edge over optical depends on backbone and budget.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CNN: +0.080 [+0.036, +0.121] test F1 at 12 scenes, but −0.073 [−0.101, −0.046] verified F1 at 111. ViT: the order flips between 28 and 56 scenes.</a:t>
            </a:r>
          </a:p>
          <a:p>
            <a:pPr algn="l" marL="411480" indent="-411480">
              <a:spcAft>
                <a:spcPts val="1000"/>
              </a:spcAft>
              <a:buClr>
                <a:srgbClr val="14213D"/>
              </a:buClr>
              <a:buFont typeface="Arial"/>
              <a:buAutoNum type="arabicPlain"/>
            </a:pPr>
            <a:r>
              <a:rPr sz="2900" b="1" i="0">
                <a:solidFill>
                  <a:srgbClr val="1F2328"/>
                </a:solidFill>
                <a:latin typeface="Arial"/>
              </a:rPr>
              <a:t>The input adapter matters.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With a seeded 3-channel stem instead of band slicing, BigEarthNet-S2 beats random at every budget (+0.025 to +0.063 test F1).</a:t>
            </a:r>
          </a:p>
          <a:p>
            <a:pPr algn="l" marL="411480" indent="-411480">
              <a:spcAft>
                <a:spcPts val="1000"/>
              </a:spcAft>
              <a:buClr>
                <a:srgbClr val="14213D"/>
              </a:buClr>
              <a:buFont typeface="Arial"/>
              <a:buAutoNum type="arabicPlain"/>
            </a:pPr>
            <a:r>
              <a:rPr sz="2900" b="1" i="0">
                <a:solidFill>
                  <a:srgbClr val="1F2328"/>
                </a:solidFill>
                <a:latin typeface="Arial"/>
              </a:rPr>
              <a:t>No detector works near shore: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recall ≤ 0.021 within 2 km in every cell. Training labels put 0.4% of vessels there; the verified set, 31%.</a:t>
            </a:r>
          </a:p>
          <a:p>
            <a:pPr algn="l" marL="411480" indent="-411480">
              <a:spcAft>
                <a:spcPts val="800"/>
              </a:spcAft>
              <a:buClr>
                <a:srgbClr val="14213D"/>
              </a:buClr>
              <a:buFont typeface="Arial"/>
              <a:buAutoNum type="arabicPlain"/>
            </a:pPr>
            <a:r>
              <a:rPr sz="2900" b="1" i="0">
                <a:solidFill>
                  <a:srgbClr val="1F2328"/>
                </a:solidFill>
                <a:latin typeface="Arial"/>
              </a:rPr>
              <a:t>ImageNet is the strongest default.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ImageNet beats SAR pretraining in 7 of 16 comparisons (SAR wins 3). The best cell on both test (0.888) and verified F1 (0.574) is the ImageNet ConvNeXt with 111 scenes.</a:t>
            </a:r>
          </a:p>
        </p:txBody>
      </p:sp>
      <p:sp>
        <p:nvSpPr>
          <p:cNvPr id="64" name="heading: Limits"/>
          <p:cNvSpPr txBox="1"/>
          <p:nvPr/>
        </p:nvSpPr>
        <p:spPr>
          <a:xfrm>
            <a:off x="32580072" y="17172432"/>
            <a:ext cx="10524744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Limits</a:t>
            </a:r>
          </a:p>
        </p:txBody>
      </p:sp>
      <p:cxnSp>
        <p:nvCxnSpPr>
          <p:cNvPr id="65" name="rule: Limits"/>
          <p:cNvCxnSpPr/>
          <p:nvPr/>
        </p:nvCxnSpPr>
        <p:spPr>
          <a:xfrm>
            <a:off x="32580072" y="17949672"/>
            <a:ext cx="10524744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limits"/>
          <p:cNvSpPr txBox="1"/>
          <p:nvPr/>
        </p:nvSpPr>
        <p:spPr>
          <a:xfrm>
            <a:off x="32836104" y="18223992"/>
            <a:ext cx="10012680" cy="65562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One seed per cell; 8 dev scenes pick checkpoints and thresholds.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Dev and test labels are machine-made, so test F1 measures agreement with them, not with every vessel.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Two SAR test curves drop by more than 0.02 as labels grow. ViT-SAR at 28 scenes overfit after warm-up; early stopping kept epoch 4.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Checkpoints differ in objective and corpus, not only domain.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In-region test: Sentinel-1 revisits put some test scenes near training scenes, so test F1 measures in-region generalization, not generalization to new regions.</a:t>
            </a:r>
          </a:p>
        </p:txBody>
      </p:sp>
      <p:sp>
        <p:nvSpPr>
          <p:cNvPr id="67" name="heading: Open questions &amp; next steps"/>
          <p:cNvSpPr txBox="1"/>
          <p:nvPr/>
        </p:nvSpPr>
        <p:spPr>
          <a:xfrm>
            <a:off x="32580072" y="24862536"/>
            <a:ext cx="10524744" cy="685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 i="0">
                <a:solidFill>
                  <a:srgbClr val="14213D"/>
                </a:solidFill>
                <a:latin typeface="Arial"/>
              </a:rPr>
              <a:t>Open questions &amp; next steps</a:t>
            </a:r>
          </a:p>
        </p:txBody>
      </p:sp>
      <p:cxnSp>
        <p:nvCxnSpPr>
          <p:cNvPr id="68" name="rule: Open questions &amp; next steps"/>
          <p:cNvCxnSpPr/>
          <p:nvPr/>
        </p:nvCxnSpPr>
        <p:spPr>
          <a:xfrm>
            <a:off x="32580072" y="25639776"/>
            <a:ext cx="10524744" cy="0"/>
          </a:xfrm>
          <a:prstGeom prst="line">
            <a:avLst/>
          </a:prstGeom>
          <a:ln w="57150">
            <a:solidFill>
              <a:srgbClr val="B8BE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pen questions"/>
          <p:cNvSpPr txBox="1"/>
          <p:nvPr/>
        </p:nvSpPr>
        <p:spPr>
          <a:xfrm>
            <a:off x="32836104" y="25914096"/>
            <a:ext cx="10012680" cy="5724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How do geospatial foundation models pretrained jointly on SAR and optical imagery fare against these single-source checkpoints?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Does SAR pretraining still trail ImageNet when both use the same objective, architecture and number of pretraining images?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0" i="0">
                <a:solidFill>
                  <a:srgbClr val="1F2328"/>
                </a:solidFill>
                <a:latin typeface="Arial"/>
              </a:rPr>
              <a:t>Does SAR pretraining help where optical cannot: near shore and for small dark vessels?</a:t>
            </a:r>
          </a:p>
          <a:p>
            <a:pPr algn="l" marL="347472" indent="-347472">
              <a:spcAft>
                <a:spcPts val="800"/>
              </a:spcAft>
              <a:buSzPct val="70000"/>
              <a:buClr>
                <a:srgbClr val="14213D"/>
              </a:buClr>
              <a:buFont typeface="Arial"/>
              <a:buChar char="■"/>
            </a:pPr>
            <a:r>
              <a:rPr sz="2900" b="1" i="0">
                <a:solidFill>
                  <a:srgbClr val="1F2328"/>
                </a:solidFill>
                <a:latin typeface="Arial"/>
              </a:rPr>
              <a:t>Next:</a:t>
            </a:r>
            <a:r>
              <a:rPr sz="2900" b="0" i="0">
                <a:solidFill>
                  <a:srgbClr val="1F2328"/>
                </a:solidFill>
                <a:latin typeface="Arial"/>
              </a:rPr>
              <a:t> near-shore training labels, a shoreline input channel, several seeds, and matched pretraining objectives across sensors.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Label-Efficient Dark-Vessel Detection in SAR (AIPR 2026 poster)</dc:title>
  <dc:subject/>
  <dc:creator>John Roth, Kyle Wagner, Liv d'Aliberti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