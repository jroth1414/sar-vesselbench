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3891200" cy="3291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r"/>
          <p:cNvSpPr/>
          <p:nvPr/>
        </p:nvSpPr>
        <p:spPr>
          <a:xfrm>
            <a:off x="0" y="0"/>
            <a:ext cx="43891200" cy="449884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685800" y="320040"/>
            <a:ext cx="425196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000" b="1" i="0">
                <a:solidFill>
                  <a:srgbClr val="FFFFFF"/>
                </a:solidFill>
                <a:latin typeface="Arial"/>
              </a:rPr>
              <a:t>Label-Efficient Dark-Vessel Detection in SAR:</a:t>
            </a:r>
          </a:p>
          <a:p>
            <a:pPr algn="ctr">
              <a:spcAft>
                <a:spcPts val="0"/>
              </a:spcAft>
            </a:pPr>
            <a:r>
              <a:rPr sz="7000" b="1" i="0">
                <a:solidFill>
                  <a:srgbClr val="FFFFFF"/>
                </a:solidFill>
                <a:latin typeface="Arial"/>
              </a:rPr>
              <a:t>Does SAR-Domain Pretraining Outperform Optical and ImageNet Transfer Across ViT and CNN?</a:t>
            </a:r>
          </a:p>
        </p:txBody>
      </p:sp>
      <p:sp>
        <p:nvSpPr>
          <p:cNvPr id="4" name="authors"/>
          <p:cNvSpPr txBox="1"/>
          <p:nvPr/>
        </p:nvSpPr>
        <p:spPr>
          <a:xfrm>
            <a:off x="914400" y="2697480"/>
            <a:ext cx="42062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4400" b="1" i="0">
                <a:solidFill>
                  <a:srgbClr val="FFFFFF"/>
                </a:solidFill>
                <a:latin typeface="Arial"/>
              </a:rPr>
              <a:t>John Roth            Kyle Wagner            Liv d'Aliberti</a:t>
            </a:r>
          </a:p>
        </p:txBody>
      </p:sp>
      <p:sp>
        <p:nvSpPr>
          <p:cNvPr id="5" name="affiliation"/>
          <p:cNvSpPr txBox="1"/>
          <p:nvPr/>
        </p:nvSpPr>
        <p:spPr>
          <a:xfrm>
            <a:off x="914400" y="3520440"/>
            <a:ext cx="42062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3400" b="0" i="0">
                <a:solidFill>
                  <a:srgbClr val="FFFFFF"/>
                </a:solidFill>
                <a:latin typeface="Arial"/>
              </a:rPr>
              <a:t>Johns Hopkins University</a:t>
            </a:r>
          </a:p>
        </p:txBody>
      </p:sp>
      <p:sp>
        <p:nvSpPr>
          <p:cNvPr id="6" name="answer strip"/>
          <p:cNvSpPr/>
          <p:nvPr/>
        </p:nvSpPr>
        <p:spPr>
          <a:xfrm>
            <a:off x="786384" y="5212080"/>
            <a:ext cx="42309288" cy="950976"/>
          </a:xfrm>
          <a:prstGeom prst="rect">
            <a:avLst/>
          </a:prstGeom>
          <a:solidFill>
            <a:srgbClr val="DC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nswer"/>
          <p:cNvSpPr txBox="1"/>
          <p:nvPr/>
        </p:nvSpPr>
        <p:spPr>
          <a:xfrm>
            <a:off x="1005840" y="5212080"/>
            <a:ext cx="41879520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 i="0">
                <a:solidFill>
                  <a:srgbClr val="1F2328"/>
                </a:solidFill>
                <a:latin typeface="Arial"/>
              </a:rPr>
              <a:t>Answer: no. </a:t>
            </a:r>
            <a:r>
              <a:rPr sz="3400" b="0" i="0">
                <a:solidFill>
                  <a:srgbClr val="1F2328"/>
                </a:solidFill>
                <a:latin typeface="Arial"/>
              </a:rPr>
              <a:t>SAR pretraining beats optical in 6 of 16 comparisons and ImageNet in 3 of 16 (ImageNet wins 7); its clearest edge is the CNN with 12–28 labeled scenes.</a:t>
            </a:r>
          </a:p>
        </p:txBody>
      </p:sp>
      <p:sp>
        <p:nvSpPr>
          <p:cNvPr id="8" name="footer bar"/>
          <p:cNvSpPr/>
          <p:nvPr/>
        </p:nvSpPr>
        <p:spPr>
          <a:xfrm>
            <a:off x="0" y="31866840"/>
            <a:ext cx="43891200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ooter left"/>
          <p:cNvSpPr txBox="1"/>
          <p:nvPr/>
        </p:nvSpPr>
        <p:spPr>
          <a:xfrm>
            <a:off x="822960" y="31866840"/>
            <a:ext cx="128016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Arial"/>
              </a:rPr>
              <a:t>Johns Hopkins University</a:t>
            </a:r>
          </a:p>
        </p:txBody>
      </p:sp>
      <p:sp>
        <p:nvSpPr>
          <p:cNvPr id="10" name="footer center"/>
          <p:cNvSpPr txBox="1"/>
          <p:nvPr/>
        </p:nvSpPr>
        <p:spPr>
          <a:xfrm>
            <a:off x="10972800" y="31866840"/>
            <a:ext cx="219456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Arial"/>
              </a:rPr>
              <a:t>Applied Imagery Pattern Recognition (AIPR) 2026</a:t>
            </a:r>
          </a:p>
        </p:txBody>
      </p:sp>
      <p:sp>
        <p:nvSpPr>
          <p:cNvPr id="11" name="footer right"/>
          <p:cNvSpPr txBox="1"/>
          <p:nvPr/>
        </p:nvSpPr>
        <p:spPr>
          <a:xfrm>
            <a:off x="30266640" y="31866840"/>
            <a:ext cx="128016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Arial"/>
              </a:rPr>
              <a:t>{jroth32, kwagne35, odalibe1}@jh.edu</a:t>
            </a:r>
          </a:p>
        </p:txBody>
      </p:sp>
      <p:sp>
        <p:nvSpPr>
          <p:cNvPr id="12" name="heading: Motivation"/>
          <p:cNvSpPr txBox="1"/>
          <p:nvPr/>
        </p:nvSpPr>
        <p:spPr>
          <a:xfrm>
            <a:off x="786384" y="6592824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Motivation</a:t>
            </a:r>
          </a:p>
        </p:txBody>
      </p:sp>
      <p:cxnSp>
        <p:nvCxnSpPr>
          <p:cNvPr id="13" name="rule: Motivation"/>
          <p:cNvCxnSpPr/>
          <p:nvPr/>
        </p:nvCxnSpPr>
        <p:spPr>
          <a:xfrm>
            <a:off x="786384" y="7370064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otivation"/>
          <p:cNvSpPr txBox="1"/>
          <p:nvPr/>
        </p:nvSpPr>
        <p:spPr>
          <a:xfrm>
            <a:off x="1042416" y="7644384"/>
            <a:ext cx="8293608" cy="5394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1" i="0">
                <a:solidFill>
                  <a:srgbClr val="1F2328"/>
                </a:solidFill>
                <a:latin typeface="Arial"/>
              </a:rPr>
              <a:t>Dark vessels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have no matching AIS report. Sentinel-1 SAR </a:t>
            </a:r>
            <a:r>
              <a:rPr sz="2900" b="0" i="0">
                <a:solidFill>
                  <a:srgbClr val="5B6477"/>
                </a:solidFill>
                <a:latin typeface="Arial"/>
              </a:rPr>
              <a:t>[2]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sees them at night and through cloud.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Vessels fill a few pixels in a 25,000-pixel scene. Sea clutter and coastlines give strong false returns.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1" i="0">
                <a:solidFill>
                  <a:srgbClr val="1F2328"/>
                </a:solidFill>
                <a:latin typeface="Arial"/>
              </a:rPr>
              <a:t>Human-verified labels are scarce.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Pretraining can lower the label cost, but which source domain helps most, and does the answer depend on the backbone?</a:t>
            </a:r>
          </a:p>
        </p:txBody>
      </p:sp>
      <p:sp>
        <p:nvSpPr>
          <p:cNvPr id="15" name="heading: Data: xView3-SAR [1]"/>
          <p:cNvSpPr txBox="1"/>
          <p:nvPr/>
        </p:nvSpPr>
        <p:spPr>
          <a:xfrm>
            <a:off x="786384" y="13350240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Data: xView3-SAR [1]</a:t>
            </a:r>
          </a:p>
        </p:txBody>
      </p:sp>
      <p:cxnSp>
        <p:nvCxnSpPr>
          <p:cNvPr id="16" name="rule: Data: xView3-SAR [1]"/>
          <p:cNvCxnSpPr/>
          <p:nvPr/>
        </p:nvCxnSpPr>
        <p:spPr>
          <a:xfrm>
            <a:off x="786384" y="14127480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figure: scene and chip" descr="poster_scene_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14401800"/>
            <a:ext cx="8293608" cy="3610227"/>
          </a:xfrm>
          <a:prstGeom prst="rect">
            <a:avLst/>
          </a:prstGeom>
        </p:spPr>
      </p:pic>
      <p:sp>
        <p:nvSpPr>
          <p:cNvPr id="18" name="data bullets"/>
          <p:cNvSpPr txBox="1"/>
          <p:nvPr/>
        </p:nvSpPr>
        <p:spPr>
          <a:xfrm>
            <a:off x="1042416" y="18286347"/>
            <a:ext cx="8293608" cy="57623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150 frozen study scenes: </a:t>
            </a:r>
            <a:r>
              <a:rPr sz="2900" b="1" i="0">
                <a:solidFill>
                  <a:srgbClr val="1F2328"/>
                </a:solidFill>
                <a:latin typeface="Arial"/>
              </a:rPr>
              <a:t>111 train, 23 dev, 16 test</a:t>
            </a:r>
            <a:r>
              <a:rPr sz="2900" b="0" i="0">
                <a:solidFill>
                  <a:srgbClr val="1F2328"/>
                </a:solidFill>
                <a:latin typeface="Arial"/>
              </a:rPr>
              <a:t>. Nested budgets: </a:t>
            </a:r>
            <a:r>
              <a:rPr sz="2900" b="1" i="0">
                <a:solidFill>
                  <a:srgbClr val="1F2328"/>
                </a:solidFill>
                <a:latin typeface="Arial"/>
              </a:rPr>
              <a:t>12 ⊂ 28 ⊂ 56 ⊂ 111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training scenes.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1" i="0">
                <a:solidFill>
                  <a:srgbClr val="1F2328"/>
                </a:solidFill>
                <a:latin typeface="Arial"/>
              </a:rPr>
              <a:t>Train, dev and test labels are machine-made: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AIS matching plus automated detection </a:t>
            </a:r>
            <a:r>
              <a:rPr sz="2900" b="0" i="0">
                <a:solidFill>
                  <a:srgbClr val="5B6477"/>
                </a:solidFill>
                <a:latin typeface="Arial"/>
              </a:rPr>
              <a:t>[1]</a:t>
            </a:r>
            <a:r>
              <a:rPr sz="2900" b="0" i="0">
                <a:solidFill>
                  <a:srgbClr val="1F2328"/>
                </a:solidFill>
                <a:latin typeface="Arial"/>
              </a:rPr>
              <a:t>. They miss vessels and are not complete ground truth.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1" i="0">
                <a:solidFill>
                  <a:srgbClr val="1F2328"/>
                </a:solidFill>
                <a:latin typeface="Arial"/>
              </a:rPr>
              <a:t>50 near-shore, human-verified scenes</a:t>
            </a:r>
            <a:r>
              <a:rPr sz="2900" b="0" i="0">
                <a:solidFill>
                  <a:srgbClr val="1F2328"/>
                </a:solidFill>
                <a:latin typeface="Arial"/>
              </a:rPr>
              <a:t>, opened once after test scoring: 8,642 vessels, 3,644 dark, 2,686 within 2 km of shore.</a:t>
            </a:r>
          </a:p>
        </p:txBody>
      </p:sp>
      <p:sp>
        <p:nvSpPr>
          <p:cNvPr id="19" name="heading: What the best detector finds"/>
          <p:cNvSpPr txBox="1"/>
          <p:nvPr/>
        </p:nvSpPr>
        <p:spPr>
          <a:xfrm>
            <a:off x="786384" y="24195024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What the best detector finds</a:t>
            </a:r>
          </a:p>
        </p:txBody>
      </p:sp>
      <p:cxnSp>
        <p:nvCxnSpPr>
          <p:cNvPr id="20" name="rule: What the best detector finds"/>
          <p:cNvCxnSpPr/>
          <p:nvPr/>
        </p:nvCxnSpPr>
        <p:spPr>
          <a:xfrm>
            <a:off x="786384" y="24972264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1" name="figure: detection examples" descr="poster_detection_examp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25246584"/>
            <a:ext cx="8293608" cy="5258762"/>
          </a:xfrm>
          <a:prstGeom prst="rect">
            <a:avLst/>
          </a:prstGeom>
        </p:spPr>
      </p:pic>
      <p:sp>
        <p:nvSpPr>
          <p:cNvPr id="22" name="detection caption"/>
          <p:cNvSpPr txBox="1"/>
          <p:nvPr/>
        </p:nvSpPr>
        <p:spPr>
          <a:xfrm>
            <a:off x="1042416" y="30596786"/>
            <a:ext cx="82936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Best cell (ImageNet CNN, 111 scenes) on two 8 × 8 km verified crops (VH, dB): offshore it finds almost every vessel; in this harbor, none.</a:t>
            </a:r>
          </a:p>
        </p:txBody>
      </p:sp>
      <p:sp>
        <p:nvSpPr>
          <p:cNvPr id="23" name="heading: 8 arms × 4 budgets = 32 cells"/>
          <p:cNvSpPr txBox="1"/>
          <p:nvPr/>
        </p:nvSpPr>
        <p:spPr>
          <a:xfrm>
            <a:off x="10241280" y="6693408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8 arms × 4 budgets = 32 cells</a:t>
            </a:r>
          </a:p>
        </p:txBody>
      </p:sp>
      <p:cxnSp>
        <p:nvCxnSpPr>
          <p:cNvPr id="24" name="rule: 8 arms × 4 budgets = 32 cells"/>
          <p:cNvCxnSpPr/>
          <p:nvPr/>
        </p:nvCxnSpPr>
        <p:spPr>
          <a:xfrm>
            <a:off x="10241280" y="7470648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497311" y="7744968"/>
          <a:ext cx="8293608" cy="40233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57400"/>
                <a:gridCol w="3017520"/>
                <a:gridCol w="3218688"/>
              </a:tblGrid>
              <a:tr h="804672"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ViT-B/16 [3]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ConvNeXt V2 [4]</a:t>
                      </a:r>
                    </a:p>
                  </a:txBody>
                  <a:tcPr marL="54864" marR="54864">
                    <a:noFill/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2600" b="1" i="0">
                          <a:solidFill>
                            <a:srgbClr val="5D5D5D"/>
                          </a:solidFill>
                          <a:latin typeface="Arial"/>
                        </a:rPr>
                        <a:t>Random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fresh init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fresh init</a:t>
                      </a:r>
                    </a:p>
                  </a:txBody>
                  <a:tcPr marL="54864" marR="54864">
                    <a:noFill/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2600" b="1" i="0">
                          <a:solidFill>
                            <a:srgbClr val="9A6700"/>
                          </a:solidFill>
                          <a:latin typeface="Arial"/>
                        </a:rPr>
                        <a:t>Optical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SatDINO [6] (fMoW-RGB)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BigEarthNet-S2 [8]</a:t>
                      </a:r>
                    </a:p>
                  </a:txBody>
                  <a:tcPr marL="54864" marR="54864">
                    <a:noFill/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2600" b="1" i="0">
                          <a:solidFill>
                            <a:srgbClr val="0072B2"/>
                          </a:solidFill>
                          <a:latin typeface="Arial"/>
                        </a:rPr>
                        <a:t>SAR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SARMAE [7] (SAR-1M)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BigEarthNet-S1 [8]</a:t>
                      </a:r>
                    </a:p>
                  </a:txBody>
                  <a:tcPr marL="54864" marR="54864">
                    <a:noFill/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2600" b="1" i="0">
                          <a:solidFill>
                            <a:srgbClr val="009E73"/>
                          </a:solidFill>
                          <a:latin typeface="Arial"/>
                        </a:rPr>
                        <a:t>ImageNet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AugReg [5]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FCMAE [4]</a:t>
                      </a:r>
                    </a:p>
                  </a:txBody>
                  <a:tcPr marL="54864" marR="54864">
                    <a:noFill/>
                  </a:tcPr>
                </a:tc>
              </a:tr>
            </a:tbl>
          </a:graphicData>
        </a:graphic>
      </p:graphicFrame>
      <p:sp>
        <p:nvSpPr>
          <p:cNvPr id="26" name="design note"/>
          <p:cNvSpPr txBox="1"/>
          <p:nvPr/>
        </p:nvSpPr>
        <p:spPr>
          <a:xfrm>
            <a:off x="10497311" y="12042648"/>
            <a:ext cx="829360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900" b="0" i="0">
                <a:solidFill>
                  <a:srgbClr val="1F2328"/>
                </a:solidFill>
                <a:latin typeface="Arial"/>
              </a:rPr>
              <a:t>Only the initialization changes inside a track; we compare domains </a:t>
            </a:r>
            <a:r>
              <a:rPr sz="2900" b="1" i="0">
                <a:solidFill>
                  <a:srgbClr val="1F2328"/>
                </a:solidFill>
                <a:latin typeface="Arial"/>
              </a:rPr>
              <a:t>within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an architecture.</a:t>
            </a:r>
          </a:p>
        </p:txBody>
      </p:sp>
      <p:sp>
        <p:nvSpPr>
          <p:cNvPr id="27" name="heading: One shared point detector"/>
          <p:cNvSpPr txBox="1"/>
          <p:nvPr/>
        </p:nvSpPr>
        <p:spPr>
          <a:xfrm>
            <a:off x="10241280" y="13752576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One shared point detector</a:t>
            </a:r>
          </a:p>
        </p:txBody>
      </p:sp>
      <p:cxnSp>
        <p:nvCxnSpPr>
          <p:cNvPr id="28" name="rule: One shared point detector"/>
          <p:cNvCxnSpPr/>
          <p:nvPr/>
        </p:nvCxnSpPr>
        <p:spPr>
          <a:xfrm>
            <a:off x="10241280" y="14529815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nput"/>
          <p:cNvSpPr/>
          <p:nvPr/>
        </p:nvSpPr>
        <p:spPr>
          <a:xfrm>
            <a:off x="10497311" y="15489935"/>
            <a:ext cx="1737360" cy="11430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[VH, VV,</a:t>
            </a:r>
          </a:p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VH−VV]</a:t>
            </a:r>
          </a:p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512² crop</a:t>
            </a:r>
          </a:p>
        </p:txBody>
      </p:sp>
      <p:sp>
        <p:nvSpPr>
          <p:cNvPr id="30" name="encoder group"/>
          <p:cNvSpPr/>
          <p:nvPr/>
        </p:nvSpPr>
        <p:spPr>
          <a:xfrm>
            <a:off x="12600432" y="15124175"/>
            <a:ext cx="3566160" cy="1965960"/>
          </a:xfrm>
          <a:prstGeom prst="roundRect">
            <a:avLst/>
          </a:prstGeom>
          <a:noFill/>
          <a:ln w="19050">
            <a:solidFill>
              <a:srgbClr val="8C8C8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ncoder group label"/>
          <p:cNvSpPr txBox="1"/>
          <p:nvPr/>
        </p:nvSpPr>
        <p:spPr>
          <a:xfrm>
            <a:off x="12600432" y="14758415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one encoder per track</a:t>
            </a:r>
          </a:p>
        </p:txBody>
      </p:sp>
      <p:sp>
        <p:nvSpPr>
          <p:cNvPr id="32" name="ViT encoder"/>
          <p:cNvSpPr/>
          <p:nvPr/>
        </p:nvSpPr>
        <p:spPr>
          <a:xfrm>
            <a:off x="12737592" y="15215615"/>
            <a:ext cx="3291840" cy="777240"/>
          </a:xfrm>
          <a:prstGeom prst="roundRect">
            <a:avLst/>
          </a:prstGeom>
          <a:solidFill>
            <a:srgbClr val="E6F1F7"/>
          </a:solidFill>
          <a:ln w="25400">
            <a:solidFill>
              <a:srgbClr val="005B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900" b="0" i="0">
                <a:solidFill>
                  <a:srgbClr val="1F2328"/>
                </a:solidFill>
                <a:latin typeface="Arial"/>
              </a:rPr>
              <a:t>ViT-B/16, stride 16</a:t>
            </a:r>
          </a:p>
        </p:txBody>
      </p:sp>
      <p:sp>
        <p:nvSpPr>
          <p:cNvPr id="33" name="CNN encoder"/>
          <p:cNvSpPr/>
          <p:nvPr/>
        </p:nvSpPr>
        <p:spPr>
          <a:xfrm>
            <a:off x="12737592" y="16221455"/>
            <a:ext cx="3291840" cy="777240"/>
          </a:xfrm>
          <a:prstGeom prst="roundRect">
            <a:avLst/>
          </a:prstGeom>
          <a:solidFill>
            <a:srgbClr val="E6F1F7"/>
          </a:solidFill>
          <a:ln w="25400">
            <a:solidFill>
              <a:srgbClr val="005B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900" b="0" i="0">
                <a:solidFill>
                  <a:srgbClr val="1F2328"/>
                </a:solidFill>
                <a:latin typeface="Arial"/>
              </a:rPr>
              <a:t>ConvNeXt-V2-B, s32 + up</a:t>
            </a:r>
          </a:p>
        </p:txBody>
      </p:sp>
      <p:sp>
        <p:nvSpPr>
          <p:cNvPr id="34" name="head"/>
          <p:cNvSpPr/>
          <p:nvPr/>
        </p:nvSpPr>
        <p:spPr>
          <a:xfrm>
            <a:off x="16623792" y="15489935"/>
            <a:ext cx="2167127" cy="1143000"/>
          </a:xfrm>
          <a:prstGeom prst="roundRect">
            <a:avLst/>
          </a:prstGeom>
          <a:solidFill>
            <a:srgbClr val="F2F8FB"/>
          </a:solidFill>
          <a:ln w="25400">
            <a:solidFill>
              <a:srgbClr val="005B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shared</a:t>
            </a:r>
          </a:p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256-ch head</a:t>
            </a:r>
          </a:p>
        </p:txBody>
      </p:sp>
      <p:cxnSp>
        <p:nvCxnSpPr>
          <p:cNvPr id="35" name="input to ViT"/>
          <p:cNvCxnSpPr/>
          <p:nvPr/>
        </p:nvCxnSpPr>
        <p:spPr>
          <a:xfrm flipV="1">
            <a:off x="12234672" y="15604235"/>
            <a:ext cx="502920" cy="480060"/>
          </a:xfrm>
          <a:prstGeom prst="bentConnector3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input to CNN"/>
          <p:cNvCxnSpPr/>
          <p:nvPr/>
        </p:nvCxnSpPr>
        <p:spPr>
          <a:xfrm>
            <a:off x="12234672" y="16084295"/>
            <a:ext cx="502920" cy="525780"/>
          </a:xfrm>
          <a:prstGeom prst="bentConnector3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encoders to head"/>
          <p:cNvCxnSpPr/>
          <p:nvPr/>
        </p:nvCxnSpPr>
        <p:spPr>
          <a:xfrm>
            <a:off x="16166592" y="16084295"/>
            <a:ext cx="457200" cy="0"/>
          </a:xfrm>
          <a:prstGeom prst="line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coring"/>
          <p:cNvSpPr/>
          <p:nvPr/>
        </p:nvSpPr>
        <p:spPr>
          <a:xfrm>
            <a:off x="10497311" y="17410175"/>
            <a:ext cx="2490216" cy="1143000"/>
          </a:xfrm>
          <a:prstGeom prst="roundRect">
            <a:avLst/>
          </a:prstGeom>
          <a:solidFill>
            <a:srgbClr val="E0F4EE"/>
          </a:solidFill>
          <a:ln w="25400">
            <a:solidFill>
              <a:srgbClr val="007E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F1, 200 m geo match</a:t>
            </a:r>
          </a:p>
        </p:txBody>
      </p:sp>
      <p:sp>
        <p:nvSpPr>
          <p:cNvPr id="39" name="threshold"/>
          <p:cNvSpPr/>
          <p:nvPr/>
        </p:nvSpPr>
        <p:spPr>
          <a:xfrm>
            <a:off x="13399008" y="17410175"/>
            <a:ext cx="2490216" cy="1143000"/>
          </a:xfrm>
          <a:prstGeom prst="roundRect">
            <a:avLst/>
          </a:prstGeom>
          <a:solidFill>
            <a:srgbClr val="FCF1DB"/>
          </a:solidFill>
          <a:ln w="25400">
            <a:solidFill>
              <a:srgbClr val="C48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threshold τ picked on dev</a:t>
            </a:r>
          </a:p>
        </p:txBody>
      </p:sp>
      <p:sp>
        <p:nvSpPr>
          <p:cNvPr id="40" name="decode"/>
          <p:cNvSpPr/>
          <p:nvPr/>
        </p:nvSpPr>
        <p:spPr>
          <a:xfrm>
            <a:off x="16300703" y="17410175"/>
            <a:ext cx="2490216" cy="1143000"/>
          </a:xfrm>
          <a:prstGeom prst="roundRect">
            <a:avLst/>
          </a:prstGeom>
          <a:solidFill>
            <a:srgbClr val="F2F8FB"/>
          </a:solidFill>
          <a:ln w="25400">
            <a:solidFill>
              <a:srgbClr val="005B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heatmap peaks ≥ 0.05, 120 m NMS</a:t>
            </a:r>
          </a:p>
        </p:txBody>
      </p:sp>
      <p:cxnSp>
        <p:nvCxnSpPr>
          <p:cNvPr id="41" name="head to decode"/>
          <p:cNvCxnSpPr/>
          <p:nvPr/>
        </p:nvCxnSpPr>
        <p:spPr>
          <a:xfrm>
            <a:off x="17707356" y="16632935"/>
            <a:ext cx="0" cy="777240"/>
          </a:xfrm>
          <a:prstGeom prst="line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decode to threshold"/>
          <p:cNvCxnSpPr/>
          <p:nvPr/>
        </p:nvCxnSpPr>
        <p:spPr>
          <a:xfrm flipH="1">
            <a:off x="15889223" y="17981675"/>
            <a:ext cx="411480" cy="0"/>
          </a:xfrm>
          <a:prstGeom prst="line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threshold to scoring"/>
          <p:cNvCxnSpPr/>
          <p:nvPr/>
        </p:nvCxnSpPr>
        <p:spPr>
          <a:xfrm flipH="1">
            <a:off x="12987527" y="17981675"/>
            <a:ext cx="411480" cy="0"/>
          </a:xfrm>
          <a:prstGeom prst="line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detector bullets"/>
          <p:cNvSpPr txBox="1"/>
          <p:nvPr/>
        </p:nvSpPr>
        <p:spPr>
          <a:xfrm>
            <a:off x="10497311" y="18873215"/>
            <a:ext cx="8293608" cy="3712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CenterNet-style heatmap </a:t>
            </a:r>
            <a:r>
              <a:rPr sz="2900" b="0" i="0">
                <a:solidFill>
                  <a:srgbClr val="5B6477"/>
                </a:solidFill>
                <a:latin typeface="Arial"/>
              </a:rPr>
              <a:t>[9]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with focal loss </a:t>
            </a:r>
            <a:r>
              <a:rPr sz="2900" b="0" i="0">
                <a:solidFill>
                  <a:srgbClr val="5B6477"/>
                </a:solidFill>
                <a:latin typeface="Arial"/>
              </a:rPr>
              <a:t>[10]</a:t>
            </a:r>
            <a:r>
              <a:rPr sz="2900" b="0" i="0">
                <a:solidFill>
                  <a:srgbClr val="1F2328"/>
                </a:solidFill>
                <a:latin typeface="Arial"/>
              </a:rPr>
              <a:t>; strict FP32, 567.6 H100 GPU-hours.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Same optimizer, schedule, data order and seed (0) in every cell.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8 dev scenes pick each checkpoint and threshold; test and verified scenes are scored </a:t>
            </a:r>
            <a:r>
              <a:rPr sz="2900" b="1" i="0">
                <a:solidFill>
                  <a:srgbClr val="1F2328"/>
                </a:solidFill>
                <a:latin typeface="Arial"/>
              </a:rPr>
              <a:t>once</a:t>
            </a:r>
            <a:r>
              <a:rPr sz="2900" b="0" i="0">
                <a:solidFill>
                  <a:srgbClr val="1F2328"/>
                </a:solidFill>
                <a:latin typeface="Arial"/>
              </a:rPr>
              <a:t>.</a:t>
            </a:r>
          </a:p>
        </p:txBody>
      </p:sp>
      <p:sp>
        <p:nvSpPr>
          <p:cNvPr id="45" name="heading: Recall falls toward the coast"/>
          <p:cNvSpPr txBox="1"/>
          <p:nvPr/>
        </p:nvSpPr>
        <p:spPr>
          <a:xfrm>
            <a:off x="10241280" y="22667976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Recall falls toward the coast</a:t>
            </a:r>
          </a:p>
        </p:txBody>
      </p:sp>
      <p:cxnSp>
        <p:nvCxnSpPr>
          <p:cNvPr id="46" name="rule: Recall falls toward the coast"/>
          <p:cNvCxnSpPr/>
          <p:nvPr/>
        </p:nvCxnSpPr>
        <p:spPr>
          <a:xfrm>
            <a:off x="10241280" y="23445216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figure: recall by distance to shore" descr="poster_recall_by_dist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8751" y="23719536"/>
            <a:ext cx="8110728" cy="6920795"/>
          </a:xfrm>
          <a:prstGeom prst="rect">
            <a:avLst/>
          </a:prstGeom>
        </p:spPr>
      </p:pic>
      <p:sp>
        <p:nvSpPr>
          <p:cNvPr id="48" name="recall caption"/>
          <p:cNvSpPr txBox="1"/>
          <p:nvPr/>
        </p:nvSpPr>
        <p:spPr>
          <a:xfrm>
            <a:off x="10497311" y="30750058"/>
            <a:ext cx="8293608" cy="8881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50 verified scenes; the band spans all 32 cells. Best-cell recall: 0.676 beyond 10 km, 0.005 within 1 km.</a:t>
            </a:r>
          </a:p>
        </p:txBody>
      </p:sp>
      <p:sp>
        <p:nvSpPr>
          <p:cNvPr id="49" name="heading: Pretraining helps most when labels are scarce"/>
          <p:cNvSpPr txBox="1"/>
          <p:nvPr/>
        </p:nvSpPr>
        <p:spPr>
          <a:xfrm>
            <a:off x="19687032" y="6702552"/>
            <a:ext cx="13962888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Pretraining helps most when labels are scarce</a:t>
            </a:r>
          </a:p>
        </p:txBody>
      </p:sp>
      <p:cxnSp>
        <p:nvCxnSpPr>
          <p:cNvPr id="50" name="rule: Pretraining helps most when labels are scarce"/>
          <p:cNvCxnSpPr/>
          <p:nvPr/>
        </p:nvCxnSpPr>
        <p:spPr>
          <a:xfrm>
            <a:off x="19687032" y="7479792"/>
            <a:ext cx="13962888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1" name="figure: label efficiency" descr="poster_label_efficienc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034504" y="7754112"/>
            <a:ext cx="13267944" cy="9211221"/>
          </a:xfrm>
          <a:prstGeom prst="rect">
            <a:avLst/>
          </a:prstGeom>
        </p:spPr>
      </p:pic>
      <p:sp>
        <p:nvSpPr>
          <p:cNvPr id="52" name="figure 1 caption"/>
          <p:cNvSpPr txBox="1"/>
          <p:nvPr/>
        </p:nvSpPr>
        <p:spPr>
          <a:xfrm>
            <a:off x="19943064" y="17102493"/>
            <a:ext cx="134508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F1 with 200 m matching. Each of the 32 cells is scored once with the threshold it picked on 8 dev scenes. Top: 16 held-out test scenes. Bottom: 50 near-shore, human-verified scenes. Seed 0.</a:t>
            </a:r>
          </a:p>
        </p:txBody>
      </p:sp>
      <p:sp>
        <p:nvSpPr>
          <p:cNvPr id="53" name="heading: SAR vs. optical depends on backbone and budget"/>
          <p:cNvSpPr txBox="1"/>
          <p:nvPr/>
        </p:nvSpPr>
        <p:spPr>
          <a:xfrm>
            <a:off x="19687032" y="18717768"/>
            <a:ext cx="13962888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SAR vs. optical depends on backbone and budget</a:t>
            </a:r>
          </a:p>
        </p:txBody>
      </p:sp>
      <p:cxnSp>
        <p:nvCxnSpPr>
          <p:cNvPr id="54" name="rule: SAR vs. optical depends on backbone and budget"/>
          <p:cNvCxnSpPr/>
          <p:nvPr/>
        </p:nvCxnSpPr>
        <p:spPr>
          <a:xfrm>
            <a:off x="19687032" y="19495008"/>
            <a:ext cx="13962888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5" name="figure: SAR minus optical" descr="poster_sar_minus_optic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034504" y="19769328"/>
            <a:ext cx="13267944" cy="5539106"/>
          </a:xfrm>
          <a:prstGeom prst="rect">
            <a:avLst/>
          </a:prstGeom>
        </p:spPr>
      </p:pic>
      <p:sp>
        <p:nvSpPr>
          <p:cNvPr id="56" name="figure 2 caption"/>
          <p:cNvSpPr txBox="1"/>
          <p:nvPr/>
        </p:nvSpPr>
        <p:spPr>
          <a:xfrm>
            <a:off x="19943064" y="25445594"/>
            <a:ext cx="1345082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1F2328"/>
                </a:solidFill>
                <a:latin typeface="Arial"/>
              </a:rPr>
              <a:t>How to read: </a:t>
            </a:r>
            <a:r>
              <a:rPr sz="2000" b="0" i="0">
                <a:solidFill>
                  <a:srgbClr val="1F2328"/>
                </a:solidFill>
                <a:latin typeface="Arial"/>
              </a:rPr>
              <a:t>each point is SAR F1 minus optical F1 at one label budget. Above 0, SAR wins; below 0, optical wins. Solid: test scenes; dotted: verified scenes. A bar that does not cross 0 is a win; the 16 points here are the comparisons counted in the answer above. Bars are 95% intervals from 10,000 paired scene resamples and cover scene sampling only: retraining 28 unchanged cells moved test F1 by up to 0.043.</a:t>
            </a:r>
          </a:p>
        </p:txBody>
      </p:sp>
      <p:sp>
        <p:nvSpPr>
          <p:cNvPr id="57" name="heading: Near shore, every detector fails"/>
          <p:cNvSpPr txBox="1"/>
          <p:nvPr/>
        </p:nvSpPr>
        <p:spPr>
          <a:xfrm>
            <a:off x="19687032" y="27669744"/>
            <a:ext cx="13962888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Near shore, every detector fails</a:t>
            </a:r>
          </a:p>
        </p:txBody>
      </p:sp>
      <p:cxnSp>
        <p:nvCxnSpPr>
          <p:cNvPr id="58" name="rule: Near shore, every detector fails"/>
          <p:cNvCxnSpPr/>
          <p:nvPr/>
        </p:nvCxnSpPr>
        <p:spPr>
          <a:xfrm>
            <a:off x="19687032" y="28446984"/>
            <a:ext cx="13962888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stat 1 value"/>
          <p:cNvSpPr txBox="1"/>
          <p:nvPr/>
        </p:nvSpPr>
        <p:spPr>
          <a:xfrm>
            <a:off x="19943064" y="28629864"/>
            <a:ext cx="448360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200" b="1" i="0">
                <a:solidFill>
                  <a:srgbClr val="14213D"/>
                </a:solidFill>
                <a:latin typeface="Arial"/>
              </a:rPr>
              <a:t>0.026 vs 0.724</a:t>
            </a:r>
          </a:p>
        </p:txBody>
      </p:sp>
      <p:sp>
        <p:nvSpPr>
          <p:cNvPr id="60" name="stat 1 label"/>
          <p:cNvSpPr txBox="1"/>
          <p:nvPr/>
        </p:nvSpPr>
        <p:spPr>
          <a:xfrm>
            <a:off x="19943064" y="29498544"/>
            <a:ext cx="44836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best cell's verified F1:</a:t>
            </a:r>
          </a:p>
          <a:p>
            <a:pPr algn="ctr">
              <a:spcAft>
                <a:spcPts val="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within 2 km vs offshore</a:t>
            </a:r>
          </a:p>
        </p:txBody>
      </p:sp>
      <p:sp>
        <p:nvSpPr>
          <p:cNvPr id="61" name="stat 2 value"/>
          <p:cNvSpPr txBox="1"/>
          <p:nvPr/>
        </p:nvSpPr>
        <p:spPr>
          <a:xfrm>
            <a:off x="24426672" y="28629864"/>
            <a:ext cx="448360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200" b="1" i="0">
                <a:solidFill>
                  <a:srgbClr val="14213D"/>
                </a:solidFill>
                <a:latin typeface="Arial"/>
              </a:rPr>
              <a:t>≤ 0.021</a:t>
            </a:r>
          </a:p>
        </p:txBody>
      </p:sp>
      <p:sp>
        <p:nvSpPr>
          <p:cNvPr id="62" name="stat 2 label"/>
          <p:cNvSpPr txBox="1"/>
          <p:nvPr/>
        </p:nvSpPr>
        <p:spPr>
          <a:xfrm>
            <a:off x="24426672" y="29498544"/>
            <a:ext cx="44836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near-shore recall,</a:t>
            </a:r>
          </a:p>
          <a:p>
            <a:pPr algn="ctr">
              <a:spcAft>
                <a:spcPts val="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every cell</a:t>
            </a:r>
          </a:p>
        </p:txBody>
      </p:sp>
      <p:sp>
        <p:nvSpPr>
          <p:cNvPr id="63" name="stat 3 value"/>
          <p:cNvSpPr txBox="1"/>
          <p:nvPr/>
        </p:nvSpPr>
        <p:spPr>
          <a:xfrm>
            <a:off x="28910280" y="28629864"/>
            <a:ext cx="448360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200" b="1" i="0">
                <a:solidFill>
                  <a:srgbClr val="14213D"/>
                </a:solidFill>
                <a:latin typeface="Arial"/>
              </a:rPr>
              <a:t>0.4% vs 31%</a:t>
            </a:r>
          </a:p>
        </p:txBody>
      </p:sp>
      <p:sp>
        <p:nvSpPr>
          <p:cNvPr id="64" name="stat 3 label"/>
          <p:cNvSpPr txBox="1"/>
          <p:nvPr/>
        </p:nvSpPr>
        <p:spPr>
          <a:xfrm>
            <a:off x="28910280" y="29498544"/>
            <a:ext cx="44836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vessels within 2 km of shore:</a:t>
            </a:r>
          </a:p>
          <a:p>
            <a:pPr algn="ctr">
              <a:spcAft>
                <a:spcPts val="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training vs verified labels</a:t>
            </a:r>
          </a:p>
        </p:txBody>
      </p:sp>
      <p:sp>
        <p:nvSpPr>
          <p:cNvPr id="65" name="stat note"/>
          <p:cNvSpPr txBox="1"/>
          <p:nvPr/>
        </p:nvSpPr>
        <p:spPr>
          <a:xfrm>
            <a:off x="19943064" y="30412944"/>
            <a:ext cx="1345082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The machine-made training labels place almost no vessels near shore, and the detectors almost never fire there: the best cell puts 34 of its 4,302 predictions within 2 km. Precision stays at 0.639–0.909 in every cell.</a:t>
            </a:r>
          </a:p>
        </p:txBody>
      </p:sp>
      <p:sp>
        <p:nvSpPr>
          <p:cNvPr id="66" name="heading: Findings"/>
          <p:cNvSpPr txBox="1"/>
          <p:nvPr/>
        </p:nvSpPr>
        <p:spPr>
          <a:xfrm>
            <a:off x="34299144" y="6702552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Findings</a:t>
            </a:r>
          </a:p>
        </p:txBody>
      </p:sp>
      <p:cxnSp>
        <p:nvCxnSpPr>
          <p:cNvPr id="67" name="rule: Findings"/>
          <p:cNvCxnSpPr/>
          <p:nvPr/>
        </p:nvCxnSpPr>
        <p:spPr>
          <a:xfrm>
            <a:off x="34299144" y="7479792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hero number"/>
          <p:cNvSpPr txBox="1"/>
          <p:nvPr/>
        </p:nvSpPr>
        <p:spPr>
          <a:xfrm>
            <a:off x="34555176" y="7662672"/>
            <a:ext cx="829360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0" b="1" i="0">
                <a:solidFill>
                  <a:srgbClr val="009E73"/>
                </a:solidFill>
                <a:latin typeface="Arial"/>
              </a:rPr>
              <a:t>12 / 12</a:t>
            </a:r>
          </a:p>
        </p:txBody>
      </p:sp>
      <p:sp>
        <p:nvSpPr>
          <p:cNvPr id="69" name="hero caption"/>
          <p:cNvSpPr txBox="1"/>
          <p:nvPr/>
        </p:nvSpPr>
        <p:spPr>
          <a:xfrm>
            <a:off x="34555176" y="8714232"/>
            <a:ext cx="829360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2900" b="0" i="0">
                <a:solidFill>
                  <a:srgbClr val="1F2328"/>
                </a:solidFill>
                <a:latin typeface="Arial"/>
              </a:rPr>
              <a:t>pretrained-vs-random comparisons at 12 training scenes have a 95% interval above zero.</a:t>
            </a:r>
          </a:p>
        </p:txBody>
      </p:sp>
      <p:sp>
        <p:nvSpPr>
          <p:cNvPr id="70" name="findings"/>
          <p:cNvSpPr txBox="1"/>
          <p:nvPr/>
        </p:nvSpPr>
        <p:spPr>
          <a:xfrm>
            <a:off x="34555176" y="9994392"/>
            <a:ext cx="8293608" cy="9025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411480" indent="-411480">
              <a:spcAft>
                <a:spcPts val="1200"/>
              </a:spcAft>
              <a:buClr>
                <a:srgbClr val="14213D"/>
              </a:buClr>
              <a:buFont typeface="Arial"/>
              <a:buAutoNum type="arabicPlain"/>
            </a:pPr>
            <a:r>
              <a:rPr sz="2900" b="1" i="0">
                <a:solidFill>
                  <a:srgbClr val="1F2328"/>
                </a:solidFill>
                <a:latin typeface="Arial"/>
              </a:rPr>
              <a:t>Pretraining pays off with few labels.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Gains at 12 scenes: +0.063 to +0.143 test F1, +0.048 to +0.111 verified F1.</a:t>
            </a:r>
          </a:p>
          <a:p>
            <a:pPr algn="l" marL="411480" indent="-411480">
              <a:spcAft>
                <a:spcPts val="1200"/>
              </a:spcAft>
              <a:buClr>
                <a:srgbClr val="14213D"/>
              </a:buClr>
              <a:buFont typeface="Arial"/>
              <a:buAutoNum type="arabicPlain"/>
            </a:pPr>
            <a:r>
              <a:rPr sz="2900" b="1" i="0">
                <a:solidFill>
                  <a:srgbClr val="1F2328"/>
                </a:solidFill>
                <a:latin typeface="Arial"/>
              </a:rPr>
              <a:t>SAR's edge over optical depends on backbone and budget.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CNN: +0.080 [+0.036, +0.121] test F1 at 12 scenes, but −0.073 [−0.101, −0.046] verified F1 at 111. ViT: the order flips between 28 and 56 scenes.</a:t>
            </a:r>
          </a:p>
          <a:p>
            <a:pPr algn="l" marL="411480" indent="-411480">
              <a:spcAft>
                <a:spcPts val="1200"/>
              </a:spcAft>
              <a:buClr>
                <a:srgbClr val="14213D"/>
              </a:buClr>
              <a:buFont typeface="Arial"/>
              <a:buAutoNum type="arabicPlain"/>
            </a:pPr>
            <a:r>
              <a:rPr sz="2900" b="1" i="0">
                <a:solidFill>
                  <a:srgbClr val="1F2328"/>
                </a:solidFill>
                <a:latin typeface="Arial"/>
              </a:rPr>
              <a:t>The input adapter matters.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With a seeded 3-channel stem instead of band slicing, BigEarthNet-S2 beats random at every budget (+0.025 to +0.063 test F1).</a:t>
            </a:r>
          </a:p>
          <a:p>
            <a:pPr algn="l" marL="411480" indent="-411480">
              <a:spcAft>
                <a:spcPts val="800"/>
              </a:spcAft>
              <a:buClr>
                <a:srgbClr val="14213D"/>
              </a:buClr>
              <a:buFont typeface="Arial"/>
              <a:buAutoNum type="arabicPlain"/>
            </a:pPr>
            <a:r>
              <a:rPr sz="2900" b="1" i="0">
                <a:solidFill>
                  <a:srgbClr val="1F2328"/>
                </a:solidFill>
                <a:latin typeface="Arial"/>
              </a:rPr>
              <a:t>No detector works near shore: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recall ≤ 0.021 within 2 km in every cell. Training labels put 0.4% of vessels there; the verified set, 31%.</a:t>
            </a:r>
          </a:p>
        </p:txBody>
      </p:sp>
      <p:sp>
        <p:nvSpPr>
          <p:cNvPr id="71" name="heading: Limits"/>
          <p:cNvSpPr txBox="1"/>
          <p:nvPr/>
        </p:nvSpPr>
        <p:spPr>
          <a:xfrm>
            <a:off x="34299144" y="19056096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Limits</a:t>
            </a:r>
          </a:p>
        </p:txBody>
      </p:sp>
      <p:cxnSp>
        <p:nvCxnSpPr>
          <p:cNvPr id="72" name="rule: Limits"/>
          <p:cNvCxnSpPr/>
          <p:nvPr/>
        </p:nvCxnSpPr>
        <p:spPr>
          <a:xfrm>
            <a:off x="34299144" y="19833336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limits"/>
          <p:cNvSpPr txBox="1"/>
          <p:nvPr/>
        </p:nvSpPr>
        <p:spPr>
          <a:xfrm>
            <a:off x="34555176" y="20107656"/>
            <a:ext cx="8293608" cy="60441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One seed per cell; 8 dev scenes pick checkpoints and thresholds.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Dev and test labels are machine-made, so test F1 measures agreement with them, not with every vessel.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Two SAR test curves drop by more than 0.02 as labels grow. ViT-SAR at 28 scenes overfit after warm-up; early stopping kept epoch 4.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Checkpoints differ in objective and corpus, not only domain.</a:t>
            </a:r>
          </a:p>
        </p:txBody>
      </p:sp>
      <p:sp>
        <p:nvSpPr>
          <p:cNvPr id="74" name="heading: Open questions &amp; next steps"/>
          <p:cNvSpPr txBox="1"/>
          <p:nvPr/>
        </p:nvSpPr>
        <p:spPr>
          <a:xfrm>
            <a:off x="34299144" y="26289000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Open questions &amp; next steps</a:t>
            </a:r>
          </a:p>
        </p:txBody>
      </p:sp>
      <p:cxnSp>
        <p:nvCxnSpPr>
          <p:cNvPr id="75" name="rule: Open questions &amp; next steps"/>
          <p:cNvCxnSpPr/>
          <p:nvPr/>
        </p:nvCxnSpPr>
        <p:spPr>
          <a:xfrm>
            <a:off x="34299144" y="27066240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pen questions"/>
          <p:cNvSpPr txBox="1"/>
          <p:nvPr/>
        </p:nvSpPr>
        <p:spPr>
          <a:xfrm>
            <a:off x="34555176" y="27340560"/>
            <a:ext cx="8293608" cy="4297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How do geospatial foundation models pretrained jointly on SAR and optical imagery fare against these single-source checkpoints?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Does SAR pretraining help where optical cannot: near shore and for small dark vessels?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1" i="0">
                <a:solidFill>
                  <a:srgbClr val="1F2328"/>
                </a:solidFill>
                <a:latin typeface="Arial"/>
              </a:rPr>
              <a:t>Next: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near-shore training labels, a shoreline input channel, several seeds, and matched pretraining objectives across sensors.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Label-Efficient Dark-Vessel Detection in SAR (AIPR 2026 poster)</dc:title>
  <dc:subject/>
  <dc:creator>John Roth, Kyle Wagner, Liv d'Aliberti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